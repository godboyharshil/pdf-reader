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70" r:id="rId9"/>
    <p:sldId id="271" r:id="rId10"/>
    <p:sldId id="273" r:id="rId11"/>
    <p:sldId id="263" r:id="rId12"/>
    <p:sldId id="272" r:id="rId13"/>
    <p:sldId id="264" r:id="rId14"/>
    <p:sldId id="265" r:id="rId15"/>
    <p:sldId id="274" r:id="rId16"/>
    <p:sldId id="275" r:id="rId17"/>
    <p:sldId id="276" r:id="rId18"/>
    <p:sldId id="277" r:id="rId19"/>
    <p:sldId id="278" r:id="rId20"/>
    <p:sldId id="279"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644" y="2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611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9"/>
        </a:solidFill>
        <a:effectLst/>
      </p:bgPr>
    </p:bg>
    <p:spTree>
      <p:nvGrpSpPr>
        <p:cNvPr id="1" name=""/>
        <p:cNvGrpSpPr/>
        <p:nvPr/>
      </p:nvGrpSpPr>
      <p:grpSpPr>
        <a:xfrm>
          <a:off x="0" y="0"/>
          <a:ext cx="0" cy="0"/>
          <a:chOff x="0" y="0"/>
          <a:chExt cx="0" cy="0"/>
        </a:xfrm>
      </p:grpSpPr>
      <p:sp>
        <p:nvSpPr>
          <p:cNvPr id="2" name="Text 0"/>
          <p:cNvSpPr/>
          <p:nvPr/>
        </p:nvSpPr>
        <p:spPr>
          <a:xfrm>
            <a:off x="-457200" y="4480560"/>
            <a:ext cx="13075920" cy="2011680"/>
          </a:xfrm>
          <a:prstGeom prst="rect">
            <a:avLst/>
          </a:prstGeom>
          <a:noFill/>
          <a:ln/>
        </p:spPr>
        <p:txBody>
          <a:bodyPr wrap="square" rtlCol="0" anchor="ctr"/>
          <a:lstStyle/>
          <a:p>
            <a:pPr marL="0" indent="0" algn="l">
              <a:buNone/>
            </a:pPr>
            <a:r>
              <a:rPr lang="en-US" sz="9000" b="1" dirty="0">
                <a:solidFill>
                  <a:srgbClr val="1E2761"/>
                </a:solidFill>
                <a:latin typeface="Cambria" pitchFamily="34" charset="0"/>
                <a:ea typeface="Cambria" pitchFamily="34" charset="-122"/>
                <a:cs typeface="Cambria" pitchFamily="34" charset="-120"/>
              </a:rPr>
              <a:t>∀∃¬∧∨→↔</a:t>
            </a:r>
            <a:endParaRPr lang="en-US" sz="9000" dirty="0"/>
          </a:p>
        </p:txBody>
      </p:sp>
      <p:sp>
        <p:nvSpPr>
          <p:cNvPr id="3" name="Shape 1"/>
          <p:cNvSpPr/>
          <p:nvPr/>
        </p:nvSpPr>
        <p:spPr>
          <a:xfrm>
            <a:off x="0" y="0"/>
            <a:ext cx="12191695" cy="6858000"/>
          </a:xfrm>
          <a:prstGeom prst="rect">
            <a:avLst/>
          </a:prstGeom>
          <a:ln/>
        </p:spPr>
      </p:sp>
      <p:sp>
        <p:nvSpPr>
          <p:cNvPr id="4" name="Shape 2"/>
          <p:cNvSpPr/>
          <p:nvPr/>
        </p:nvSpPr>
        <p:spPr>
          <a:xfrm>
            <a:off x="822960" y="914400"/>
            <a:ext cx="822960" cy="822960"/>
          </a:xfrm>
          <a:prstGeom prst="ellipse">
            <a:avLst/>
          </a:prstGeom>
          <a:solidFill>
            <a:srgbClr val="E8A33D"/>
          </a:solidFill>
          <a:ln/>
        </p:spPr>
      </p:sp>
      <p:sp>
        <p:nvSpPr>
          <p:cNvPr id="5" name="Text 3"/>
          <p:cNvSpPr/>
          <p:nvPr/>
        </p:nvSpPr>
        <p:spPr>
          <a:xfrm>
            <a:off x="822960" y="914400"/>
            <a:ext cx="822960" cy="822960"/>
          </a:xfrm>
          <a:prstGeom prst="rect">
            <a:avLst/>
          </a:prstGeom>
          <a:noFill/>
          <a:ln/>
        </p:spPr>
        <p:txBody>
          <a:bodyPr wrap="square" rtlCol="0" anchor="ctr"/>
          <a:lstStyle/>
          <a:p>
            <a:pPr marL="0" indent="0" algn="ctr">
              <a:buNone/>
            </a:pPr>
            <a:r>
              <a:rPr lang="en-US" sz="3400" b="1" dirty="0">
                <a:solidFill>
                  <a:srgbClr val="141B49"/>
                </a:solidFill>
                <a:latin typeface="Cambria" pitchFamily="34" charset="0"/>
                <a:ea typeface="Cambria" pitchFamily="34" charset="-122"/>
                <a:cs typeface="Cambria" pitchFamily="34" charset="-120"/>
              </a:rPr>
              <a:t>P</a:t>
            </a:r>
            <a:endParaRPr lang="en-US" sz="3400" dirty="0"/>
          </a:p>
        </p:txBody>
      </p:sp>
      <p:sp>
        <p:nvSpPr>
          <p:cNvPr id="6" name="Text 4"/>
          <p:cNvSpPr/>
          <p:nvPr/>
        </p:nvSpPr>
        <p:spPr>
          <a:xfrm>
            <a:off x="822960" y="2148840"/>
            <a:ext cx="96012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PROPOSITIONAL LOGIC</a:t>
            </a:r>
            <a:endParaRPr lang="en-US" sz="4400" dirty="0"/>
          </a:p>
        </p:txBody>
      </p:sp>
      <p:sp>
        <p:nvSpPr>
          <p:cNvPr id="7" name="Text 5"/>
          <p:cNvSpPr/>
          <p:nvPr/>
        </p:nvSpPr>
        <p:spPr>
          <a:xfrm>
            <a:off x="822960" y="3063240"/>
            <a:ext cx="9601200" cy="1005840"/>
          </a:xfrm>
          <a:prstGeom prst="rect">
            <a:avLst/>
          </a:prstGeom>
          <a:noFill/>
          <a:ln/>
        </p:spPr>
        <p:txBody>
          <a:bodyPr wrap="square" rtlCol="0" anchor="ctr"/>
          <a:lstStyle/>
          <a:p>
            <a:pPr marL="0" indent="0">
              <a:lnSpc>
                <a:spcPct val="115000"/>
              </a:lnSpc>
              <a:buNone/>
            </a:pPr>
            <a:r>
              <a:rPr lang="en-US" sz="2000" dirty="0">
                <a:solidFill>
                  <a:srgbClr val="CADCFC"/>
                </a:solidFill>
                <a:latin typeface="Calibri" pitchFamily="34" charset="0"/>
                <a:ea typeface="Calibri" pitchFamily="34" charset="-122"/>
                <a:cs typeface="Calibri" pitchFamily="34" charset="-120"/>
              </a:rPr>
              <a:t>Symbolic Representation, Logical Entailment,</a:t>
            </a:r>
            <a:endParaRPr lang="en-US" sz="2000" dirty="0"/>
          </a:p>
          <a:p>
            <a:pPr marL="0" indent="0">
              <a:lnSpc>
                <a:spcPct val="115000"/>
              </a:lnSpc>
              <a:buNone/>
            </a:pPr>
            <a:r>
              <a:rPr lang="en-US" sz="2000" dirty="0">
                <a:solidFill>
                  <a:srgbClr val="CADCFC"/>
                </a:solidFill>
                <a:latin typeface="Calibri" pitchFamily="34" charset="0"/>
                <a:ea typeface="Calibri" pitchFamily="34" charset="-122"/>
                <a:cs typeface="Calibri" pitchFamily="34" charset="-120"/>
              </a:rPr>
              <a:t>Inference &amp; Tautologies</a:t>
            </a:r>
            <a:endParaRPr lang="en-US" sz="2000" dirty="0"/>
          </a:p>
        </p:txBody>
      </p:sp>
      <p:sp>
        <p:nvSpPr>
          <p:cNvPr id="8" name="Shape 6"/>
          <p:cNvSpPr/>
          <p:nvPr/>
        </p:nvSpPr>
        <p:spPr>
          <a:xfrm>
            <a:off x="822960" y="4160520"/>
            <a:ext cx="2926080" cy="0"/>
          </a:xfrm>
          <a:prstGeom prst="line">
            <a:avLst/>
          </a:prstGeom>
          <a:noFill/>
          <a:ln w="25400">
            <a:solidFill>
              <a:srgbClr val="E8A33D"/>
            </a:solidFill>
            <a:prstDash val="solid"/>
          </a:ln>
        </p:spPr>
      </p:sp>
      <p:sp>
        <p:nvSpPr>
          <p:cNvPr id="9" name="Text 7"/>
          <p:cNvSpPr/>
          <p:nvPr/>
        </p:nvSpPr>
        <p:spPr>
          <a:xfrm>
            <a:off x="822960" y="4343400"/>
            <a:ext cx="9601200" cy="457200"/>
          </a:xfrm>
          <a:prstGeom prst="rect">
            <a:avLst/>
          </a:prstGeom>
          <a:noFill/>
          <a:ln/>
        </p:spPr>
        <p:txBody>
          <a:bodyPr wrap="square" rtlCol="0" anchor="ctr"/>
          <a:lstStyle/>
          <a:p>
            <a:pPr marL="0" indent="0">
              <a:buNone/>
            </a:pPr>
            <a:r>
              <a:rPr lang="en-US" sz="1300" i="1" dirty="0">
                <a:solidFill>
                  <a:srgbClr val="9AA6C7"/>
                </a:solidFill>
                <a:latin typeface="Calibri" pitchFamily="34" charset="0"/>
                <a:ea typeface="Calibri" pitchFamily="34" charset="-122"/>
                <a:cs typeface="Calibri" pitchFamily="34" charset="-120"/>
              </a:rPr>
              <a:t>Based on Discrete Mathematics and Its Applications, 8th Edition — Kenneth H. Rosen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We'll Cover</a:t>
            </a:r>
            <a:endParaRPr lang="en-US" sz="3200" dirty="0"/>
          </a:p>
        </p:txBody>
      </p:sp>
      <p:sp>
        <p:nvSpPr>
          <p:cNvPr id="3" name="Shape 1"/>
          <p:cNvSpPr/>
          <p:nvPr/>
        </p:nvSpPr>
        <p:spPr>
          <a:xfrm>
            <a:off x="548640" y="1051560"/>
            <a:ext cx="1005840" cy="54864"/>
          </a:xfrm>
          <a:prstGeom prst="rect">
            <a:avLst/>
          </a:prstGeom>
          <a:solidFill>
            <a:srgbClr val="E8A33D"/>
          </a:solidFill>
          <a:ln/>
        </p:spPr>
      </p:sp>
      <p:sp>
        <p:nvSpPr>
          <p:cNvPr id="4" name="Shape 2"/>
          <p:cNvSpPr/>
          <p:nvPr/>
        </p:nvSpPr>
        <p:spPr>
          <a:xfrm>
            <a:off x="548640" y="1508760"/>
            <a:ext cx="5257800" cy="1417320"/>
          </a:xfrm>
          <a:prstGeom prst="roundRect">
            <a:avLst>
              <a:gd name="adj" fmla="val 5161"/>
            </a:avLst>
          </a:prstGeom>
          <a:solidFill>
            <a:srgbClr val="FFFFFF"/>
          </a:solidFill>
          <a:ln/>
        </p:spPr>
      </p:sp>
      <p:sp>
        <p:nvSpPr>
          <p:cNvPr id="5" name="Shape 3"/>
          <p:cNvSpPr/>
          <p:nvPr/>
        </p:nvSpPr>
        <p:spPr>
          <a:xfrm>
            <a:off x="777240" y="1943100"/>
            <a:ext cx="548640" cy="548640"/>
          </a:xfrm>
          <a:prstGeom prst="ellipse">
            <a:avLst/>
          </a:prstGeom>
          <a:solidFill>
            <a:srgbClr val="1E2761"/>
          </a:solidFill>
          <a:ln/>
        </p:spPr>
      </p:sp>
      <p:sp>
        <p:nvSpPr>
          <p:cNvPr id="6" name="Text 4"/>
          <p:cNvSpPr/>
          <p:nvPr/>
        </p:nvSpPr>
        <p:spPr>
          <a:xfrm>
            <a:off x="777240" y="194310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08760" y="1673352"/>
            <a:ext cx="4114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Propositions</a:t>
            </a:r>
            <a:endParaRPr lang="en-US" sz="1500" dirty="0"/>
          </a:p>
        </p:txBody>
      </p:sp>
      <p:sp>
        <p:nvSpPr>
          <p:cNvPr id="8" name="Text 6"/>
          <p:cNvSpPr/>
          <p:nvPr/>
        </p:nvSpPr>
        <p:spPr>
          <a:xfrm>
            <a:off x="1508760" y="2057400"/>
            <a:ext cx="4114800" cy="731520"/>
          </a:xfrm>
          <a:prstGeom prst="rect">
            <a:avLst/>
          </a:prstGeom>
          <a:noFill/>
          <a:ln/>
        </p:spPr>
        <p:txBody>
          <a:bodyPr wrap="square" rtlCol="0" anchor="ctr"/>
          <a:lstStyle/>
          <a:p>
            <a:pPr marL="0" indent="0">
              <a:lnSpc>
                <a:spcPct val="110000"/>
              </a:lnSpc>
              <a:buNone/>
            </a:pPr>
            <a:r>
              <a:rPr lang="en-US" sz="1150" dirty="0">
                <a:solidFill>
                  <a:srgbClr val="6B7590"/>
                </a:solidFill>
                <a:latin typeface="Calibri" pitchFamily="34" charset="0"/>
                <a:ea typeface="Calibri" pitchFamily="34" charset="-122"/>
                <a:cs typeface="Calibri" pitchFamily="34" charset="-120"/>
              </a:rPr>
              <a:t>Defining statements with a determinate truth value</a:t>
            </a:r>
            <a:endParaRPr lang="en-US" sz="1150" dirty="0"/>
          </a:p>
        </p:txBody>
      </p:sp>
      <p:sp>
        <p:nvSpPr>
          <p:cNvPr id="9" name="Shape 7"/>
          <p:cNvSpPr/>
          <p:nvPr/>
        </p:nvSpPr>
        <p:spPr>
          <a:xfrm>
            <a:off x="6309360" y="1508760"/>
            <a:ext cx="5257800" cy="1417320"/>
          </a:xfrm>
          <a:prstGeom prst="roundRect">
            <a:avLst>
              <a:gd name="adj" fmla="val 5161"/>
            </a:avLst>
          </a:prstGeom>
          <a:solidFill>
            <a:srgbClr val="FFFFFF"/>
          </a:solidFill>
          <a:ln/>
        </p:spPr>
      </p:sp>
      <p:sp>
        <p:nvSpPr>
          <p:cNvPr id="10" name="Shape 8"/>
          <p:cNvSpPr/>
          <p:nvPr/>
        </p:nvSpPr>
        <p:spPr>
          <a:xfrm>
            <a:off x="6537960" y="1943100"/>
            <a:ext cx="548640" cy="548640"/>
          </a:xfrm>
          <a:prstGeom prst="ellipse">
            <a:avLst/>
          </a:prstGeom>
          <a:solidFill>
            <a:srgbClr val="1E2761"/>
          </a:solidFill>
          <a:ln/>
        </p:spPr>
      </p:sp>
      <p:sp>
        <p:nvSpPr>
          <p:cNvPr id="11" name="Text 9"/>
          <p:cNvSpPr/>
          <p:nvPr/>
        </p:nvSpPr>
        <p:spPr>
          <a:xfrm>
            <a:off x="6537960" y="194310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7269480" y="1673352"/>
            <a:ext cx="4114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Symbolic Notation</a:t>
            </a:r>
            <a:endParaRPr lang="en-US" sz="1500" dirty="0"/>
          </a:p>
        </p:txBody>
      </p:sp>
      <p:sp>
        <p:nvSpPr>
          <p:cNvPr id="13" name="Text 11"/>
          <p:cNvSpPr/>
          <p:nvPr/>
        </p:nvSpPr>
        <p:spPr>
          <a:xfrm>
            <a:off x="7269480" y="2057400"/>
            <a:ext cx="4114800" cy="731520"/>
          </a:xfrm>
          <a:prstGeom prst="rect">
            <a:avLst/>
          </a:prstGeom>
          <a:noFill/>
          <a:ln/>
        </p:spPr>
        <p:txBody>
          <a:bodyPr wrap="square" rtlCol="0" anchor="ctr"/>
          <a:lstStyle/>
          <a:p>
            <a:pPr marL="0" indent="0">
              <a:lnSpc>
                <a:spcPct val="110000"/>
              </a:lnSpc>
              <a:buNone/>
            </a:pPr>
            <a:r>
              <a:rPr lang="en-US" sz="1150" dirty="0">
                <a:solidFill>
                  <a:srgbClr val="6B7590"/>
                </a:solidFill>
                <a:latin typeface="Calibri" pitchFamily="34" charset="0"/>
                <a:ea typeface="Calibri" pitchFamily="34" charset="-122"/>
                <a:cs typeface="Calibri" pitchFamily="34" charset="-120"/>
              </a:rPr>
              <a:t>Connectives: ¬, ∧, ∨, →, ↔ and truth tables</a:t>
            </a:r>
            <a:endParaRPr lang="en-US" sz="1150" dirty="0"/>
          </a:p>
        </p:txBody>
      </p:sp>
      <p:sp>
        <p:nvSpPr>
          <p:cNvPr id="14" name="Shape 12"/>
          <p:cNvSpPr/>
          <p:nvPr/>
        </p:nvSpPr>
        <p:spPr>
          <a:xfrm>
            <a:off x="548640" y="3246120"/>
            <a:ext cx="5257800" cy="1417320"/>
          </a:xfrm>
          <a:prstGeom prst="roundRect">
            <a:avLst>
              <a:gd name="adj" fmla="val 5161"/>
            </a:avLst>
          </a:prstGeom>
          <a:solidFill>
            <a:srgbClr val="FFFFFF"/>
          </a:solidFill>
          <a:ln/>
        </p:spPr>
      </p:sp>
      <p:sp>
        <p:nvSpPr>
          <p:cNvPr id="15" name="Shape 13"/>
          <p:cNvSpPr/>
          <p:nvPr/>
        </p:nvSpPr>
        <p:spPr>
          <a:xfrm>
            <a:off x="777240" y="3680460"/>
            <a:ext cx="548640" cy="548640"/>
          </a:xfrm>
          <a:prstGeom prst="ellipse">
            <a:avLst/>
          </a:prstGeom>
          <a:solidFill>
            <a:srgbClr val="1E2761"/>
          </a:solidFill>
          <a:ln/>
        </p:spPr>
      </p:sp>
      <p:sp>
        <p:nvSpPr>
          <p:cNvPr id="16" name="Text 14"/>
          <p:cNvSpPr/>
          <p:nvPr/>
        </p:nvSpPr>
        <p:spPr>
          <a:xfrm>
            <a:off x="777240" y="368046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508760" y="3410712"/>
            <a:ext cx="4114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Tautologies &amp; Contradictions</a:t>
            </a:r>
            <a:endParaRPr lang="en-US" sz="1500" dirty="0"/>
          </a:p>
        </p:txBody>
      </p:sp>
      <p:sp>
        <p:nvSpPr>
          <p:cNvPr id="18" name="Text 16"/>
          <p:cNvSpPr/>
          <p:nvPr/>
        </p:nvSpPr>
        <p:spPr>
          <a:xfrm>
            <a:off x="1508760" y="3794760"/>
            <a:ext cx="4114800" cy="731520"/>
          </a:xfrm>
          <a:prstGeom prst="rect">
            <a:avLst/>
          </a:prstGeom>
          <a:noFill/>
          <a:ln/>
        </p:spPr>
        <p:txBody>
          <a:bodyPr wrap="square" rtlCol="0" anchor="ctr"/>
          <a:lstStyle/>
          <a:p>
            <a:pPr marL="0" indent="0">
              <a:lnSpc>
                <a:spcPct val="110000"/>
              </a:lnSpc>
              <a:buNone/>
            </a:pPr>
            <a:r>
              <a:rPr lang="en-US" sz="1150" dirty="0">
                <a:solidFill>
                  <a:srgbClr val="6B7590"/>
                </a:solidFill>
                <a:latin typeface="Calibri" pitchFamily="34" charset="0"/>
                <a:ea typeface="Calibri" pitchFamily="34" charset="-122"/>
                <a:cs typeface="Calibri" pitchFamily="34" charset="-120"/>
              </a:rPr>
              <a:t>Compound statements that are always true or false</a:t>
            </a:r>
            <a:endParaRPr lang="en-US" sz="1150" dirty="0"/>
          </a:p>
        </p:txBody>
      </p:sp>
      <p:sp>
        <p:nvSpPr>
          <p:cNvPr id="19" name="Shape 17"/>
          <p:cNvSpPr/>
          <p:nvPr/>
        </p:nvSpPr>
        <p:spPr>
          <a:xfrm>
            <a:off x="6309360" y="3246120"/>
            <a:ext cx="5257800" cy="1417320"/>
          </a:xfrm>
          <a:prstGeom prst="roundRect">
            <a:avLst>
              <a:gd name="adj" fmla="val 5161"/>
            </a:avLst>
          </a:prstGeom>
          <a:solidFill>
            <a:srgbClr val="FFFFFF"/>
          </a:solidFill>
          <a:ln/>
        </p:spPr>
      </p:sp>
      <p:sp>
        <p:nvSpPr>
          <p:cNvPr id="20" name="Shape 18"/>
          <p:cNvSpPr/>
          <p:nvPr/>
        </p:nvSpPr>
        <p:spPr>
          <a:xfrm>
            <a:off x="6537960" y="3680460"/>
            <a:ext cx="548640" cy="548640"/>
          </a:xfrm>
          <a:prstGeom prst="ellipse">
            <a:avLst/>
          </a:prstGeom>
          <a:solidFill>
            <a:srgbClr val="1E2761"/>
          </a:solidFill>
          <a:ln/>
        </p:spPr>
      </p:sp>
      <p:sp>
        <p:nvSpPr>
          <p:cNvPr id="21" name="Text 19"/>
          <p:cNvSpPr/>
          <p:nvPr/>
        </p:nvSpPr>
        <p:spPr>
          <a:xfrm>
            <a:off x="6537960" y="368046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7269480" y="3410712"/>
            <a:ext cx="4114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Logical Equivalence</a:t>
            </a:r>
            <a:endParaRPr lang="en-US" sz="1500" dirty="0"/>
          </a:p>
        </p:txBody>
      </p:sp>
      <p:sp>
        <p:nvSpPr>
          <p:cNvPr id="23" name="Text 21"/>
          <p:cNvSpPr/>
          <p:nvPr/>
        </p:nvSpPr>
        <p:spPr>
          <a:xfrm>
            <a:off x="7269480" y="3794760"/>
            <a:ext cx="4114800" cy="731520"/>
          </a:xfrm>
          <a:prstGeom prst="rect">
            <a:avLst/>
          </a:prstGeom>
          <a:noFill/>
          <a:ln/>
        </p:spPr>
        <p:txBody>
          <a:bodyPr wrap="square" rtlCol="0" anchor="ctr"/>
          <a:lstStyle/>
          <a:p>
            <a:pPr marL="0" indent="0">
              <a:lnSpc>
                <a:spcPct val="110000"/>
              </a:lnSpc>
              <a:buNone/>
            </a:pPr>
            <a:r>
              <a:rPr lang="en-US" sz="1150" dirty="0">
                <a:solidFill>
                  <a:srgbClr val="6B7590"/>
                </a:solidFill>
                <a:latin typeface="Calibri" pitchFamily="34" charset="0"/>
                <a:ea typeface="Calibri" pitchFamily="34" charset="-122"/>
                <a:cs typeface="Calibri" pitchFamily="34" charset="-120"/>
              </a:rPr>
              <a:t>De Morgan's Laws and the standard equivalence laws</a:t>
            </a:r>
            <a:endParaRPr lang="en-US" sz="1150" dirty="0"/>
          </a:p>
        </p:txBody>
      </p:sp>
      <p:sp>
        <p:nvSpPr>
          <p:cNvPr id="24" name="Shape 22"/>
          <p:cNvSpPr/>
          <p:nvPr/>
        </p:nvSpPr>
        <p:spPr>
          <a:xfrm>
            <a:off x="548640" y="4983480"/>
            <a:ext cx="5257800" cy="1417320"/>
          </a:xfrm>
          <a:prstGeom prst="roundRect">
            <a:avLst>
              <a:gd name="adj" fmla="val 5161"/>
            </a:avLst>
          </a:prstGeom>
          <a:solidFill>
            <a:srgbClr val="FFFFFF"/>
          </a:solidFill>
          <a:ln/>
        </p:spPr>
      </p:sp>
      <p:sp>
        <p:nvSpPr>
          <p:cNvPr id="25" name="Shape 23"/>
          <p:cNvSpPr/>
          <p:nvPr/>
        </p:nvSpPr>
        <p:spPr>
          <a:xfrm>
            <a:off x="777240" y="5417820"/>
            <a:ext cx="548640" cy="548640"/>
          </a:xfrm>
          <a:prstGeom prst="ellipse">
            <a:avLst/>
          </a:prstGeom>
          <a:solidFill>
            <a:srgbClr val="1E2761"/>
          </a:solidFill>
          <a:ln/>
        </p:spPr>
      </p:sp>
      <p:sp>
        <p:nvSpPr>
          <p:cNvPr id="26" name="Text 24"/>
          <p:cNvSpPr/>
          <p:nvPr/>
        </p:nvSpPr>
        <p:spPr>
          <a:xfrm>
            <a:off x="777240" y="541782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7" name="Text 25"/>
          <p:cNvSpPr/>
          <p:nvPr/>
        </p:nvSpPr>
        <p:spPr>
          <a:xfrm>
            <a:off x="1508760" y="5148072"/>
            <a:ext cx="4114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Rules of Inference</a:t>
            </a:r>
            <a:endParaRPr lang="en-US" sz="1500" dirty="0"/>
          </a:p>
        </p:txBody>
      </p:sp>
      <p:sp>
        <p:nvSpPr>
          <p:cNvPr id="28" name="Text 26"/>
          <p:cNvSpPr/>
          <p:nvPr/>
        </p:nvSpPr>
        <p:spPr>
          <a:xfrm>
            <a:off x="1508760" y="5532120"/>
            <a:ext cx="4114800" cy="731520"/>
          </a:xfrm>
          <a:prstGeom prst="rect">
            <a:avLst/>
          </a:prstGeom>
          <a:noFill/>
          <a:ln/>
        </p:spPr>
        <p:txBody>
          <a:bodyPr wrap="square" rtlCol="0" anchor="ctr"/>
          <a:lstStyle/>
          <a:p>
            <a:pPr marL="0" indent="0">
              <a:lnSpc>
                <a:spcPct val="110000"/>
              </a:lnSpc>
              <a:buNone/>
            </a:pPr>
            <a:r>
              <a:rPr lang="en-US" sz="1150" dirty="0">
                <a:solidFill>
                  <a:srgbClr val="6B7590"/>
                </a:solidFill>
                <a:latin typeface="Calibri" pitchFamily="34" charset="0"/>
                <a:ea typeface="Calibri" pitchFamily="34" charset="-122"/>
                <a:cs typeface="Calibri" pitchFamily="34" charset="-120"/>
              </a:rPr>
              <a:t>Modus ponens, modus tollens, syllogisms &amp; more</a:t>
            </a:r>
            <a:endParaRPr lang="en-US" sz="1150" dirty="0"/>
          </a:p>
        </p:txBody>
      </p:sp>
      <p:sp>
        <p:nvSpPr>
          <p:cNvPr id="29" name="Shape 27"/>
          <p:cNvSpPr/>
          <p:nvPr/>
        </p:nvSpPr>
        <p:spPr>
          <a:xfrm>
            <a:off x="6309360" y="4983480"/>
            <a:ext cx="5257800" cy="1417320"/>
          </a:xfrm>
          <a:prstGeom prst="roundRect">
            <a:avLst>
              <a:gd name="adj" fmla="val 5161"/>
            </a:avLst>
          </a:prstGeom>
          <a:solidFill>
            <a:srgbClr val="FFFFFF"/>
          </a:solidFill>
          <a:ln/>
        </p:spPr>
      </p:sp>
      <p:sp>
        <p:nvSpPr>
          <p:cNvPr id="30" name="Shape 28"/>
          <p:cNvSpPr/>
          <p:nvPr/>
        </p:nvSpPr>
        <p:spPr>
          <a:xfrm>
            <a:off x="6537960" y="5417820"/>
            <a:ext cx="548640" cy="548640"/>
          </a:xfrm>
          <a:prstGeom prst="ellipse">
            <a:avLst/>
          </a:prstGeom>
          <a:solidFill>
            <a:srgbClr val="1E2761"/>
          </a:solidFill>
          <a:ln/>
        </p:spPr>
      </p:sp>
      <p:sp>
        <p:nvSpPr>
          <p:cNvPr id="31" name="Text 29"/>
          <p:cNvSpPr/>
          <p:nvPr/>
        </p:nvSpPr>
        <p:spPr>
          <a:xfrm>
            <a:off x="6537960" y="5417820"/>
            <a:ext cx="548640" cy="54864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2" name="Text 30"/>
          <p:cNvSpPr/>
          <p:nvPr/>
        </p:nvSpPr>
        <p:spPr>
          <a:xfrm>
            <a:off x="7269480" y="5148072"/>
            <a:ext cx="4114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Logical Entailment</a:t>
            </a:r>
            <a:endParaRPr lang="en-US" sz="1500" dirty="0"/>
          </a:p>
        </p:txBody>
      </p:sp>
      <p:sp>
        <p:nvSpPr>
          <p:cNvPr id="33" name="Text 31"/>
          <p:cNvSpPr/>
          <p:nvPr/>
        </p:nvSpPr>
        <p:spPr>
          <a:xfrm>
            <a:off x="7269480" y="5532120"/>
            <a:ext cx="4114800" cy="731520"/>
          </a:xfrm>
          <a:prstGeom prst="rect">
            <a:avLst/>
          </a:prstGeom>
          <a:noFill/>
          <a:ln/>
        </p:spPr>
        <p:txBody>
          <a:bodyPr wrap="square" rtlCol="0" anchor="ctr"/>
          <a:lstStyle/>
          <a:p>
            <a:pPr marL="0" indent="0">
              <a:lnSpc>
                <a:spcPct val="110000"/>
              </a:lnSpc>
              <a:buNone/>
            </a:pPr>
            <a:r>
              <a:rPr lang="en-US" sz="1150" dirty="0">
                <a:solidFill>
                  <a:srgbClr val="6B7590"/>
                </a:solidFill>
                <a:latin typeface="Calibri" pitchFamily="34" charset="0"/>
                <a:ea typeface="Calibri" pitchFamily="34" charset="-122"/>
                <a:cs typeface="Calibri" pitchFamily="34" charset="-120"/>
              </a:rPr>
              <a:t>Building and validating formal arguments</a:t>
            </a:r>
            <a:endParaRPr lang="en-US" sz="1150" dirty="0"/>
          </a:p>
        </p:txBody>
      </p:sp>
      <p:sp>
        <p:nvSpPr>
          <p:cNvPr id="34" name="Text 32"/>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590"/>
                </a:solidFill>
                <a:latin typeface="Calibri" pitchFamily="34" charset="0"/>
                <a:ea typeface="Calibri" pitchFamily="34" charset="-122"/>
                <a:cs typeface="Calibri" pitchFamily="34" charset="-120"/>
              </a:rPr>
              <a:t>Propositional Logic  |  Rosen, Discrete Mathematics 8e</a:t>
            </a:r>
            <a:endParaRPr lang="en-US" sz="900" dirty="0"/>
          </a:p>
        </p:txBody>
      </p:sp>
      <p:sp>
        <p:nvSpPr>
          <p:cNvPr id="35" name="Text 33"/>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B759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Is a Proposition?</a:t>
            </a:r>
            <a:endParaRPr lang="en-US" sz="3200" dirty="0"/>
          </a:p>
        </p:txBody>
      </p:sp>
      <p:sp>
        <p:nvSpPr>
          <p:cNvPr id="3" name="Shape 1"/>
          <p:cNvSpPr/>
          <p:nvPr/>
        </p:nvSpPr>
        <p:spPr>
          <a:xfrm>
            <a:off x="548640" y="1051560"/>
            <a:ext cx="1005840" cy="54864"/>
          </a:xfrm>
          <a:prstGeom prst="rect">
            <a:avLst/>
          </a:prstGeom>
          <a:solidFill>
            <a:srgbClr val="E8A33D"/>
          </a:solidFill>
          <a:ln/>
        </p:spPr>
      </p:sp>
      <p:sp>
        <p:nvSpPr>
          <p:cNvPr id="4" name="Shape 2"/>
          <p:cNvSpPr/>
          <p:nvPr/>
        </p:nvSpPr>
        <p:spPr>
          <a:xfrm>
            <a:off x="548640" y="1371600"/>
            <a:ext cx="5394960" cy="1417320"/>
          </a:xfrm>
          <a:prstGeom prst="roundRect">
            <a:avLst>
              <a:gd name="adj" fmla="val 5161"/>
            </a:avLst>
          </a:prstGeom>
          <a:solidFill>
            <a:srgbClr val="1E2761"/>
          </a:solidFill>
          <a:ln/>
        </p:spPr>
      </p:sp>
      <p:sp>
        <p:nvSpPr>
          <p:cNvPr id="5" name="Text 3"/>
          <p:cNvSpPr/>
          <p:nvPr/>
        </p:nvSpPr>
        <p:spPr>
          <a:xfrm>
            <a:off x="868680" y="1536192"/>
            <a:ext cx="4754880" cy="1097280"/>
          </a:xfrm>
          <a:prstGeom prst="rect">
            <a:avLst/>
          </a:prstGeom>
          <a:noFill/>
          <a:ln/>
        </p:spPr>
        <p:txBody>
          <a:bodyPr wrap="square" rtlCol="0" anchor="ctr"/>
          <a:lstStyle/>
          <a:p>
            <a:pPr marL="0" indent="0">
              <a:lnSpc>
                <a:spcPct val="125000"/>
              </a:lnSpc>
              <a:buNone/>
            </a:pPr>
            <a:r>
              <a:rPr lang="en-US" sz="1350" i="1" dirty="0">
                <a:solidFill>
                  <a:srgbClr val="FFFFFF"/>
                </a:solidFill>
                <a:latin typeface="Calibri" pitchFamily="34" charset="0"/>
                <a:ea typeface="Calibri" pitchFamily="34" charset="-122"/>
                <a:cs typeface="Calibri" pitchFamily="34" charset="-120"/>
              </a:rPr>
              <a:t>"A proposition is a declarative sentence (that is, a sentence that declares a fact) that is either true or false, but not both."</a:t>
            </a:r>
            <a:endParaRPr lang="en-US" sz="1350" dirty="0"/>
          </a:p>
        </p:txBody>
      </p:sp>
      <p:sp>
        <p:nvSpPr>
          <p:cNvPr id="6" name="Text 4"/>
          <p:cNvSpPr/>
          <p:nvPr/>
        </p:nvSpPr>
        <p:spPr>
          <a:xfrm>
            <a:off x="548640" y="2926080"/>
            <a:ext cx="5394960" cy="914400"/>
          </a:xfrm>
          <a:prstGeom prst="rect">
            <a:avLst/>
          </a:prstGeom>
          <a:noFill/>
          <a:ln/>
        </p:spPr>
        <p:txBody>
          <a:bodyPr wrap="square" rtlCol="0" anchor="ctr"/>
          <a:lstStyle/>
          <a:p>
            <a:pPr marL="0" indent="0">
              <a:lnSpc>
                <a:spcPct val="125000"/>
              </a:lnSpc>
              <a:buNone/>
            </a:pPr>
            <a:r>
              <a:rPr lang="en-US" sz="1250" dirty="0">
                <a:solidFill>
                  <a:srgbClr val="26304A"/>
                </a:solidFill>
                <a:latin typeface="Calibri" pitchFamily="34" charset="0"/>
                <a:ea typeface="Calibri" pitchFamily="34" charset="-122"/>
                <a:cs typeface="Calibri" pitchFamily="34" charset="-120"/>
              </a:rPr>
              <a:t>Propositions are represented by propositional variables p, q, r, s ... — the same convention used for numerical variables. Truth value T (true) or F (false).</a:t>
            </a:r>
            <a:endParaRPr lang="en-US" sz="1250" dirty="0"/>
          </a:p>
        </p:txBody>
      </p:sp>
      <p:sp>
        <p:nvSpPr>
          <p:cNvPr id="7" name="Shape 5"/>
          <p:cNvSpPr/>
          <p:nvPr/>
        </p:nvSpPr>
        <p:spPr>
          <a:xfrm>
            <a:off x="548640" y="3977640"/>
            <a:ext cx="5394960" cy="1691640"/>
          </a:xfrm>
          <a:prstGeom prst="roundRect">
            <a:avLst>
              <a:gd name="adj" fmla="val 4324"/>
            </a:avLst>
          </a:prstGeom>
          <a:solidFill>
            <a:srgbClr val="FFFFFF"/>
          </a:solidFill>
          <a:ln/>
        </p:spPr>
      </p:sp>
      <p:sp>
        <p:nvSpPr>
          <p:cNvPr id="8" name="Text 6"/>
          <p:cNvSpPr/>
          <p:nvPr/>
        </p:nvSpPr>
        <p:spPr>
          <a:xfrm>
            <a:off x="777240" y="4114800"/>
            <a:ext cx="4937760" cy="274320"/>
          </a:xfrm>
          <a:prstGeom prst="rect">
            <a:avLst/>
          </a:prstGeom>
          <a:noFill/>
          <a:ln/>
        </p:spPr>
        <p:txBody>
          <a:bodyPr wrap="square" rtlCol="0" anchor="ctr"/>
          <a:lstStyle/>
          <a:p>
            <a:pPr marL="0" indent="0">
              <a:buNone/>
            </a:pPr>
            <a:r>
              <a:rPr lang="en-US" sz="1050" b="1" kern="0" spc="100" dirty="0">
                <a:solidFill>
                  <a:srgbClr val="E8A33D"/>
                </a:solidFill>
                <a:latin typeface="Calibri" pitchFamily="34" charset="0"/>
                <a:ea typeface="Calibri" pitchFamily="34" charset="-122"/>
                <a:cs typeface="Calibri" pitchFamily="34" charset="-120"/>
              </a:rPr>
              <a:t>EXAMPLE 1 (book)</a:t>
            </a:r>
            <a:endParaRPr lang="en-US" sz="1050" dirty="0"/>
          </a:p>
        </p:txBody>
      </p:sp>
      <p:sp>
        <p:nvSpPr>
          <p:cNvPr id="9" name="Text 7"/>
          <p:cNvSpPr/>
          <p:nvPr/>
        </p:nvSpPr>
        <p:spPr>
          <a:xfrm>
            <a:off x="777240" y="4389120"/>
            <a:ext cx="4937760" cy="914400"/>
          </a:xfrm>
          <a:prstGeom prst="rect">
            <a:avLst/>
          </a:prstGeom>
          <a:noFill/>
          <a:ln/>
        </p:spPr>
        <p:txBody>
          <a:bodyPr wrap="square" rtlCol="0" anchor="ctr"/>
          <a:lstStyle/>
          <a:p>
            <a:pPr marL="0" indent="0">
              <a:lnSpc>
                <a:spcPct val="125000"/>
              </a:lnSpc>
              <a:buNone/>
            </a:pPr>
            <a:r>
              <a:rPr lang="en-US" sz="1150" dirty="0">
                <a:solidFill>
                  <a:srgbClr val="26304A"/>
                </a:solidFill>
                <a:latin typeface="Calibri" pitchFamily="34" charset="0"/>
                <a:ea typeface="Calibri" pitchFamily="34" charset="-122"/>
                <a:cs typeface="Calibri" pitchFamily="34" charset="-120"/>
              </a:rPr>
              <a:t>1. Washington, D.C., is the capital of the United States of America.
2. Toronto is the capital of Canada.
3. 1 + 1 = 2.
4. 2 + 2 = 3.</a:t>
            </a:r>
            <a:endParaRPr lang="en-US" sz="1150" dirty="0"/>
          </a:p>
        </p:txBody>
      </p:sp>
      <p:sp>
        <p:nvSpPr>
          <p:cNvPr id="10" name="Text 8"/>
          <p:cNvSpPr/>
          <p:nvPr/>
        </p:nvSpPr>
        <p:spPr>
          <a:xfrm>
            <a:off x="777240" y="5349240"/>
            <a:ext cx="4937760" cy="274320"/>
          </a:xfrm>
          <a:prstGeom prst="rect">
            <a:avLst/>
          </a:prstGeom>
          <a:noFill/>
          <a:ln/>
        </p:spPr>
        <p:txBody>
          <a:bodyPr wrap="square" rtlCol="0" anchor="ctr"/>
          <a:lstStyle/>
          <a:p>
            <a:pPr marL="0" indent="0">
              <a:buNone/>
            </a:pPr>
            <a:r>
              <a:rPr lang="en-US" sz="1050" i="1" dirty="0">
                <a:solidFill>
                  <a:srgbClr val="6B7590"/>
                </a:solidFill>
                <a:latin typeface="Calibri" pitchFamily="34" charset="0"/>
                <a:ea typeface="Calibri" pitchFamily="34" charset="-122"/>
                <a:cs typeface="Calibri" pitchFamily="34" charset="-120"/>
              </a:rPr>
              <a:t>Propositions 1 and 3 are true, whereas 2 and 4 are false.</a:t>
            </a:r>
            <a:endParaRPr lang="en-US" sz="1050" dirty="0"/>
          </a:p>
        </p:txBody>
      </p:sp>
      <p:sp>
        <p:nvSpPr>
          <p:cNvPr id="11" name="Text 9"/>
          <p:cNvSpPr/>
          <p:nvPr/>
        </p:nvSpPr>
        <p:spPr>
          <a:xfrm>
            <a:off x="6263640" y="1371600"/>
            <a:ext cx="5394960" cy="320040"/>
          </a:xfrm>
          <a:prstGeom prst="rect">
            <a:avLst/>
          </a:prstGeom>
          <a:noFill/>
          <a:ln/>
        </p:spPr>
        <p:txBody>
          <a:bodyPr wrap="square" rtlCol="0" anchor="ctr"/>
          <a:lstStyle/>
          <a:p>
            <a:pPr marL="0" indent="0">
              <a:buNone/>
            </a:pPr>
            <a:r>
              <a:rPr lang="en-US" sz="1200" b="1" kern="0" spc="50" dirty="0">
                <a:solidFill>
                  <a:srgbClr val="E8A33D"/>
                </a:solidFill>
                <a:latin typeface="Calibri" pitchFamily="34" charset="0"/>
                <a:ea typeface="Calibri" pitchFamily="34" charset="-122"/>
                <a:cs typeface="Calibri" pitchFamily="34" charset="-120"/>
              </a:rPr>
              <a:t>EXAMPLE 2 (book) — NOT Propositions</a:t>
            </a:r>
            <a:endParaRPr lang="en-US" sz="1200" dirty="0"/>
          </a:p>
        </p:txBody>
      </p:sp>
      <p:sp>
        <p:nvSpPr>
          <p:cNvPr id="12" name="Shape 10"/>
          <p:cNvSpPr/>
          <p:nvPr/>
        </p:nvSpPr>
        <p:spPr>
          <a:xfrm>
            <a:off x="6263640" y="1737360"/>
            <a:ext cx="5394960" cy="621792"/>
          </a:xfrm>
          <a:prstGeom prst="roundRect">
            <a:avLst>
              <a:gd name="adj" fmla="val 8824"/>
            </a:avLst>
          </a:prstGeom>
          <a:solidFill>
            <a:srgbClr val="FBEDEA"/>
          </a:solidFill>
          <a:ln/>
        </p:spPr>
      </p:sp>
      <p:sp>
        <p:nvSpPr>
          <p:cNvPr id="13" name="Text 11"/>
          <p:cNvSpPr/>
          <p:nvPr/>
        </p:nvSpPr>
        <p:spPr>
          <a:xfrm>
            <a:off x="6382512" y="1737360"/>
            <a:ext cx="457200" cy="621792"/>
          </a:xfrm>
          <a:prstGeom prst="rect">
            <a:avLst/>
          </a:prstGeom>
          <a:noFill/>
          <a:ln/>
        </p:spPr>
        <p:txBody>
          <a:bodyPr wrap="square" rtlCol="0" anchor="ctr"/>
          <a:lstStyle/>
          <a:p>
            <a:pPr marL="0" indent="0" algn="ctr">
              <a:buNone/>
            </a:pPr>
            <a:r>
              <a:rPr lang="en-US" sz="1600" b="1" dirty="0">
                <a:solidFill>
                  <a:srgbClr val="C0392B"/>
                </a:solidFill>
                <a:latin typeface="Cambria" pitchFamily="34" charset="0"/>
                <a:ea typeface="Cambria" pitchFamily="34" charset="-122"/>
                <a:cs typeface="Cambria" pitchFamily="34" charset="-120"/>
              </a:rPr>
              <a:t>✕</a:t>
            </a:r>
            <a:endParaRPr lang="en-US" sz="1600" dirty="0"/>
          </a:p>
        </p:txBody>
      </p:sp>
      <p:sp>
        <p:nvSpPr>
          <p:cNvPr id="14" name="Text 12"/>
          <p:cNvSpPr/>
          <p:nvPr/>
        </p:nvSpPr>
        <p:spPr>
          <a:xfrm>
            <a:off x="6858000" y="1792224"/>
            <a:ext cx="4663440" cy="292608"/>
          </a:xfrm>
          <a:prstGeom prst="rect">
            <a:avLst/>
          </a:prstGeom>
          <a:noFill/>
          <a:ln/>
        </p:spPr>
        <p:txBody>
          <a:bodyPr wrap="square" rtlCol="0" anchor="ctr"/>
          <a:lstStyle/>
          <a:p>
            <a:pPr marL="0" indent="0">
              <a:buNone/>
            </a:pPr>
            <a:r>
              <a:rPr lang="en-US" sz="1150" i="1" dirty="0">
                <a:solidFill>
                  <a:srgbClr val="26304A"/>
                </a:solidFill>
                <a:latin typeface="Calibri" pitchFamily="34" charset="0"/>
                <a:ea typeface="Calibri" pitchFamily="34" charset="-122"/>
                <a:cs typeface="Calibri" pitchFamily="34" charset="-120"/>
              </a:rPr>
              <a:t>"What time is it?"</a:t>
            </a:r>
            <a:endParaRPr lang="en-US" sz="1150" dirty="0"/>
          </a:p>
        </p:txBody>
      </p:sp>
      <p:sp>
        <p:nvSpPr>
          <p:cNvPr id="15" name="Text 13"/>
          <p:cNvSpPr/>
          <p:nvPr/>
        </p:nvSpPr>
        <p:spPr>
          <a:xfrm>
            <a:off x="6858000" y="2057400"/>
            <a:ext cx="4663440" cy="274320"/>
          </a:xfrm>
          <a:prstGeom prst="rect">
            <a:avLst/>
          </a:prstGeom>
          <a:noFill/>
          <a:ln/>
        </p:spPr>
        <p:txBody>
          <a:bodyPr wrap="square" rtlCol="0" anchor="ctr"/>
          <a:lstStyle/>
          <a:p>
            <a:pPr marL="0" indent="0">
              <a:buNone/>
            </a:pPr>
            <a:r>
              <a:rPr lang="en-US" sz="1050" dirty="0">
                <a:solidFill>
                  <a:srgbClr val="6B7590"/>
                </a:solidFill>
                <a:latin typeface="Calibri" pitchFamily="34" charset="0"/>
                <a:ea typeface="Calibri" pitchFamily="34" charset="-122"/>
                <a:cs typeface="Calibri" pitchFamily="34" charset="-120"/>
              </a:rPr>
              <a:t>Not a declarative sentence</a:t>
            </a:r>
            <a:endParaRPr lang="en-US" sz="1050" dirty="0"/>
          </a:p>
        </p:txBody>
      </p:sp>
      <p:sp>
        <p:nvSpPr>
          <p:cNvPr id="16" name="Shape 14"/>
          <p:cNvSpPr/>
          <p:nvPr/>
        </p:nvSpPr>
        <p:spPr>
          <a:xfrm>
            <a:off x="6263640" y="2450592"/>
            <a:ext cx="5394960" cy="621792"/>
          </a:xfrm>
          <a:prstGeom prst="roundRect">
            <a:avLst>
              <a:gd name="adj" fmla="val 8824"/>
            </a:avLst>
          </a:prstGeom>
          <a:solidFill>
            <a:srgbClr val="FBEDEA"/>
          </a:solidFill>
          <a:ln/>
        </p:spPr>
      </p:sp>
      <p:sp>
        <p:nvSpPr>
          <p:cNvPr id="17" name="Text 15"/>
          <p:cNvSpPr/>
          <p:nvPr/>
        </p:nvSpPr>
        <p:spPr>
          <a:xfrm>
            <a:off x="6382512" y="2450592"/>
            <a:ext cx="457200" cy="621792"/>
          </a:xfrm>
          <a:prstGeom prst="rect">
            <a:avLst/>
          </a:prstGeom>
          <a:noFill/>
          <a:ln/>
        </p:spPr>
        <p:txBody>
          <a:bodyPr wrap="square" rtlCol="0" anchor="ctr"/>
          <a:lstStyle/>
          <a:p>
            <a:pPr marL="0" indent="0" algn="ctr">
              <a:buNone/>
            </a:pPr>
            <a:r>
              <a:rPr lang="en-US" sz="1600" b="1" dirty="0">
                <a:solidFill>
                  <a:srgbClr val="C0392B"/>
                </a:solidFill>
                <a:latin typeface="Cambria" pitchFamily="34" charset="0"/>
                <a:ea typeface="Cambria" pitchFamily="34" charset="-122"/>
                <a:cs typeface="Cambria" pitchFamily="34" charset="-120"/>
              </a:rPr>
              <a:t>✕</a:t>
            </a:r>
            <a:endParaRPr lang="en-US" sz="1600" dirty="0"/>
          </a:p>
        </p:txBody>
      </p:sp>
      <p:sp>
        <p:nvSpPr>
          <p:cNvPr id="18" name="Text 16"/>
          <p:cNvSpPr/>
          <p:nvPr/>
        </p:nvSpPr>
        <p:spPr>
          <a:xfrm>
            <a:off x="6858000" y="2505456"/>
            <a:ext cx="4663440" cy="292608"/>
          </a:xfrm>
          <a:prstGeom prst="rect">
            <a:avLst/>
          </a:prstGeom>
          <a:noFill/>
          <a:ln/>
        </p:spPr>
        <p:txBody>
          <a:bodyPr wrap="square" rtlCol="0" anchor="ctr"/>
          <a:lstStyle/>
          <a:p>
            <a:pPr marL="0" indent="0">
              <a:buNone/>
            </a:pPr>
            <a:r>
              <a:rPr lang="en-US" sz="1150" i="1" dirty="0">
                <a:solidFill>
                  <a:srgbClr val="26304A"/>
                </a:solidFill>
                <a:latin typeface="Calibri" pitchFamily="34" charset="0"/>
                <a:ea typeface="Calibri" pitchFamily="34" charset="-122"/>
                <a:cs typeface="Calibri" pitchFamily="34" charset="-120"/>
              </a:rPr>
              <a:t>"Read this carefully."</a:t>
            </a:r>
            <a:endParaRPr lang="en-US" sz="1150" dirty="0"/>
          </a:p>
        </p:txBody>
      </p:sp>
      <p:sp>
        <p:nvSpPr>
          <p:cNvPr id="19" name="Text 17"/>
          <p:cNvSpPr/>
          <p:nvPr/>
        </p:nvSpPr>
        <p:spPr>
          <a:xfrm>
            <a:off x="6858000" y="2770632"/>
            <a:ext cx="4663440" cy="274320"/>
          </a:xfrm>
          <a:prstGeom prst="rect">
            <a:avLst/>
          </a:prstGeom>
          <a:noFill/>
          <a:ln/>
        </p:spPr>
        <p:txBody>
          <a:bodyPr wrap="square" rtlCol="0" anchor="ctr"/>
          <a:lstStyle/>
          <a:p>
            <a:pPr marL="0" indent="0">
              <a:buNone/>
            </a:pPr>
            <a:r>
              <a:rPr lang="en-US" sz="1050" dirty="0">
                <a:solidFill>
                  <a:srgbClr val="6B7590"/>
                </a:solidFill>
                <a:latin typeface="Calibri" pitchFamily="34" charset="0"/>
                <a:ea typeface="Calibri" pitchFamily="34" charset="-122"/>
                <a:cs typeface="Calibri" pitchFamily="34" charset="-120"/>
              </a:rPr>
              <a:t>Not a declarative sentence</a:t>
            </a:r>
            <a:endParaRPr lang="en-US" sz="1050" dirty="0"/>
          </a:p>
        </p:txBody>
      </p:sp>
      <p:sp>
        <p:nvSpPr>
          <p:cNvPr id="20" name="Shape 18"/>
          <p:cNvSpPr/>
          <p:nvPr/>
        </p:nvSpPr>
        <p:spPr>
          <a:xfrm>
            <a:off x="6263640" y="3163824"/>
            <a:ext cx="5394960" cy="621792"/>
          </a:xfrm>
          <a:prstGeom prst="roundRect">
            <a:avLst>
              <a:gd name="adj" fmla="val 8824"/>
            </a:avLst>
          </a:prstGeom>
          <a:solidFill>
            <a:srgbClr val="FBEDEA"/>
          </a:solidFill>
          <a:ln/>
        </p:spPr>
      </p:sp>
      <p:sp>
        <p:nvSpPr>
          <p:cNvPr id="21" name="Text 19"/>
          <p:cNvSpPr/>
          <p:nvPr/>
        </p:nvSpPr>
        <p:spPr>
          <a:xfrm>
            <a:off x="6382512" y="3163824"/>
            <a:ext cx="457200" cy="621792"/>
          </a:xfrm>
          <a:prstGeom prst="rect">
            <a:avLst/>
          </a:prstGeom>
          <a:noFill/>
          <a:ln/>
        </p:spPr>
        <p:txBody>
          <a:bodyPr wrap="square" rtlCol="0" anchor="ctr"/>
          <a:lstStyle/>
          <a:p>
            <a:pPr marL="0" indent="0" algn="ctr">
              <a:buNone/>
            </a:pPr>
            <a:r>
              <a:rPr lang="en-US" sz="1600" b="1" dirty="0">
                <a:solidFill>
                  <a:srgbClr val="C0392B"/>
                </a:solidFill>
                <a:latin typeface="Cambria" pitchFamily="34" charset="0"/>
                <a:ea typeface="Cambria" pitchFamily="34" charset="-122"/>
                <a:cs typeface="Cambria" pitchFamily="34" charset="-120"/>
              </a:rPr>
              <a:t>✕</a:t>
            </a:r>
            <a:endParaRPr lang="en-US" sz="1600" dirty="0"/>
          </a:p>
        </p:txBody>
      </p:sp>
      <p:sp>
        <p:nvSpPr>
          <p:cNvPr id="22" name="Text 20"/>
          <p:cNvSpPr/>
          <p:nvPr/>
        </p:nvSpPr>
        <p:spPr>
          <a:xfrm>
            <a:off x="6858000" y="3218688"/>
            <a:ext cx="4663440" cy="292608"/>
          </a:xfrm>
          <a:prstGeom prst="rect">
            <a:avLst/>
          </a:prstGeom>
          <a:noFill/>
          <a:ln/>
        </p:spPr>
        <p:txBody>
          <a:bodyPr wrap="square" rtlCol="0" anchor="ctr"/>
          <a:lstStyle/>
          <a:p>
            <a:pPr marL="0" indent="0">
              <a:buNone/>
            </a:pPr>
            <a:r>
              <a:rPr lang="en-US" sz="1150" i="1" dirty="0">
                <a:solidFill>
                  <a:srgbClr val="26304A"/>
                </a:solidFill>
                <a:latin typeface="Calibri" pitchFamily="34" charset="0"/>
                <a:ea typeface="Calibri" pitchFamily="34" charset="-122"/>
                <a:cs typeface="Calibri" pitchFamily="34" charset="-120"/>
              </a:rPr>
              <a:t>"x + 1 = 2."</a:t>
            </a:r>
            <a:endParaRPr lang="en-US" sz="1150" dirty="0"/>
          </a:p>
        </p:txBody>
      </p:sp>
      <p:sp>
        <p:nvSpPr>
          <p:cNvPr id="23" name="Text 21"/>
          <p:cNvSpPr/>
          <p:nvPr/>
        </p:nvSpPr>
        <p:spPr>
          <a:xfrm>
            <a:off x="6858000" y="3483864"/>
            <a:ext cx="4663440" cy="274320"/>
          </a:xfrm>
          <a:prstGeom prst="rect">
            <a:avLst/>
          </a:prstGeom>
          <a:noFill/>
          <a:ln/>
        </p:spPr>
        <p:txBody>
          <a:bodyPr wrap="square" rtlCol="0" anchor="ctr"/>
          <a:lstStyle/>
          <a:p>
            <a:pPr marL="0" indent="0">
              <a:buNone/>
            </a:pPr>
            <a:r>
              <a:rPr lang="en-US" sz="1050" dirty="0">
                <a:solidFill>
                  <a:srgbClr val="6B7590"/>
                </a:solidFill>
                <a:latin typeface="Calibri" pitchFamily="34" charset="0"/>
                <a:ea typeface="Calibri" pitchFamily="34" charset="-122"/>
                <a:cs typeface="Calibri" pitchFamily="34" charset="-120"/>
              </a:rPr>
              <a:t>Neither true nor false as written</a:t>
            </a:r>
            <a:endParaRPr lang="en-US" sz="1050" dirty="0"/>
          </a:p>
        </p:txBody>
      </p:sp>
      <p:sp>
        <p:nvSpPr>
          <p:cNvPr id="24" name="Shape 22"/>
          <p:cNvSpPr/>
          <p:nvPr/>
        </p:nvSpPr>
        <p:spPr>
          <a:xfrm>
            <a:off x="6263640" y="3877056"/>
            <a:ext cx="5394960" cy="621792"/>
          </a:xfrm>
          <a:prstGeom prst="roundRect">
            <a:avLst>
              <a:gd name="adj" fmla="val 8824"/>
            </a:avLst>
          </a:prstGeom>
          <a:solidFill>
            <a:srgbClr val="FBEDEA"/>
          </a:solidFill>
          <a:ln/>
        </p:spPr>
      </p:sp>
      <p:sp>
        <p:nvSpPr>
          <p:cNvPr id="25" name="Text 23"/>
          <p:cNvSpPr/>
          <p:nvPr/>
        </p:nvSpPr>
        <p:spPr>
          <a:xfrm>
            <a:off x="6382512" y="3877056"/>
            <a:ext cx="457200" cy="621792"/>
          </a:xfrm>
          <a:prstGeom prst="rect">
            <a:avLst/>
          </a:prstGeom>
          <a:noFill/>
          <a:ln/>
        </p:spPr>
        <p:txBody>
          <a:bodyPr wrap="square" rtlCol="0" anchor="ctr"/>
          <a:lstStyle/>
          <a:p>
            <a:pPr marL="0" indent="0" algn="ctr">
              <a:buNone/>
            </a:pPr>
            <a:r>
              <a:rPr lang="en-US" sz="1600" b="1" dirty="0">
                <a:solidFill>
                  <a:srgbClr val="C0392B"/>
                </a:solidFill>
                <a:latin typeface="Cambria" pitchFamily="34" charset="0"/>
                <a:ea typeface="Cambria" pitchFamily="34" charset="-122"/>
                <a:cs typeface="Cambria" pitchFamily="34" charset="-120"/>
              </a:rPr>
              <a:t>✕</a:t>
            </a:r>
            <a:endParaRPr lang="en-US" sz="1600" dirty="0"/>
          </a:p>
        </p:txBody>
      </p:sp>
      <p:sp>
        <p:nvSpPr>
          <p:cNvPr id="26" name="Text 24"/>
          <p:cNvSpPr/>
          <p:nvPr/>
        </p:nvSpPr>
        <p:spPr>
          <a:xfrm>
            <a:off x="6858000" y="3931920"/>
            <a:ext cx="4663440" cy="292608"/>
          </a:xfrm>
          <a:prstGeom prst="rect">
            <a:avLst/>
          </a:prstGeom>
          <a:noFill/>
          <a:ln/>
        </p:spPr>
        <p:txBody>
          <a:bodyPr wrap="square" rtlCol="0" anchor="ctr"/>
          <a:lstStyle/>
          <a:p>
            <a:pPr marL="0" indent="0">
              <a:buNone/>
            </a:pPr>
            <a:r>
              <a:rPr lang="en-US" sz="1150" i="1" dirty="0">
                <a:solidFill>
                  <a:srgbClr val="26304A"/>
                </a:solidFill>
                <a:latin typeface="Calibri" pitchFamily="34" charset="0"/>
                <a:ea typeface="Calibri" pitchFamily="34" charset="-122"/>
                <a:cs typeface="Calibri" pitchFamily="34" charset="-120"/>
              </a:rPr>
              <a:t>"x + y = z."</a:t>
            </a:r>
            <a:endParaRPr lang="en-US" sz="1150" dirty="0"/>
          </a:p>
        </p:txBody>
      </p:sp>
      <p:sp>
        <p:nvSpPr>
          <p:cNvPr id="27" name="Text 25"/>
          <p:cNvSpPr/>
          <p:nvPr/>
        </p:nvSpPr>
        <p:spPr>
          <a:xfrm>
            <a:off x="6858000" y="4197096"/>
            <a:ext cx="4663440" cy="274320"/>
          </a:xfrm>
          <a:prstGeom prst="rect">
            <a:avLst/>
          </a:prstGeom>
          <a:noFill/>
          <a:ln/>
        </p:spPr>
        <p:txBody>
          <a:bodyPr wrap="square" rtlCol="0" anchor="ctr"/>
          <a:lstStyle/>
          <a:p>
            <a:pPr marL="0" indent="0">
              <a:buNone/>
            </a:pPr>
            <a:r>
              <a:rPr lang="en-US" sz="1050" dirty="0">
                <a:solidFill>
                  <a:srgbClr val="6B7590"/>
                </a:solidFill>
                <a:latin typeface="Calibri" pitchFamily="34" charset="0"/>
                <a:ea typeface="Calibri" pitchFamily="34" charset="-122"/>
                <a:cs typeface="Calibri" pitchFamily="34" charset="-120"/>
              </a:rPr>
              <a:t>Neither true nor false as written</a:t>
            </a:r>
            <a:endParaRPr lang="en-US" sz="1050" dirty="0"/>
          </a:p>
        </p:txBody>
      </p:sp>
      <p:sp>
        <p:nvSpPr>
          <p:cNvPr id="28" name="Text 26"/>
          <p:cNvSpPr/>
          <p:nvPr/>
        </p:nvSpPr>
        <p:spPr>
          <a:xfrm>
            <a:off x="6263640" y="4681728"/>
            <a:ext cx="5394960" cy="822960"/>
          </a:xfrm>
          <a:prstGeom prst="rect">
            <a:avLst/>
          </a:prstGeom>
          <a:noFill/>
          <a:ln/>
        </p:spPr>
        <p:txBody>
          <a:bodyPr wrap="square" rtlCol="0" anchor="ctr"/>
          <a:lstStyle/>
          <a:p>
            <a:pPr marL="0" indent="0">
              <a:lnSpc>
                <a:spcPct val="125000"/>
              </a:lnSpc>
              <a:buNone/>
            </a:pPr>
            <a:r>
              <a:rPr lang="en-US" sz="1100" i="1" dirty="0">
                <a:solidFill>
                  <a:srgbClr val="6B7590"/>
                </a:solidFill>
                <a:latin typeface="Calibri" pitchFamily="34" charset="0"/>
                <a:ea typeface="Calibri" pitchFamily="34" charset="-122"/>
                <a:cs typeface="Calibri" pitchFamily="34" charset="-120"/>
              </a:rPr>
              <a:t>"Note that each of sentences 3 and 4 can be turned into a proposition if we assign values to the variables."</a:t>
            </a:r>
            <a:endParaRPr lang="en-US" sz="1100" dirty="0"/>
          </a:p>
        </p:txBody>
      </p:sp>
      <p:sp>
        <p:nvSpPr>
          <p:cNvPr id="29" name="Text 27"/>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590"/>
                </a:solidFill>
                <a:latin typeface="Calibri" pitchFamily="34" charset="0"/>
                <a:ea typeface="Calibri" pitchFamily="34" charset="-122"/>
                <a:cs typeface="Calibri" pitchFamily="34" charset="-120"/>
              </a:rPr>
              <a:t>Propositional Logic  |  Rosen, Discrete Mathematics 8e</a:t>
            </a:r>
            <a:endParaRPr lang="en-US" sz="900" dirty="0"/>
          </a:p>
        </p:txBody>
      </p:sp>
      <p:sp>
        <p:nvSpPr>
          <p:cNvPr id="30" name="Text 28"/>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B759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Symbolic Representation: Logical Connectives</a:t>
            </a:r>
            <a:endParaRPr lang="en-US" sz="3000" dirty="0"/>
          </a:p>
        </p:txBody>
      </p:sp>
      <p:sp>
        <p:nvSpPr>
          <p:cNvPr id="3" name="Shape 1"/>
          <p:cNvSpPr/>
          <p:nvPr/>
        </p:nvSpPr>
        <p:spPr>
          <a:xfrm>
            <a:off x="548640" y="1051560"/>
            <a:ext cx="1005840" cy="54864"/>
          </a:xfrm>
          <a:prstGeom prst="rect">
            <a:avLst/>
          </a:prstGeom>
          <a:solidFill>
            <a:srgbClr val="E8A33D"/>
          </a:solidFill>
          <a:ln/>
        </p:spPr>
      </p:sp>
      <p:sp>
        <p:nvSpPr>
          <p:cNvPr id="4" name="Shape 2"/>
          <p:cNvSpPr/>
          <p:nvPr/>
        </p:nvSpPr>
        <p:spPr>
          <a:xfrm>
            <a:off x="548640" y="1417320"/>
            <a:ext cx="2139696" cy="4206240"/>
          </a:xfrm>
          <a:prstGeom prst="roundRect">
            <a:avLst>
              <a:gd name="adj" fmla="val 4274"/>
            </a:avLst>
          </a:prstGeom>
          <a:solidFill>
            <a:srgbClr val="FFFFFF"/>
          </a:solidFill>
          <a:ln/>
        </p:spPr>
      </p:sp>
      <p:sp>
        <p:nvSpPr>
          <p:cNvPr id="5" name="Text 3"/>
          <p:cNvSpPr/>
          <p:nvPr/>
        </p:nvSpPr>
        <p:spPr>
          <a:xfrm>
            <a:off x="548640" y="1737360"/>
            <a:ext cx="2139696" cy="914400"/>
          </a:xfrm>
          <a:prstGeom prst="rect">
            <a:avLst/>
          </a:prstGeom>
          <a:noFill/>
          <a:ln/>
        </p:spPr>
        <p:txBody>
          <a:bodyPr wrap="square" rtlCol="0" anchor="ctr"/>
          <a:lstStyle/>
          <a:p>
            <a:pPr marL="0" indent="0" algn="ctr">
              <a:buNone/>
            </a:pPr>
            <a:r>
              <a:rPr lang="en-US" sz="4600" b="1" dirty="0">
                <a:solidFill>
                  <a:srgbClr val="1E2761"/>
                </a:solidFill>
                <a:latin typeface="Cambria" pitchFamily="34" charset="0"/>
                <a:ea typeface="Cambria" pitchFamily="34" charset="-122"/>
                <a:cs typeface="Cambria" pitchFamily="34" charset="-120"/>
              </a:rPr>
              <a:t>¬</a:t>
            </a:r>
            <a:endParaRPr lang="en-US" sz="4600" dirty="0"/>
          </a:p>
        </p:txBody>
      </p:sp>
      <p:sp>
        <p:nvSpPr>
          <p:cNvPr id="6" name="Text 4"/>
          <p:cNvSpPr/>
          <p:nvPr/>
        </p:nvSpPr>
        <p:spPr>
          <a:xfrm>
            <a:off x="685800" y="2788920"/>
            <a:ext cx="1865376" cy="457200"/>
          </a:xfrm>
          <a:prstGeom prst="rect">
            <a:avLst/>
          </a:prstGeom>
          <a:noFill/>
          <a:ln/>
        </p:spPr>
        <p:txBody>
          <a:bodyPr wrap="square" rtlCol="0" anchor="ctr"/>
          <a:lstStyle/>
          <a:p>
            <a:pPr marL="0" indent="0" algn="ctr">
              <a:buNone/>
            </a:pPr>
            <a:r>
              <a:rPr lang="en-US" sz="1500" b="1" dirty="0">
                <a:solidFill>
                  <a:srgbClr val="1E2761"/>
                </a:solidFill>
                <a:latin typeface="Cambria" pitchFamily="34" charset="0"/>
                <a:ea typeface="Cambria" pitchFamily="34" charset="-122"/>
                <a:cs typeface="Cambria" pitchFamily="34" charset="-120"/>
              </a:rPr>
              <a:t>Negation</a:t>
            </a:r>
            <a:endParaRPr lang="en-US" sz="1500" dirty="0"/>
          </a:p>
        </p:txBody>
      </p:sp>
      <p:sp>
        <p:nvSpPr>
          <p:cNvPr id="7" name="Shape 5"/>
          <p:cNvSpPr/>
          <p:nvPr/>
        </p:nvSpPr>
        <p:spPr>
          <a:xfrm>
            <a:off x="1005840" y="3291840"/>
            <a:ext cx="1225296" cy="0"/>
          </a:xfrm>
          <a:prstGeom prst="line">
            <a:avLst/>
          </a:prstGeom>
          <a:noFill/>
          <a:ln w="12700">
            <a:solidFill>
              <a:srgbClr val="CADCFC"/>
            </a:solidFill>
            <a:prstDash val="solid"/>
          </a:ln>
        </p:spPr>
      </p:sp>
      <p:sp>
        <p:nvSpPr>
          <p:cNvPr id="8" name="Text 6"/>
          <p:cNvSpPr/>
          <p:nvPr/>
        </p:nvSpPr>
        <p:spPr>
          <a:xfrm>
            <a:off x="685800" y="3474720"/>
            <a:ext cx="1865376" cy="411480"/>
          </a:xfrm>
          <a:prstGeom prst="rect">
            <a:avLst/>
          </a:prstGeom>
          <a:noFill/>
          <a:ln/>
        </p:spPr>
        <p:txBody>
          <a:bodyPr wrap="square" rtlCol="0" anchor="ctr"/>
          <a:lstStyle/>
          <a:p>
            <a:pPr marL="0" indent="0" algn="ctr">
              <a:buNone/>
            </a:pPr>
            <a:r>
              <a:rPr lang="en-US" sz="1700" b="1" dirty="0">
                <a:solidFill>
                  <a:srgbClr val="3B4A8C"/>
                </a:solidFill>
                <a:latin typeface="Calibri" pitchFamily="34" charset="0"/>
                <a:ea typeface="Calibri" pitchFamily="34" charset="-122"/>
                <a:cs typeface="Calibri" pitchFamily="34" charset="-120"/>
              </a:rPr>
              <a:t>¬p</a:t>
            </a:r>
            <a:endParaRPr lang="en-US" sz="1700" dirty="0"/>
          </a:p>
        </p:txBody>
      </p:sp>
      <p:sp>
        <p:nvSpPr>
          <p:cNvPr id="9" name="Text 7"/>
          <p:cNvSpPr/>
          <p:nvPr/>
        </p:nvSpPr>
        <p:spPr>
          <a:xfrm>
            <a:off x="685800" y="3977640"/>
            <a:ext cx="1865376" cy="640080"/>
          </a:xfrm>
          <a:prstGeom prst="rect">
            <a:avLst/>
          </a:prstGeom>
          <a:noFill/>
          <a:ln/>
        </p:spPr>
        <p:txBody>
          <a:bodyPr wrap="square" rtlCol="0" anchor="ctr"/>
          <a:lstStyle/>
          <a:p>
            <a:pPr marL="0" indent="0" algn="ctr">
              <a:buNone/>
            </a:pPr>
            <a:r>
              <a:rPr lang="en-US" sz="1150" dirty="0">
                <a:solidFill>
                  <a:srgbClr val="6B7590"/>
                </a:solidFill>
                <a:latin typeface="Calibri" pitchFamily="34" charset="0"/>
                <a:ea typeface="Calibri" pitchFamily="34" charset="-122"/>
                <a:cs typeface="Calibri" pitchFamily="34" charset="-120"/>
              </a:rPr>
              <a:t>NOT p</a:t>
            </a:r>
            <a:endParaRPr lang="en-US" sz="1150" dirty="0"/>
          </a:p>
        </p:txBody>
      </p:sp>
      <p:sp>
        <p:nvSpPr>
          <p:cNvPr id="10" name="Shape 8"/>
          <p:cNvSpPr/>
          <p:nvPr/>
        </p:nvSpPr>
        <p:spPr>
          <a:xfrm>
            <a:off x="2852928" y="1417320"/>
            <a:ext cx="2139696" cy="4206240"/>
          </a:xfrm>
          <a:prstGeom prst="roundRect">
            <a:avLst>
              <a:gd name="adj" fmla="val 4274"/>
            </a:avLst>
          </a:prstGeom>
          <a:solidFill>
            <a:srgbClr val="FFFFFF"/>
          </a:solidFill>
          <a:ln/>
        </p:spPr>
      </p:sp>
      <p:sp>
        <p:nvSpPr>
          <p:cNvPr id="11" name="Text 9"/>
          <p:cNvSpPr/>
          <p:nvPr/>
        </p:nvSpPr>
        <p:spPr>
          <a:xfrm>
            <a:off x="2852928" y="1737360"/>
            <a:ext cx="2139696" cy="914400"/>
          </a:xfrm>
          <a:prstGeom prst="rect">
            <a:avLst/>
          </a:prstGeom>
          <a:noFill/>
          <a:ln/>
        </p:spPr>
        <p:txBody>
          <a:bodyPr wrap="square" rtlCol="0" anchor="ctr"/>
          <a:lstStyle/>
          <a:p>
            <a:pPr marL="0" indent="0" algn="ctr">
              <a:buNone/>
            </a:pPr>
            <a:r>
              <a:rPr lang="en-US" sz="4600" b="1" dirty="0">
                <a:solidFill>
                  <a:srgbClr val="1E2761"/>
                </a:solidFill>
                <a:latin typeface="Cambria" pitchFamily="34" charset="0"/>
                <a:ea typeface="Cambria" pitchFamily="34" charset="-122"/>
                <a:cs typeface="Cambria" pitchFamily="34" charset="-120"/>
              </a:rPr>
              <a:t>∧</a:t>
            </a:r>
            <a:endParaRPr lang="en-US" sz="4600" dirty="0"/>
          </a:p>
        </p:txBody>
      </p:sp>
      <p:sp>
        <p:nvSpPr>
          <p:cNvPr id="12" name="Text 10"/>
          <p:cNvSpPr/>
          <p:nvPr/>
        </p:nvSpPr>
        <p:spPr>
          <a:xfrm>
            <a:off x="2990088" y="2788920"/>
            <a:ext cx="1865376" cy="457200"/>
          </a:xfrm>
          <a:prstGeom prst="rect">
            <a:avLst/>
          </a:prstGeom>
          <a:noFill/>
          <a:ln/>
        </p:spPr>
        <p:txBody>
          <a:bodyPr wrap="square" rtlCol="0" anchor="ctr"/>
          <a:lstStyle/>
          <a:p>
            <a:pPr marL="0" indent="0" algn="ctr">
              <a:buNone/>
            </a:pPr>
            <a:r>
              <a:rPr lang="en-US" sz="1500" b="1" dirty="0">
                <a:solidFill>
                  <a:srgbClr val="1E2761"/>
                </a:solidFill>
                <a:latin typeface="Cambria" pitchFamily="34" charset="0"/>
                <a:ea typeface="Cambria" pitchFamily="34" charset="-122"/>
                <a:cs typeface="Cambria" pitchFamily="34" charset="-120"/>
              </a:rPr>
              <a:t>Conjunction</a:t>
            </a:r>
            <a:endParaRPr lang="en-US" sz="1500" dirty="0"/>
          </a:p>
        </p:txBody>
      </p:sp>
      <p:sp>
        <p:nvSpPr>
          <p:cNvPr id="13" name="Shape 11"/>
          <p:cNvSpPr/>
          <p:nvPr/>
        </p:nvSpPr>
        <p:spPr>
          <a:xfrm>
            <a:off x="3310128" y="3291840"/>
            <a:ext cx="1225296" cy="0"/>
          </a:xfrm>
          <a:prstGeom prst="line">
            <a:avLst/>
          </a:prstGeom>
          <a:noFill/>
          <a:ln w="12700">
            <a:solidFill>
              <a:srgbClr val="CADCFC"/>
            </a:solidFill>
            <a:prstDash val="solid"/>
          </a:ln>
        </p:spPr>
      </p:sp>
      <p:sp>
        <p:nvSpPr>
          <p:cNvPr id="14" name="Text 12"/>
          <p:cNvSpPr/>
          <p:nvPr/>
        </p:nvSpPr>
        <p:spPr>
          <a:xfrm>
            <a:off x="2990088" y="3474720"/>
            <a:ext cx="1865376" cy="411480"/>
          </a:xfrm>
          <a:prstGeom prst="rect">
            <a:avLst/>
          </a:prstGeom>
          <a:noFill/>
          <a:ln/>
        </p:spPr>
        <p:txBody>
          <a:bodyPr wrap="square" rtlCol="0" anchor="ctr"/>
          <a:lstStyle/>
          <a:p>
            <a:pPr marL="0" indent="0" algn="ctr">
              <a:buNone/>
            </a:pPr>
            <a:r>
              <a:rPr lang="en-US" sz="1700" b="1" dirty="0">
                <a:solidFill>
                  <a:srgbClr val="3B4A8C"/>
                </a:solidFill>
                <a:latin typeface="Calibri" pitchFamily="34" charset="0"/>
                <a:ea typeface="Calibri" pitchFamily="34" charset="-122"/>
                <a:cs typeface="Calibri" pitchFamily="34" charset="-120"/>
              </a:rPr>
              <a:t>p ∧ q</a:t>
            </a:r>
            <a:endParaRPr lang="en-US" sz="1700" dirty="0"/>
          </a:p>
        </p:txBody>
      </p:sp>
      <p:sp>
        <p:nvSpPr>
          <p:cNvPr id="15" name="Text 13"/>
          <p:cNvSpPr/>
          <p:nvPr/>
        </p:nvSpPr>
        <p:spPr>
          <a:xfrm>
            <a:off x="2990088" y="3977640"/>
            <a:ext cx="1865376" cy="640080"/>
          </a:xfrm>
          <a:prstGeom prst="rect">
            <a:avLst/>
          </a:prstGeom>
          <a:noFill/>
          <a:ln/>
        </p:spPr>
        <p:txBody>
          <a:bodyPr wrap="square" rtlCol="0" anchor="ctr"/>
          <a:lstStyle/>
          <a:p>
            <a:pPr marL="0" indent="0" algn="ctr">
              <a:buNone/>
            </a:pPr>
            <a:r>
              <a:rPr lang="en-US" sz="1150" dirty="0">
                <a:solidFill>
                  <a:srgbClr val="6B7590"/>
                </a:solidFill>
                <a:latin typeface="Calibri" pitchFamily="34" charset="0"/>
                <a:ea typeface="Calibri" pitchFamily="34" charset="-122"/>
                <a:cs typeface="Calibri" pitchFamily="34" charset="-120"/>
              </a:rPr>
              <a:t>p AND q</a:t>
            </a:r>
            <a:endParaRPr lang="en-US" sz="1150" dirty="0"/>
          </a:p>
        </p:txBody>
      </p:sp>
      <p:sp>
        <p:nvSpPr>
          <p:cNvPr id="16" name="Shape 14"/>
          <p:cNvSpPr/>
          <p:nvPr/>
        </p:nvSpPr>
        <p:spPr>
          <a:xfrm>
            <a:off x="5157216" y="1417320"/>
            <a:ext cx="2139696" cy="4206240"/>
          </a:xfrm>
          <a:prstGeom prst="roundRect">
            <a:avLst>
              <a:gd name="adj" fmla="val 4274"/>
            </a:avLst>
          </a:prstGeom>
          <a:solidFill>
            <a:srgbClr val="1E2761"/>
          </a:solidFill>
          <a:ln/>
        </p:spPr>
      </p:sp>
      <p:sp>
        <p:nvSpPr>
          <p:cNvPr id="17" name="Text 15"/>
          <p:cNvSpPr/>
          <p:nvPr/>
        </p:nvSpPr>
        <p:spPr>
          <a:xfrm>
            <a:off x="5157216" y="1737360"/>
            <a:ext cx="2139696" cy="914400"/>
          </a:xfrm>
          <a:prstGeom prst="rect">
            <a:avLst/>
          </a:prstGeom>
          <a:noFill/>
          <a:ln/>
        </p:spPr>
        <p:txBody>
          <a:bodyPr wrap="square" rtlCol="0" anchor="ctr"/>
          <a:lstStyle/>
          <a:p>
            <a:pPr marL="0" indent="0" algn="ctr">
              <a:buNone/>
            </a:pPr>
            <a:r>
              <a:rPr lang="en-US" sz="4600" b="1" dirty="0">
                <a:solidFill>
                  <a:srgbClr val="E8A33D"/>
                </a:solidFill>
                <a:latin typeface="Cambria" pitchFamily="34" charset="0"/>
                <a:ea typeface="Cambria" pitchFamily="34" charset="-122"/>
                <a:cs typeface="Cambria" pitchFamily="34" charset="-120"/>
              </a:rPr>
              <a:t>∨</a:t>
            </a:r>
            <a:endParaRPr lang="en-US" sz="4600" dirty="0"/>
          </a:p>
        </p:txBody>
      </p:sp>
      <p:sp>
        <p:nvSpPr>
          <p:cNvPr id="18" name="Text 16"/>
          <p:cNvSpPr/>
          <p:nvPr/>
        </p:nvSpPr>
        <p:spPr>
          <a:xfrm>
            <a:off x="5294376" y="2788920"/>
            <a:ext cx="1865376"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Disjunction</a:t>
            </a:r>
            <a:endParaRPr lang="en-US" sz="1500" dirty="0"/>
          </a:p>
        </p:txBody>
      </p:sp>
      <p:sp>
        <p:nvSpPr>
          <p:cNvPr id="19" name="Shape 17"/>
          <p:cNvSpPr/>
          <p:nvPr/>
        </p:nvSpPr>
        <p:spPr>
          <a:xfrm>
            <a:off x="5614416" y="3291840"/>
            <a:ext cx="1225296" cy="0"/>
          </a:xfrm>
          <a:prstGeom prst="line">
            <a:avLst/>
          </a:prstGeom>
          <a:noFill/>
          <a:ln w="12700">
            <a:solidFill>
              <a:srgbClr val="4C5AA0"/>
            </a:solidFill>
            <a:prstDash val="solid"/>
          </a:ln>
        </p:spPr>
      </p:sp>
      <p:sp>
        <p:nvSpPr>
          <p:cNvPr id="20" name="Text 18"/>
          <p:cNvSpPr/>
          <p:nvPr/>
        </p:nvSpPr>
        <p:spPr>
          <a:xfrm>
            <a:off x="5294376" y="3474720"/>
            <a:ext cx="1865376" cy="411480"/>
          </a:xfrm>
          <a:prstGeom prst="rect">
            <a:avLst/>
          </a:prstGeom>
          <a:noFill/>
          <a:ln/>
        </p:spPr>
        <p:txBody>
          <a:bodyPr wrap="square" rtlCol="0" anchor="ctr"/>
          <a:lstStyle/>
          <a:p>
            <a:pPr marL="0" indent="0" algn="ctr">
              <a:buNone/>
            </a:pPr>
            <a:r>
              <a:rPr lang="en-US" sz="1700" b="1" dirty="0">
                <a:solidFill>
                  <a:srgbClr val="E8A33D"/>
                </a:solidFill>
                <a:latin typeface="Calibri" pitchFamily="34" charset="0"/>
                <a:ea typeface="Calibri" pitchFamily="34" charset="-122"/>
                <a:cs typeface="Calibri" pitchFamily="34" charset="-120"/>
              </a:rPr>
              <a:t>p ∨ q</a:t>
            </a:r>
            <a:endParaRPr lang="en-US" sz="1700" dirty="0"/>
          </a:p>
        </p:txBody>
      </p:sp>
      <p:sp>
        <p:nvSpPr>
          <p:cNvPr id="21" name="Text 19"/>
          <p:cNvSpPr/>
          <p:nvPr/>
        </p:nvSpPr>
        <p:spPr>
          <a:xfrm>
            <a:off x="5294376" y="3977640"/>
            <a:ext cx="1865376" cy="640080"/>
          </a:xfrm>
          <a:prstGeom prst="rect">
            <a:avLst/>
          </a:prstGeom>
          <a:noFill/>
          <a:ln/>
        </p:spPr>
        <p:txBody>
          <a:bodyPr wrap="square" rtlCol="0" anchor="ctr"/>
          <a:lstStyle/>
          <a:p>
            <a:pPr marL="0" indent="0" algn="ctr">
              <a:buNone/>
            </a:pPr>
            <a:r>
              <a:rPr lang="en-US" sz="1150" dirty="0">
                <a:solidFill>
                  <a:srgbClr val="CFD6EE"/>
                </a:solidFill>
                <a:latin typeface="Calibri" pitchFamily="34" charset="0"/>
                <a:ea typeface="Calibri" pitchFamily="34" charset="-122"/>
                <a:cs typeface="Calibri" pitchFamily="34" charset="-120"/>
              </a:rPr>
              <a:t>p OR q</a:t>
            </a:r>
            <a:endParaRPr lang="en-US" sz="1150" dirty="0"/>
          </a:p>
        </p:txBody>
      </p:sp>
      <p:sp>
        <p:nvSpPr>
          <p:cNvPr id="22" name="Shape 20"/>
          <p:cNvSpPr/>
          <p:nvPr/>
        </p:nvSpPr>
        <p:spPr>
          <a:xfrm>
            <a:off x="7461504" y="1417320"/>
            <a:ext cx="2139696" cy="4206240"/>
          </a:xfrm>
          <a:prstGeom prst="roundRect">
            <a:avLst>
              <a:gd name="adj" fmla="val 4274"/>
            </a:avLst>
          </a:prstGeom>
          <a:solidFill>
            <a:srgbClr val="FFFFFF"/>
          </a:solidFill>
          <a:ln/>
        </p:spPr>
      </p:sp>
      <p:sp>
        <p:nvSpPr>
          <p:cNvPr id="23" name="Text 21"/>
          <p:cNvSpPr/>
          <p:nvPr/>
        </p:nvSpPr>
        <p:spPr>
          <a:xfrm>
            <a:off x="7461504" y="1737360"/>
            <a:ext cx="2139696" cy="914400"/>
          </a:xfrm>
          <a:prstGeom prst="rect">
            <a:avLst/>
          </a:prstGeom>
          <a:noFill/>
          <a:ln/>
        </p:spPr>
        <p:txBody>
          <a:bodyPr wrap="square" rtlCol="0" anchor="ctr"/>
          <a:lstStyle/>
          <a:p>
            <a:pPr marL="0" indent="0" algn="ctr">
              <a:buNone/>
            </a:pPr>
            <a:r>
              <a:rPr lang="en-US" sz="4600" b="1" dirty="0">
                <a:solidFill>
                  <a:srgbClr val="1E2761"/>
                </a:solidFill>
                <a:latin typeface="Cambria" pitchFamily="34" charset="0"/>
                <a:ea typeface="Cambria" pitchFamily="34" charset="-122"/>
                <a:cs typeface="Cambria" pitchFamily="34" charset="-120"/>
              </a:rPr>
              <a:t>→</a:t>
            </a:r>
            <a:endParaRPr lang="en-US" sz="4600" dirty="0"/>
          </a:p>
        </p:txBody>
      </p:sp>
      <p:sp>
        <p:nvSpPr>
          <p:cNvPr id="24" name="Text 22"/>
          <p:cNvSpPr/>
          <p:nvPr/>
        </p:nvSpPr>
        <p:spPr>
          <a:xfrm>
            <a:off x="7598664" y="2788920"/>
            <a:ext cx="1865376" cy="457200"/>
          </a:xfrm>
          <a:prstGeom prst="rect">
            <a:avLst/>
          </a:prstGeom>
          <a:noFill/>
          <a:ln/>
        </p:spPr>
        <p:txBody>
          <a:bodyPr wrap="square" rtlCol="0" anchor="ctr"/>
          <a:lstStyle/>
          <a:p>
            <a:pPr marL="0" indent="0" algn="ctr">
              <a:buNone/>
            </a:pPr>
            <a:r>
              <a:rPr lang="en-US" sz="1500" b="1" dirty="0">
                <a:solidFill>
                  <a:srgbClr val="1E2761"/>
                </a:solidFill>
                <a:latin typeface="Cambria" pitchFamily="34" charset="0"/>
                <a:ea typeface="Cambria" pitchFamily="34" charset="-122"/>
                <a:cs typeface="Cambria" pitchFamily="34" charset="-120"/>
              </a:rPr>
              <a:t>Conditional</a:t>
            </a:r>
            <a:endParaRPr lang="en-US" sz="1500" dirty="0"/>
          </a:p>
        </p:txBody>
      </p:sp>
      <p:sp>
        <p:nvSpPr>
          <p:cNvPr id="25" name="Shape 23"/>
          <p:cNvSpPr/>
          <p:nvPr/>
        </p:nvSpPr>
        <p:spPr>
          <a:xfrm>
            <a:off x="7918704" y="3291840"/>
            <a:ext cx="1225296" cy="0"/>
          </a:xfrm>
          <a:prstGeom prst="line">
            <a:avLst/>
          </a:prstGeom>
          <a:noFill/>
          <a:ln w="12700">
            <a:solidFill>
              <a:srgbClr val="CADCFC"/>
            </a:solidFill>
            <a:prstDash val="solid"/>
          </a:ln>
        </p:spPr>
      </p:sp>
      <p:sp>
        <p:nvSpPr>
          <p:cNvPr id="26" name="Text 24"/>
          <p:cNvSpPr/>
          <p:nvPr/>
        </p:nvSpPr>
        <p:spPr>
          <a:xfrm>
            <a:off x="7598664" y="3474720"/>
            <a:ext cx="1865376" cy="411480"/>
          </a:xfrm>
          <a:prstGeom prst="rect">
            <a:avLst/>
          </a:prstGeom>
          <a:noFill/>
          <a:ln/>
        </p:spPr>
        <p:txBody>
          <a:bodyPr wrap="square" rtlCol="0" anchor="ctr"/>
          <a:lstStyle/>
          <a:p>
            <a:pPr marL="0" indent="0" algn="ctr">
              <a:buNone/>
            </a:pPr>
            <a:r>
              <a:rPr lang="en-US" sz="1700" b="1" dirty="0">
                <a:solidFill>
                  <a:srgbClr val="3B4A8C"/>
                </a:solidFill>
                <a:latin typeface="Calibri" pitchFamily="34" charset="0"/>
                <a:ea typeface="Calibri" pitchFamily="34" charset="-122"/>
                <a:cs typeface="Calibri" pitchFamily="34" charset="-120"/>
              </a:rPr>
              <a:t>p → q</a:t>
            </a:r>
            <a:endParaRPr lang="en-US" sz="1700" dirty="0"/>
          </a:p>
        </p:txBody>
      </p:sp>
      <p:sp>
        <p:nvSpPr>
          <p:cNvPr id="27" name="Text 25"/>
          <p:cNvSpPr/>
          <p:nvPr/>
        </p:nvSpPr>
        <p:spPr>
          <a:xfrm>
            <a:off x="7598664" y="3977640"/>
            <a:ext cx="1865376" cy="640080"/>
          </a:xfrm>
          <a:prstGeom prst="rect">
            <a:avLst/>
          </a:prstGeom>
          <a:noFill/>
          <a:ln/>
        </p:spPr>
        <p:txBody>
          <a:bodyPr wrap="square" rtlCol="0" anchor="ctr"/>
          <a:lstStyle/>
          <a:p>
            <a:pPr marL="0" indent="0" algn="ctr">
              <a:buNone/>
            </a:pPr>
            <a:r>
              <a:rPr lang="en-US" sz="1150" dirty="0">
                <a:solidFill>
                  <a:srgbClr val="6B7590"/>
                </a:solidFill>
                <a:latin typeface="Calibri" pitchFamily="34" charset="0"/>
                <a:ea typeface="Calibri" pitchFamily="34" charset="-122"/>
                <a:cs typeface="Calibri" pitchFamily="34" charset="-120"/>
              </a:rPr>
              <a:t>IF p THEN q</a:t>
            </a:r>
            <a:endParaRPr lang="en-US" sz="1150" dirty="0"/>
          </a:p>
        </p:txBody>
      </p:sp>
      <p:sp>
        <p:nvSpPr>
          <p:cNvPr id="28" name="Shape 26"/>
          <p:cNvSpPr/>
          <p:nvPr/>
        </p:nvSpPr>
        <p:spPr>
          <a:xfrm>
            <a:off x="9765792" y="1417320"/>
            <a:ext cx="2139696" cy="4206240"/>
          </a:xfrm>
          <a:prstGeom prst="roundRect">
            <a:avLst>
              <a:gd name="adj" fmla="val 4274"/>
            </a:avLst>
          </a:prstGeom>
          <a:solidFill>
            <a:srgbClr val="FFFFFF"/>
          </a:solidFill>
          <a:ln/>
        </p:spPr>
      </p:sp>
      <p:sp>
        <p:nvSpPr>
          <p:cNvPr id="29" name="Text 27"/>
          <p:cNvSpPr/>
          <p:nvPr/>
        </p:nvSpPr>
        <p:spPr>
          <a:xfrm>
            <a:off x="9765792" y="1737360"/>
            <a:ext cx="2139696" cy="914400"/>
          </a:xfrm>
          <a:prstGeom prst="rect">
            <a:avLst/>
          </a:prstGeom>
          <a:noFill/>
          <a:ln/>
        </p:spPr>
        <p:txBody>
          <a:bodyPr wrap="square" rtlCol="0" anchor="ctr"/>
          <a:lstStyle/>
          <a:p>
            <a:pPr marL="0" indent="0" algn="ctr">
              <a:buNone/>
            </a:pPr>
            <a:r>
              <a:rPr lang="en-US" sz="4600" b="1" dirty="0">
                <a:solidFill>
                  <a:srgbClr val="1E2761"/>
                </a:solidFill>
                <a:latin typeface="Cambria" pitchFamily="34" charset="0"/>
                <a:ea typeface="Cambria" pitchFamily="34" charset="-122"/>
                <a:cs typeface="Cambria" pitchFamily="34" charset="-120"/>
              </a:rPr>
              <a:t>↔</a:t>
            </a:r>
            <a:endParaRPr lang="en-US" sz="4600" dirty="0"/>
          </a:p>
        </p:txBody>
      </p:sp>
      <p:sp>
        <p:nvSpPr>
          <p:cNvPr id="30" name="Text 28"/>
          <p:cNvSpPr/>
          <p:nvPr/>
        </p:nvSpPr>
        <p:spPr>
          <a:xfrm>
            <a:off x="9902952" y="2788920"/>
            <a:ext cx="1865376" cy="457200"/>
          </a:xfrm>
          <a:prstGeom prst="rect">
            <a:avLst/>
          </a:prstGeom>
          <a:noFill/>
          <a:ln/>
        </p:spPr>
        <p:txBody>
          <a:bodyPr wrap="square" rtlCol="0" anchor="ctr"/>
          <a:lstStyle/>
          <a:p>
            <a:pPr marL="0" indent="0" algn="ctr">
              <a:buNone/>
            </a:pPr>
            <a:r>
              <a:rPr lang="en-US" sz="1500" b="1" dirty="0">
                <a:solidFill>
                  <a:srgbClr val="1E2761"/>
                </a:solidFill>
                <a:latin typeface="Cambria" pitchFamily="34" charset="0"/>
                <a:ea typeface="Cambria" pitchFamily="34" charset="-122"/>
                <a:cs typeface="Cambria" pitchFamily="34" charset="-120"/>
              </a:rPr>
              <a:t>Biconditional</a:t>
            </a:r>
            <a:endParaRPr lang="en-US" sz="1500" dirty="0"/>
          </a:p>
        </p:txBody>
      </p:sp>
      <p:sp>
        <p:nvSpPr>
          <p:cNvPr id="31" name="Shape 29"/>
          <p:cNvSpPr/>
          <p:nvPr/>
        </p:nvSpPr>
        <p:spPr>
          <a:xfrm>
            <a:off x="10222992" y="3291840"/>
            <a:ext cx="1225296" cy="0"/>
          </a:xfrm>
          <a:prstGeom prst="line">
            <a:avLst/>
          </a:prstGeom>
          <a:noFill/>
          <a:ln w="12700">
            <a:solidFill>
              <a:srgbClr val="CADCFC"/>
            </a:solidFill>
            <a:prstDash val="solid"/>
          </a:ln>
        </p:spPr>
      </p:sp>
      <p:sp>
        <p:nvSpPr>
          <p:cNvPr id="32" name="Text 30"/>
          <p:cNvSpPr/>
          <p:nvPr/>
        </p:nvSpPr>
        <p:spPr>
          <a:xfrm>
            <a:off x="9902952" y="3474720"/>
            <a:ext cx="1865376" cy="411480"/>
          </a:xfrm>
          <a:prstGeom prst="rect">
            <a:avLst/>
          </a:prstGeom>
          <a:noFill/>
          <a:ln/>
        </p:spPr>
        <p:txBody>
          <a:bodyPr wrap="square" rtlCol="0" anchor="ctr"/>
          <a:lstStyle/>
          <a:p>
            <a:pPr marL="0" indent="0" algn="ctr">
              <a:buNone/>
            </a:pPr>
            <a:r>
              <a:rPr lang="en-US" sz="1700" b="1" dirty="0">
                <a:solidFill>
                  <a:srgbClr val="3B4A8C"/>
                </a:solidFill>
                <a:latin typeface="Calibri" pitchFamily="34" charset="0"/>
                <a:ea typeface="Calibri" pitchFamily="34" charset="-122"/>
                <a:cs typeface="Calibri" pitchFamily="34" charset="-120"/>
              </a:rPr>
              <a:t>p ↔ q</a:t>
            </a:r>
            <a:endParaRPr lang="en-US" sz="1700" dirty="0"/>
          </a:p>
        </p:txBody>
      </p:sp>
      <p:sp>
        <p:nvSpPr>
          <p:cNvPr id="33" name="Text 31"/>
          <p:cNvSpPr/>
          <p:nvPr/>
        </p:nvSpPr>
        <p:spPr>
          <a:xfrm>
            <a:off x="9902952" y="3977640"/>
            <a:ext cx="1865376" cy="640080"/>
          </a:xfrm>
          <a:prstGeom prst="rect">
            <a:avLst/>
          </a:prstGeom>
          <a:noFill/>
          <a:ln/>
        </p:spPr>
        <p:txBody>
          <a:bodyPr wrap="square" rtlCol="0" anchor="ctr"/>
          <a:lstStyle/>
          <a:p>
            <a:pPr marL="0" indent="0" algn="ctr">
              <a:buNone/>
            </a:pPr>
            <a:r>
              <a:rPr lang="en-US" sz="1150" dirty="0">
                <a:solidFill>
                  <a:srgbClr val="6B7590"/>
                </a:solidFill>
                <a:latin typeface="Calibri" pitchFamily="34" charset="0"/>
                <a:ea typeface="Calibri" pitchFamily="34" charset="-122"/>
                <a:cs typeface="Calibri" pitchFamily="34" charset="-120"/>
              </a:rPr>
              <a:t>p IF AND ONLY IF q</a:t>
            </a:r>
            <a:endParaRPr lang="en-US" sz="1150" dirty="0"/>
          </a:p>
        </p:txBody>
      </p:sp>
      <p:sp>
        <p:nvSpPr>
          <p:cNvPr id="34" name="Text 32"/>
          <p:cNvSpPr/>
          <p:nvPr/>
        </p:nvSpPr>
        <p:spPr>
          <a:xfrm>
            <a:off x="548640" y="5806440"/>
            <a:ext cx="10515600" cy="365760"/>
          </a:xfrm>
          <a:prstGeom prst="rect">
            <a:avLst/>
          </a:prstGeom>
          <a:noFill/>
          <a:ln/>
        </p:spPr>
        <p:txBody>
          <a:bodyPr wrap="square" rtlCol="0" anchor="ctr"/>
          <a:lstStyle/>
          <a:p>
            <a:pPr marL="0" indent="0">
              <a:buNone/>
            </a:pPr>
            <a:r>
              <a:rPr lang="en-US" sz="1200" i="1" dirty="0">
                <a:solidFill>
                  <a:srgbClr val="6B7590"/>
                </a:solidFill>
                <a:latin typeface="Calibri" pitchFamily="34" charset="0"/>
                <a:ea typeface="Calibri" pitchFamily="34" charset="-122"/>
                <a:cs typeface="Calibri" pitchFamily="34" charset="-120"/>
              </a:rPr>
              <a:t>A statement built from propositions joined by connectives is a compound proposition.</a:t>
            </a:r>
            <a:endParaRPr lang="en-US" sz="1200" dirty="0"/>
          </a:p>
        </p:txBody>
      </p:sp>
      <p:sp>
        <p:nvSpPr>
          <p:cNvPr id="35" name="Text 33"/>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590"/>
                </a:solidFill>
                <a:latin typeface="Calibri" pitchFamily="34" charset="0"/>
                <a:ea typeface="Calibri" pitchFamily="34" charset="-122"/>
                <a:cs typeface="Calibri" pitchFamily="34" charset="-120"/>
              </a:rPr>
              <a:t>Propositional Logic  |  Rosen, Discrete Mathematics 8e</a:t>
            </a:r>
            <a:endParaRPr lang="en-US" sz="900" dirty="0"/>
          </a:p>
        </p:txBody>
      </p:sp>
      <p:sp>
        <p:nvSpPr>
          <p:cNvPr id="36" name="Text 34"/>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B759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Truth Tables for the Connectives</a:t>
            </a:r>
            <a:endParaRPr lang="en-US" sz="3000" dirty="0"/>
          </a:p>
        </p:txBody>
      </p:sp>
      <p:sp>
        <p:nvSpPr>
          <p:cNvPr id="3" name="Shape 1"/>
          <p:cNvSpPr/>
          <p:nvPr/>
        </p:nvSpPr>
        <p:spPr>
          <a:xfrm>
            <a:off x="548640" y="1051560"/>
            <a:ext cx="1005840" cy="54864"/>
          </a:xfrm>
          <a:prstGeom prst="rect">
            <a:avLst/>
          </a:prstGeom>
          <a:solidFill>
            <a:srgbClr val="E8A33D"/>
          </a:solidFill>
          <a:ln/>
        </p:spPr>
      </p:sp>
      <p:sp>
        <p:nvSpPr>
          <p:cNvPr id="4" name="Text 2"/>
          <p:cNvSpPr/>
          <p:nvPr/>
        </p:nvSpPr>
        <p:spPr>
          <a:xfrm>
            <a:off x="548640" y="1463040"/>
            <a:ext cx="265176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Negation</a:t>
            </a:r>
            <a:endParaRPr lang="en-US" sz="1200" dirty="0"/>
          </a:p>
        </p:txBody>
      </p:sp>
      <p:sp>
        <p:nvSpPr>
          <p:cNvPr id="5" name="Shape 3"/>
          <p:cNvSpPr/>
          <p:nvPr/>
        </p:nvSpPr>
        <p:spPr>
          <a:xfrm>
            <a:off x="548640" y="1828800"/>
            <a:ext cx="1325880" cy="384048"/>
          </a:xfrm>
          <a:prstGeom prst="rect">
            <a:avLst/>
          </a:prstGeom>
          <a:solidFill>
            <a:srgbClr val="1E2761"/>
          </a:solidFill>
          <a:ln w="9525">
            <a:solidFill>
              <a:srgbClr val="FFFFFF"/>
            </a:solidFill>
            <a:prstDash val="solid"/>
          </a:ln>
        </p:spPr>
      </p:sp>
      <p:sp>
        <p:nvSpPr>
          <p:cNvPr id="6" name="Text 4"/>
          <p:cNvSpPr/>
          <p:nvPr/>
        </p:nvSpPr>
        <p:spPr>
          <a:xfrm>
            <a:off x="548640" y="1828800"/>
            <a:ext cx="132588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
            </a:r>
            <a:endParaRPr lang="en-US" sz="1200" dirty="0"/>
          </a:p>
        </p:txBody>
      </p:sp>
      <p:sp>
        <p:nvSpPr>
          <p:cNvPr id="7" name="Shape 5"/>
          <p:cNvSpPr/>
          <p:nvPr/>
        </p:nvSpPr>
        <p:spPr>
          <a:xfrm>
            <a:off x="1874520" y="1828800"/>
            <a:ext cx="1325880" cy="384048"/>
          </a:xfrm>
          <a:prstGeom prst="rect">
            <a:avLst/>
          </a:prstGeom>
          <a:solidFill>
            <a:srgbClr val="1E2761"/>
          </a:solidFill>
          <a:ln w="9525">
            <a:solidFill>
              <a:srgbClr val="FFFFFF"/>
            </a:solidFill>
            <a:prstDash val="solid"/>
          </a:ln>
        </p:spPr>
      </p:sp>
      <p:sp>
        <p:nvSpPr>
          <p:cNvPr id="8" name="Text 6"/>
          <p:cNvSpPr/>
          <p:nvPr/>
        </p:nvSpPr>
        <p:spPr>
          <a:xfrm>
            <a:off x="1874520" y="1828800"/>
            <a:ext cx="132588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
            </a:r>
            <a:endParaRPr lang="en-US" sz="1200" dirty="0"/>
          </a:p>
        </p:txBody>
      </p:sp>
      <p:sp>
        <p:nvSpPr>
          <p:cNvPr id="9" name="Shape 7"/>
          <p:cNvSpPr/>
          <p:nvPr/>
        </p:nvSpPr>
        <p:spPr>
          <a:xfrm>
            <a:off x="548640" y="2212848"/>
            <a:ext cx="1325880" cy="384048"/>
          </a:xfrm>
          <a:prstGeom prst="rect">
            <a:avLst/>
          </a:prstGeom>
          <a:solidFill>
            <a:srgbClr val="EEF2FB"/>
          </a:solidFill>
          <a:ln w="9525">
            <a:solidFill>
              <a:srgbClr val="CADCFC"/>
            </a:solidFill>
            <a:prstDash val="solid"/>
          </a:ln>
        </p:spPr>
      </p:sp>
      <p:sp>
        <p:nvSpPr>
          <p:cNvPr id="10" name="Text 8"/>
          <p:cNvSpPr/>
          <p:nvPr/>
        </p:nvSpPr>
        <p:spPr>
          <a:xfrm>
            <a:off x="548640" y="2212848"/>
            <a:ext cx="132588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11" name="Shape 9"/>
          <p:cNvSpPr/>
          <p:nvPr/>
        </p:nvSpPr>
        <p:spPr>
          <a:xfrm>
            <a:off x="1874520" y="2212848"/>
            <a:ext cx="1325880" cy="384048"/>
          </a:xfrm>
          <a:prstGeom prst="rect">
            <a:avLst/>
          </a:prstGeom>
          <a:solidFill>
            <a:srgbClr val="EEF2FB"/>
          </a:solidFill>
          <a:ln w="9525">
            <a:solidFill>
              <a:srgbClr val="CADCFC"/>
            </a:solidFill>
            <a:prstDash val="solid"/>
          </a:ln>
        </p:spPr>
      </p:sp>
      <p:sp>
        <p:nvSpPr>
          <p:cNvPr id="12" name="Text 10"/>
          <p:cNvSpPr/>
          <p:nvPr/>
        </p:nvSpPr>
        <p:spPr>
          <a:xfrm>
            <a:off x="1874520" y="2212848"/>
            <a:ext cx="132588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13" name="Shape 11"/>
          <p:cNvSpPr/>
          <p:nvPr/>
        </p:nvSpPr>
        <p:spPr>
          <a:xfrm>
            <a:off x="548640" y="2596896"/>
            <a:ext cx="1325880" cy="384048"/>
          </a:xfrm>
          <a:prstGeom prst="rect">
            <a:avLst/>
          </a:prstGeom>
          <a:solidFill>
            <a:srgbClr val="FFFFFF"/>
          </a:solidFill>
          <a:ln w="9525">
            <a:solidFill>
              <a:srgbClr val="CADCFC"/>
            </a:solidFill>
            <a:prstDash val="solid"/>
          </a:ln>
        </p:spPr>
      </p:sp>
      <p:sp>
        <p:nvSpPr>
          <p:cNvPr id="14" name="Text 12"/>
          <p:cNvSpPr/>
          <p:nvPr/>
        </p:nvSpPr>
        <p:spPr>
          <a:xfrm>
            <a:off x="548640" y="2596896"/>
            <a:ext cx="132588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15" name="Shape 13"/>
          <p:cNvSpPr/>
          <p:nvPr/>
        </p:nvSpPr>
        <p:spPr>
          <a:xfrm>
            <a:off x="1874520" y="2596896"/>
            <a:ext cx="1325880" cy="384048"/>
          </a:xfrm>
          <a:prstGeom prst="rect">
            <a:avLst/>
          </a:prstGeom>
          <a:solidFill>
            <a:srgbClr val="FFFFFF"/>
          </a:solidFill>
          <a:ln w="9525">
            <a:solidFill>
              <a:srgbClr val="CADCFC"/>
            </a:solidFill>
            <a:prstDash val="solid"/>
          </a:ln>
        </p:spPr>
      </p:sp>
      <p:sp>
        <p:nvSpPr>
          <p:cNvPr id="16" name="Text 14"/>
          <p:cNvSpPr/>
          <p:nvPr/>
        </p:nvSpPr>
        <p:spPr>
          <a:xfrm>
            <a:off x="1874520" y="2596896"/>
            <a:ext cx="132588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17" name="Text 15"/>
          <p:cNvSpPr/>
          <p:nvPr/>
        </p:nvSpPr>
        <p:spPr>
          <a:xfrm>
            <a:off x="3566160" y="1463040"/>
            <a:ext cx="329184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Conjunction / Disjunction</a:t>
            </a:r>
            <a:endParaRPr lang="en-US" sz="1200" dirty="0"/>
          </a:p>
        </p:txBody>
      </p:sp>
      <p:sp>
        <p:nvSpPr>
          <p:cNvPr id="18" name="Shape 16"/>
          <p:cNvSpPr/>
          <p:nvPr/>
        </p:nvSpPr>
        <p:spPr>
          <a:xfrm>
            <a:off x="3566160" y="1828800"/>
            <a:ext cx="822960" cy="384048"/>
          </a:xfrm>
          <a:prstGeom prst="rect">
            <a:avLst/>
          </a:prstGeom>
          <a:solidFill>
            <a:srgbClr val="1E2761"/>
          </a:solidFill>
          <a:ln w="9525">
            <a:solidFill>
              <a:srgbClr val="FFFFFF"/>
            </a:solidFill>
            <a:prstDash val="solid"/>
          </a:ln>
        </p:spPr>
      </p:sp>
      <p:sp>
        <p:nvSpPr>
          <p:cNvPr id="19" name="Text 17"/>
          <p:cNvSpPr/>
          <p:nvPr/>
        </p:nvSpPr>
        <p:spPr>
          <a:xfrm>
            <a:off x="3566160" y="1828800"/>
            <a:ext cx="8229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
            </a:r>
            <a:endParaRPr lang="en-US" sz="1200" dirty="0"/>
          </a:p>
        </p:txBody>
      </p:sp>
      <p:sp>
        <p:nvSpPr>
          <p:cNvPr id="20" name="Shape 18"/>
          <p:cNvSpPr/>
          <p:nvPr/>
        </p:nvSpPr>
        <p:spPr>
          <a:xfrm>
            <a:off x="4389120" y="1828800"/>
            <a:ext cx="822960" cy="384048"/>
          </a:xfrm>
          <a:prstGeom prst="rect">
            <a:avLst/>
          </a:prstGeom>
          <a:solidFill>
            <a:srgbClr val="1E2761"/>
          </a:solidFill>
          <a:ln w="9525">
            <a:solidFill>
              <a:srgbClr val="FFFFFF"/>
            </a:solidFill>
            <a:prstDash val="solid"/>
          </a:ln>
        </p:spPr>
      </p:sp>
      <p:sp>
        <p:nvSpPr>
          <p:cNvPr id="21" name="Text 19"/>
          <p:cNvSpPr/>
          <p:nvPr/>
        </p:nvSpPr>
        <p:spPr>
          <a:xfrm>
            <a:off x="4389120" y="1828800"/>
            <a:ext cx="8229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22" name="Shape 20"/>
          <p:cNvSpPr/>
          <p:nvPr/>
        </p:nvSpPr>
        <p:spPr>
          <a:xfrm>
            <a:off x="5212080" y="1828800"/>
            <a:ext cx="822960" cy="384048"/>
          </a:xfrm>
          <a:prstGeom prst="rect">
            <a:avLst/>
          </a:prstGeom>
          <a:solidFill>
            <a:srgbClr val="1E2761"/>
          </a:solidFill>
          <a:ln w="9525">
            <a:solidFill>
              <a:srgbClr val="FFFFFF"/>
            </a:solidFill>
            <a:prstDash val="solid"/>
          </a:ln>
        </p:spPr>
      </p:sp>
      <p:sp>
        <p:nvSpPr>
          <p:cNvPr id="23" name="Text 21"/>
          <p:cNvSpPr/>
          <p:nvPr/>
        </p:nvSpPr>
        <p:spPr>
          <a:xfrm>
            <a:off x="5212080" y="1828800"/>
            <a:ext cx="8229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p∧q</a:t>
            </a:r>
            <a:endParaRPr lang="en-US" sz="1200" dirty="0"/>
          </a:p>
        </p:txBody>
      </p:sp>
      <p:sp>
        <p:nvSpPr>
          <p:cNvPr id="24" name="Shape 22"/>
          <p:cNvSpPr/>
          <p:nvPr/>
        </p:nvSpPr>
        <p:spPr>
          <a:xfrm>
            <a:off x="6035040" y="1828800"/>
            <a:ext cx="822960" cy="384048"/>
          </a:xfrm>
          <a:prstGeom prst="rect">
            <a:avLst/>
          </a:prstGeom>
          <a:solidFill>
            <a:srgbClr val="1E2761"/>
          </a:solidFill>
          <a:ln w="9525">
            <a:solidFill>
              <a:srgbClr val="FFFFFF"/>
            </a:solidFill>
            <a:prstDash val="solid"/>
          </a:ln>
        </p:spPr>
      </p:sp>
      <p:sp>
        <p:nvSpPr>
          <p:cNvPr id="25" name="Text 23"/>
          <p:cNvSpPr/>
          <p:nvPr/>
        </p:nvSpPr>
        <p:spPr>
          <a:xfrm>
            <a:off x="6035040" y="1828800"/>
            <a:ext cx="8229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p∨q</a:t>
            </a:r>
            <a:endParaRPr lang="en-US" sz="1200" dirty="0"/>
          </a:p>
        </p:txBody>
      </p:sp>
      <p:sp>
        <p:nvSpPr>
          <p:cNvPr id="26" name="Shape 24"/>
          <p:cNvSpPr/>
          <p:nvPr/>
        </p:nvSpPr>
        <p:spPr>
          <a:xfrm>
            <a:off x="3566160" y="2212848"/>
            <a:ext cx="822960" cy="384048"/>
          </a:xfrm>
          <a:prstGeom prst="rect">
            <a:avLst/>
          </a:prstGeom>
          <a:solidFill>
            <a:srgbClr val="EEF2FB"/>
          </a:solidFill>
          <a:ln w="9525">
            <a:solidFill>
              <a:srgbClr val="CADCFC"/>
            </a:solidFill>
            <a:prstDash val="solid"/>
          </a:ln>
        </p:spPr>
      </p:sp>
      <p:sp>
        <p:nvSpPr>
          <p:cNvPr id="27" name="Text 25"/>
          <p:cNvSpPr/>
          <p:nvPr/>
        </p:nvSpPr>
        <p:spPr>
          <a:xfrm>
            <a:off x="3566160" y="2212848"/>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28" name="Shape 26"/>
          <p:cNvSpPr/>
          <p:nvPr/>
        </p:nvSpPr>
        <p:spPr>
          <a:xfrm>
            <a:off x="4389120" y="2212848"/>
            <a:ext cx="822960" cy="384048"/>
          </a:xfrm>
          <a:prstGeom prst="rect">
            <a:avLst/>
          </a:prstGeom>
          <a:solidFill>
            <a:srgbClr val="EEF2FB"/>
          </a:solidFill>
          <a:ln w="9525">
            <a:solidFill>
              <a:srgbClr val="CADCFC"/>
            </a:solidFill>
            <a:prstDash val="solid"/>
          </a:ln>
        </p:spPr>
      </p:sp>
      <p:sp>
        <p:nvSpPr>
          <p:cNvPr id="29" name="Text 27"/>
          <p:cNvSpPr/>
          <p:nvPr/>
        </p:nvSpPr>
        <p:spPr>
          <a:xfrm>
            <a:off x="4389120" y="2212848"/>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30" name="Shape 28"/>
          <p:cNvSpPr/>
          <p:nvPr/>
        </p:nvSpPr>
        <p:spPr>
          <a:xfrm>
            <a:off x="5212080" y="2212848"/>
            <a:ext cx="822960" cy="384048"/>
          </a:xfrm>
          <a:prstGeom prst="rect">
            <a:avLst/>
          </a:prstGeom>
          <a:solidFill>
            <a:srgbClr val="EEF2FB"/>
          </a:solidFill>
          <a:ln w="9525">
            <a:solidFill>
              <a:srgbClr val="CADCFC"/>
            </a:solidFill>
            <a:prstDash val="solid"/>
          </a:ln>
        </p:spPr>
      </p:sp>
      <p:sp>
        <p:nvSpPr>
          <p:cNvPr id="31" name="Text 29"/>
          <p:cNvSpPr/>
          <p:nvPr/>
        </p:nvSpPr>
        <p:spPr>
          <a:xfrm>
            <a:off x="5212080" y="2212848"/>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32" name="Shape 30"/>
          <p:cNvSpPr/>
          <p:nvPr/>
        </p:nvSpPr>
        <p:spPr>
          <a:xfrm>
            <a:off x="6035040" y="2212848"/>
            <a:ext cx="822960" cy="384048"/>
          </a:xfrm>
          <a:prstGeom prst="rect">
            <a:avLst/>
          </a:prstGeom>
          <a:solidFill>
            <a:srgbClr val="EEF2FB"/>
          </a:solidFill>
          <a:ln w="9525">
            <a:solidFill>
              <a:srgbClr val="CADCFC"/>
            </a:solidFill>
            <a:prstDash val="solid"/>
          </a:ln>
        </p:spPr>
      </p:sp>
      <p:sp>
        <p:nvSpPr>
          <p:cNvPr id="33" name="Text 31"/>
          <p:cNvSpPr/>
          <p:nvPr/>
        </p:nvSpPr>
        <p:spPr>
          <a:xfrm>
            <a:off x="6035040" y="2212848"/>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34" name="Shape 32"/>
          <p:cNvSpPr/>
          <p:nvPr/>
        </p:nvSpPr>
        <p:spPr>
          <a:xfrm>
            <a:off x="3566160" y="2596896"/>
            <a:ext cx="822960" cy="384048"/>
          </a:xfrm>
          <a:prstGeom prst="rect">
            <a:avLst/>
          </a:prstGeom>
          <a:solidFill>
            <a:srgbClr val="FFFFFF"/>
          </a:solidFill>
          <a:ln w="9525">
            <a:solidFill>
              <a:srgbClr val="CADCFC"/>
            </a:solidFill>
            <a:prstDash val="solid"/>
          </a:ln>
        </p:spPr>
      </p:sp>
      <p:sp>
        <p:nvSpPr>
          <p:cNvPr id="35" name="Text 33"/>
          <p:cNvSpPr/>
          <p:nvPr/>
        </p:nvSpPr>
        <p:spPr>
          <a:xfrm>
            <a:off x="3566160" y="2596896"/>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36" name="Shape 34"/>
          <p:cNvSpPr/>
          <p:nvPr/>
        </p:nvSpPr>
        <p:spPr>
          <a:xfrm>
            <a:off x="4389120" y="2596896"/>
            <a:ext cx="822960" cy="384048"/>
          </a:xfrm>
          <a:prstGeom prst="rect">
            <a:avLst/>
          </a:prstGeom>
          <a:solidFill>
            <a:srgbClr val="FFFFFF"/>
          </a:solidFill>
          <a:ln w="9525">
            <a:solidFill>
              <a:srgbClr val="CADCFC"/>
            </a:solidFill>
            <a:prstDash val="solid"/>
          </a:ln>
        </p:spPr>
      </p:sp>
      <p:sp>
        <p:nvSpPr>
          <p:cNvPr id="37" name="Text 35"/>
          <p:cNvSpPr/>
          <p:nvPr/>
        </p:nvSpPr>
        <p:spPr>
          <a:xfrm>
            <a:off x="4389120" y="2596896"/>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38" name="Shape 36"/>
          <p:cNvSpPr/>
          <p:nvPr/>
        </p:nvSpPr>
        <p:spPr>
          <a:xfrm>
            <a:off x="5212080" y="2596896"/>
            <a:ext cx="822960" cy="384048"/>
          </a:xfrm>
          <a:prstGeom prst="rect">
            <a:avLst/>
          </a:prstGeom>
          <a:solidFill>
            <a:srgbClr val="FFFFFF"/>
          </a:solidFill>
          <a:ln w="9525">
            <a:solidFill>
              <a:srgbClr val="CADCFC"/>
            </a:solidFill>
            <a:prstDash val="solid"/>
          </a:ln>
        </p:spPr>
      </p:sp>
      <p:sp>
        <p:nvSpPr>
          <p:cNvPr id="39" name="Text 37"/>
          <p:cNvSpPr/>
          <p:nvPr/>
        </p:nvSpPr>
        <p:spPr>
          <a:xfrm>
            <a:off x="5212080" y="2596896"/>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40" name="Shape 38"/>
          <p:cNvSpPr/>
          <p:nvPr/>
        </p:nvSpPr>
        <p:spPr>
          <a:xfrm>
            <a:off x="6035040" y="2596896"/>
            <a:ext cx="822960" cy="384048"/>
          </a:xfrm>
          <a:prstGeom prst="rect">
            <a:avLst/>
          </a:prstGeom>
          <a:solidFill>
            <a:srgbClr val="FFFFFF"/>
          </a:solidFill>
          <a:ln w="9525">
            <a:solidFill>
              <a:srgbClr val="CADCFC"/>
            </a:solidFill>
            <a:prstDash val="solid"/>
          </a:ln>
        </p:spPr>
      </p:sp>
      <p:sp>
        <p:nvSpPr>
          <p:cNvPr id="41" name="Text 39"/>
          <p:cNvSpPr/>
          <p:nvPr/>
        </p:nvSpPr>
        <p:spPr>
          <a:xfrm>
            <a:off x="6035040" y="2596896"/>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42" name="Shape 40"/>
          <p:cNvSpPr/>
          <p:nvPr/>
        </p:nvSpPr>
        <p:spPr>
          <a:xfrm>
            <a:off x="3566160" y="2980944"/>
            <a:ext cx="822960" cy="384048"/>
          </a:xfrm>
          <a:prstGeom prst="rect">
            <a:avLst/>
          </a:prstGeom>
          <a:solidFill>
            <a:srgbClr val="EEF2FB"/>
          </a:solidFill>
          <a:ln w="9525">
            <a:solidFill>
              <a:srgbClr val="CADCFC"/>
            </a:solidFill>
            <a:prstDash val="solid"/>
          </a:ln>
        </p:spPr>
      </p:sp>
      <p:sp>
        <p:nvSpPr>
          <p:cNvPr id="43" name="Text 41"/>
          <p:cNvSpPr/>
          <p:nvPr/>
        </p:nvSpPr>
        <p:spPr>
          <a:xfrm>
            <a:off x="3566160" y="2980944"/>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44" name="Shape 42"/>
          <p:cNvSpPr/>
          <p:nvPr/>
        </p:nvSpPr>
        <p:spPr>
          <a:xfrm>
            <a:off x="4389120" y="2980944"/>
            <a:ext cx="822960" cy="384048"/>
          </a:xfrm>
          <a:prstGeom prst="rect">
            <a:avLst/>
          </a:prstGeom>
          <a:solidFill>
            <a:srgbClr val="EEF2FB"/>
          </a:solidFill>
          <a:ln w="9525">
            <a:solidFill>
              <a:srgbClr val="CADCFC"/>
            </a:solidFill>
            <a:prstDash val="solid"/>
          </a:ln>
        </p:spPr>
      </p:sp>
      <p:sp>
        <p:nvSpPr>
          <p:cNvPr id="45" name="Text 43"/>
          <p:cNvSpPr/>
          <p:nvPr/>
        </p:nvSpPr>
        <p:spPr>
          <a:xfrm>
            <a:off x="4389120" y="2980944"/>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46" name="Shape 44"/>
          <p:cNvSpPr/>
          <p:nvPr/>
        </p:nvSpPr>
        <p:spPr>
          <a:xfrm>
            <a:off x="5212080" y="2980944"/>
            <a:ext cx="822960" cy="384048"/>
          </a:xfrm>
          <a:prstGeom prst="rect">
            <a:avLst/>
          </a:prstGeom>
          <a:solidFill>
            <a:srgbClr val="EEF2FB"/>
          </a:solidFill>
          <a:ln w="9525">
            <a:solidFill>
              <a:srgbClr val="CADCFC"/>
            </a:solidFill>
            <a:prstDash val="solid"/>
          </a:ln>
        </p:spPr>
      </p:sp>
      <p:sp>
        <p:nvSpPr>
          <p:cNvPr id="47" name="Text 45"/>
          <p:cNvSpPr/>
          <p:nvPr/>
        </p:nvSpPr>
        <p:spPr>
          <a:xfrm>
            <a:off x="5212080" y="2980944"/>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48" name="Shape 46"/>
          <p:cNvSpPr/>
          <p:nvPr/>
        </p:nvSpPr>
        <p:spPr>
          <a:xfrm>
            <a:off x="6035040" y="2980944"/>
            <a:ext cx="822960" cy="384048"/>
          </a:xfrm>
          <a:prstGeom prst="rect">
            <a:avLst/>
          </a:prstGeom>
          <a:solidFill>
            <a:srgbClr val="EEF2FB"/>
          </a:solidFill>
          <a:ln w="9525">
            <a:solidFill>
              <a:srgbClr val="CADCFC"/>
            </a:solidFill>
            <a:prstDash val="solid"/>
          </a:ln>
        </p:spPr>
      </p:sp>
      <p:sp>
        <p:nvSpPr>
          <p:cNvPr id="49" name="Text 47"/>
          <p:cNvSpPr/>
          <p:nvPr/>
        </p:nvSpPr>
        <p:spPr>
          <a:xfrm>
            <a:off x="6035040" y="2980944"/>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50" name="Shape 48"/>
          <p:cNvSpPr/>
          <p:nvPr/>
        </p:nvSpPr>
        <p:spPr>
          <a:xfrm>
            <a:off x="3566160" y="3364992"/>
            <a:ext cx="822960" cy="384048"/>
          </a:xfrm>
          <a:prstGeom prst="rect">
            <a:avLst/>
          </a:prstGeom>
          <a:solidFill>
            <a:srgbClr val="FFFFFF"/>
          </a:solidFill>
          <a:ln w="9525">
            <a:solidFill>
              <a:srgbClr val="CADCFC"/>
            </a:solidFill>
            <a:prstDash val="solid"/>
          </a:ln>
        </p:spPr>
      </p:sp>
      <p:sp>
        <p:nvSpPr>
          <p:cNvPr id="51" name="Text 49"/>
          <p:cNvSpPr/>
          <p:nvPr/>
        </p:nvSpPr>
        <p:spPr>
          <a:xfrm>
            <a:off x="3566160" y="3364992"/>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52" name="Shape 50"/>
          <p:cNvSpPr/>
          <p:nvPr/>
        </p:nvSpPr>
        <p:spPr>
          <a:xfrm>
            <a:off x="4389120" y="3364992"/>
            <a:ext cx="822960" cy="384048"/>
          </a:xfrm>
          <a:prstGeom prst="rect">
            <a:avLst/>
          </a:prstGeom>
          <a:solidFill>
            <a:srgbClr val="FFFFFF"/>
          </a:solidFill>
          <a:ln w="9525">
            <a:solidFill>
              <a:srgbClr val="CADCFC"/>
            </a:solidFill>
            <a:prstDash val="solid"/>
          </a:ln>
        </p:spPr>
      </p:sp>
      <p:sp>
        <p:nvSpPr>
          <p:cNvPr id="53" name="Text 51"/>
          <p:cNvSpPr/>
          <p:nvPr/>
        </p:nvSpPr>
        <p:spPr>
          <a:xfrm>
            <a:off x="4389120" y="3364992"/>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54" name="Shape 52"/>
          <p:cNvSpPr/>
          <p:nvPr/>
        </p:nvSpPr>
        <p:spPr>
          <a:xfrm>
            <a:off x="5212080" y="3364992"/>
            <a:ext cx="822960" cy="384048"/>
          </a:xfrm>
          <a:prstGeom prst="rect">
            <a:avLst/>
          </a:prstGeom>
          <a:solidFill>
            <a:srgbClr val="FFFFFF"/>
          </a:solidFill>
          <a:ln w="9525">
            <a:solidFill>
              <a:srgbClr val="CADCFC"/>
            </a:solidFill>
            <a:prstDash val="solid"/>
          </a:ln>
        </p:spPr>
      </p:sp>
      <p:sp>
        <p:nvSpPr>
          <p:cNvPr id="55" name="Text 53"/>
          <p:cNvSpPr/>
          <p:nvPr/>
        </p:nvSpPr>
        <p:spPr>
          <a:xfrm>
            <a:off x="5212080" y="3364992"/>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56" name="Shape 54"/>
          <p:cNvSpPr/>
          <p:nvPr/>
        </p:nvSpPr>
        <p:spPr>
          <a:xfrm>
            <a:off x="6035040" y="3364992"/>
            <a:ext cx="822960" cy="384048"/>
          </a:xfrm>
          <a:prstGeom prst="rect">
            <a:avLst/>
          </a:prstGeom>
          <a:solidFill>
            <a:srgbClr val="FFFFFF"/>
          </a:solidFill>
          <a:ln w="9525">
            <a:solidFill>
              <a:srgbClr val="CADCFC"/>
            </a:solidFill>
            <a:prstDash val="solid"/>
          </a:ln>
        </p:spPr>
      </p:sp>
      <p:sp>
        <p:nvSpPr>
          <p:cNvPr id="57" name="Text 55"/>
          <p:cNvSpPr/>
          <p:nvPr/>
        </p:nvSpPr>
        <p:spPr>
          <a:xfrm>
            <a:off x="6035040" y="3364992"/>
            <a:ext cx="82296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58" name="Text 56"/>
          <p:cNvSpPr/>
          <p:nvPr/>
        </p:nvSpPr>
        <p:spPr>
          <a:xfrm>
            <a:off x="7315200" y="1463040"/>
            <a:ext cx="4297680" cy="32004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Conditional / Biconditional</a:t>
            </a:r>
            <a:endParaRPr lang="en-US" sz="1200" dirty="0"/>
          </a:p>
        </p:txBody>
      </p:sp>
      <p:sp>
        <p:nvSpPr>
          <p:cNvPr id="59" name="Shape 57"/>
          <p:cNvSpPr/>
          <p:nvPr/>
        </p:nvSpPr>
        <p:spPr>
          <a:xfrm>
            <a:off x="7315200" y="1828800"/>
            <a:ext cx="1074420" cy="384048"/>
          </a:xfrm>
          <a:prstGeom prst="rect">
            <a:avLst/>
          </a:prstGeom>
          <a:solidFill>
            <a:srgbClr val="1E2761"/>
          </a:solidFill>
          <a:ln w="9525">
            <a:solidFill>
              <a:srgbClr val="FFFFFF"/>
            </a:solidFill>
            <a:prstDash val="solid"/>
          </a:ln>
        </p:spPr>
      </p:sp>
      <p:sp>
        <p:nvSpPr>
          <p:cNvPr id="60" name="Text 58"/>
          <p:cNvSpPr/>
          <p:nvPr/>
        </p:nvSpPr>
        <p:spPr>
          <a:xfrm>
            <a:off x="7315200" y="1828800"/>
            <a:ext cx="107442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t>
            </a:r>
            <a:endParaRPr lang="en-US" sz="1200" dirty="0"/>
          </a:p>
        </p:txBody>
      </p:sp>
      <p:sp>
        <p:nvSpPr>
          <p:cNvPr id="61" name="Shape 59"/>
          <p:cNvSpPr/>
          <p:nvPr/>
        </p:nvSpPr>
        <p:spPr>
          <a:xfrm>
            <a:off x="8389620" y="1828800"/>
            <a:ext cx="1074420" cy="384048"/>
          </a:xfrm>
          <a:prstGeom prst="rect">
            <a:avLst/>
          </a:prstGeom>
          <a:solidFill>
            <a:srgbClr val="1E2761"/>
          </a:solidFill>
          <a:ln w="9525">
            <a:solidFill>
              <a:srgbClr val="FFFFFF"/>
            </a:solidFill>
            <a:prstDash val="solid"/>
          </a:ln>
        </p:spPr>
      </p:sp>
      <p:sp>
        <p:nvSpPr>
          <p:cNvPr id="62" name="Text 60"/>
          <p:cNvSpPr/>
          <p:nvPr/>
        </p:nvSpPr>
        <p:spPr>
          <a:xfrm>
            <a:off x="8389620" y="1828800"/>
            <a:ext cx="107442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a:t>
            </a:r>
            <a:endParaRPr lang="en-US" sz="1200" dirty="0"/>
          </a:p>
        </p:txBody>
      </p:sp>
      <p:sp>
        <p:nvSpPr>
          <p:cNvPr id="63" name="Shape 61"/>
          <p:cNvSpPr/>
          <p:nvPr/>
        </p:nvSpPr>
        <p:spPr>
          <a:xfrm>
            <a:off x="9464040" y="1828800"/>
            <a:ext cx="1074420" cy="384048"/>
          </a:xfrm>
          <a:prstGeom prst="rect">
            <a:avLst/>
          </a:prstGeom>
          <a:solidFill>
            <a:srgbClr val="1E2761"/>
          </a:solidFill>
          <a:ln w="9525">
            <a:solidFill>
              <a:srgbClr val="FFFFFF"/>
            </a:solidFill>
            <a:prstDash val="solid"/>
          </a:ln>
        </p:spPr>
      </p:sp>
      <p:sp>
        <p:nvSpPr>
          <p:cNvPr id="64" name="Text 62"/>
          <p:cNvSpPr/>
          <p:nvPr/>
        </p:nvSpPr>
        <p:spPr>
          <a:xfrm>
            <a:off x="9464040" y="1828800"/>
            <a:ext cx="107442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p→q</a:t>
            </a:r>
            <a:endParaRPr lang="en-US" sz="1200" dirty="0"/>
          </a:p>
        </p:txBody>
      </p:sp>
      <p:sp>
        <p:nvSpPr>
          <p:cNvPr id="65" name="Shape 63"/>
          <p:cNvSpPr/>
          <p:nvPr/>
        </p:nvSpPr>
        <p:spPr>
          <a:xfrm>
            <a:off x="10538460" y="1828800"/>
            <a:ext cx="1074420" cy="384048"/>
          </a:xfrm>
          <a:prstGeom prst="rect">
            <a:avLst/>
          </a:prstGeom>
          <a:solidFill>
            <a:srgbClr val="1E2761"/>
          </a:solidFill>
          <a:ln w="9525">
            <a:solidFill>
              <a:srgbClr val="FFFFFF"/>
            </a:solidFill>
            <a:prstDash val="solid"/>
          </a:ln>
        </p:spPr>
      </p:sp>
      <p:sp>
        <p:nvSpPr>
          <p:cNvPr id="66" name="Text 64"/>
          <p:cNvSpPr/>
          <p:nvPr/>
        </p:nvSpPr>
        <p:spPr>
          <a:xfrm>
            <a:off x="10538460" y="1828800"/>
            <a:ext cx="107442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p↔q</a:t>
            </a:r>
            <a:endParaRPr lang="en-US" sz="1200" dirty="0"/>
          </a:p>
        </p:txBody>
      </p:sp>
      <p:sp>
        <p:nvSpPr>
          <p:cNvPr id="67" name="Shape 65"/>
          <p:cNvSpPr/>
          <p:nvPr/>
        </p:nvSpPr>
        <p:spPr>
          <a:xfrm>
            <a:off x="7315200" y="2212848"/>
            <a:ext cx="1074420" cy="384048"/>
          </a:xfrm>
          <a:prstGeom prst="rect">
            <a:avLst/>
          </a:prstGeom>
          <a:solidFill>
            <a:srgbClr val="EEF2FB"/>
          </a:solidFill>
          <a:ln w="9525">
            <a:solidFill>
              <a:srgbClr val="CADCFC"/>
            </a:solidFill>
            <a:prstDash val="solid"/>
          </a:ln>
        </p:spPr>
      </p:sp>
      <p:sp>
        <p:nvSpPr>
          <p:cNvPr id="68" name="Text 66"/>
          <p:cNvSpPr/>
          <p:nvPr/>
        </p:nvSpPr>
        <p:spPr>
          <a:xfrm>
            <a:off x="7315200" y="2212848"/>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69" name="Shape 67"/>
          <p:cNvSpPr/>
          <p:nvPr/>
        </p:nvSpPr>
        <p:spPr>
          <a:xfrm>
            <a:off x="8389620" y="2212848"/>
            <a:ext cx="1074420" cy="384048"/>
          </a:xfrm>
          <a:prstGeom prst="rect">
            <a:avLst/>
          </a:prstGeom>
          <a:solidFill>
            <a:srgbClr val="EEF2FB"/>
          </a:solidFill>
          <a:ln w="9525">
            <a:solidFill>
              <a:srgbClr val="CADCFC"/>
            </a:solidFill>
            <a:prstDash val="solid"/>
          </a:ln>
        </p:spPr>
      </p:sp>
      <p:sp>
        <p:nvSpPr>
          <p:cNvPr id="70" name="Text 68"/>
          <p:cNvSpPr/>
          <p:nvPr/>
        </p:nvSpPr>
        <p:spPr>
          <a:xfrm>
            <a:off x="8389620" y="2212848"/>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71" name="Shape 69"/>
          <p:cNvSpPr/>
          <p:nvPr/>
        </p:nvSpPr>
        <p:spPr>
          <a:xfrm>
            <a:off x="9464040" y="2212848"/>
            <a:ext cx="1074420" cy="384048"/>
          </a:xfrm>
          <a:prstGeom prst="rect">
            <a:avLst/>
          </a:prstGeom>
          <a:solidFill>
            <a:srgbClr val="EEF2FB"/>
          </a:solidFill>
          <a:ln w="9525">
            <a:solidFill>
              <a:srgbClr val="CADCFC"/>
            </a:solidFill>
            <a:prstDash val="solid"/>
          </a:ln>
        </p:spPr>
      </p:sp>
      <p:sp>
        <p:nvSpPr>
          <p:cNvPr id="72" name="Text 70"/>
          <p:cNvSpPr/>
          <p:nvPr/>
        </p:nvSpPr>
        <p:spPr>
          <a:xfrm>
            <a:off x="9464040" y="2212848"/>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73" name="Shape 71"/>
          <p:cNvSpPr/>
          <p:nvPr/>
        </p:nvSpPr>
        <p:spPr>
          <a:xfrm>
            <a:off x="10538460" y="2212848"/>
            <a:ext cx="1074420" cy="384048"/>
          </a:xfrm>
          <a:prstGeom prst="rect">
            <a:avLst/>
          </a:prstGeom>
          <a:solidFill>
            <a:srgbClr val="EEF2FB"/>
          </a:solidFill>
          <a:ln w="9525">
            <a:solidFill>
              <a:srgbClr val="CADCFC"/>
            </a:solidFill>
            <a:prstDash val="solid"/>
          </a:ln>
        </p:spPr>
      </p:sp>
      <p:sp>
        <p:nvSpPr>
          <p:cNvPr id="74" name="Text 72"/>
          <p:cNvSpPr/>
          <p:nvPr/>
        </p:nvSpPr>
        <p:spPr>
          <a:xfrm>
            <a:off x="10538460" y="2212848"/>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75" name="Shape 73"/>
          <p:cNvSpPr/>
          <p:nvPr/>
        </p:nvSpPr>
        <p:spPr>
          <a:xfrm>
            <a:off x="7315200" y="2596896"/>
            <a:ext cx="1074420" cy="384048"/>
          </a:xfrm>
          <a:prstGeom prst="rect">
            <a:avLst/>
          </a:prstGeom>
          <a:solidFill>
            <a:srgbClr val="FFFFFF"/>
          </a:solidFill>
          <a:ln w="9525">
            <a:solidFill>
              <a:srgbClr val="CADCFC"/>
            </a:solidFill>
            <a:prstDash val="solid"/>
          </a:ln>
        </p:spPr>
      </p:sp>
      <p:sp>
        <p:nvSpPr>
          <p:cNvPr id="76" name="Text 74"/>
          <p:cNvSpPr/>
          <p:nvPr/>
        </p:nvSpPr>
        <p:spPr>
          <a:xfrm>
            <a:off x="7315200" y="2596896"/>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77" name="Shape 75"/>
          <p:cNvSpPr/>
          <p:nvPr/>
        </p:nvSpPr>
        <p:spPr>
          <a:xfrm>
            <a:off x="8389620" y="2596896"/>
            <a:ext cx="1074420" cy="384048"/>
          </a:xfrm>
          <a:prstGeom prst="rect">
            <a:avLst/>
          </a:prstGeom>
          <a:solidFill>
            <a:srgbClr val="FFFFFF"/>
          </a:solidFill>
          <a:ln w="9525">
            <a:solidFill>
              <a:srgbClr val="CADCFC"/>
            </a:solidFill>
            <a:prstDash val="solid"/>
          </a:ln>
        </p:spPr>
      </p:sp>
      <p:sp>
        <p:nvSpPr>
          <p:cNvPr id="78" name="Text 76"/>
          <p:cNvSpPr/>
          <p:nvPr/>
        </p:nvSpPr>
        <p:spPr>
          <a:xfrm>
            <a:off x="8389620" y="2596896"/>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79" name="Shape 77"/>
          <p:cNvSpPr/>
          <p:nvPr/>
        </p:nvSpPr>
        <p:spPr>
          <a:xfrm>
            <a:off x="9464040" y="2596896"/>
            <a:ext cx="1074420" cy="384048"/>
          </a:xfrm>
          <a:prstGeom prst="rect">
            <a:avLst/>
          </a:prstGeom>
          <a:solidFill>
            <a:srgbClr val="FFFFFF"/>
          </a:solidFill>
          <a:ln w="9525">
            <a:solidFill>
              <a:srgbClr val="CADCFC"/>
            </a:solidFill>
            <a:prstDash val="solid"/>
          </a:ln>
        </p:spPr>
      </p:sp>
      <p:sp>
        <p:nvSpPr>
          <p:cNvPr id="80" name="Text 78"/>
          <p:cNvSpPr/>
          <p:nvPr/>
        </p:nvSpPr>
        <p:spPr>
          <a:xfrm>
            <a:off x="9464040" y="2596896"/>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81" name="Shape 79"/>
          <p:cNvSpPr/>
          <p:nvPr/>
        </p:nvSpPr>
        <p:spPr>
          <a:xfrm>
            <a:off x="10538460" y="2596896"/>
            <a:ext cx="1074420" cy="384048"/>
          </a:xfrm>
          <a:prstGeom prst="rect">
            <a:avLst/>
          </a:prstGeom>
          <a:solidFill>
            <a:srgbClr val="FFFFFF"/>
          </a:solidFill>
          <a:ln w="9525">
            <a:solidFill>
              <a:srgbClr val="CADCFC"/>
            </a:solidFill>
            <a:prstDash val="solid"/>
          </a:ln>
        </p:spPr>
      </p:sp>
      <p:sp>
        <p:nvSpPr>
          <p:cNvPr id="82" name="Text 80"/>
          <p:cNvSpPr/>
          <p:nvPr/>
        </p:nvSpPr>
        <p:spPr>
          <a:xfrm>
            <a:off x="10538460" y="2596896"/>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83" name="Shape 81"/>
          <p:cNvSpPr/>
          <p:nvPr/>
        </p:nvSpPr>
        <p:spPr>
          <a:xfrm>
            <a:off x="7315200" y="2980944"/>
            <a:ext cx="1074420" cy="384048"/>
          </a:xfrm>
          <a:prstGeom prst="rect">
            <a:avLst/>
          </a:prstGeom>
          <a:solidFill>
            <a:srgbClr val="EEF2FB"/>
          </a:solidFill>
          <a:ln w="9525">
            <a:solidFill>
              <a:srgbClr val="CADCFC"/>
            </a:solidFill>
            <a:prstDash val="solid"/>
          </a:ln>
        </p:spPr>
      </p:sp>
      <p:sp>
        <p:nvSpPr>
          <p:cNvPr id="84" name="Text 82"/>
          <p:cNvSpPr/>
          <p:nvPr/>
        </p:nvSpPr>
        <p:spPr>
          <a:xfrm>
            <a:off x="7315200" y="2980944"/>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85" name="Shape 83"/>
          <p:cNvSpPr/>
          <p:nvPr/>
        </p:nvSpPr>
        <p:spPr>
          <a:xfrm>
            <a:off x="8389620" y="2980944"/>
            <a:ext cx="1074420" cy="384048"/>
          </a:xfrm>
          <a:prstGeom prst="rect">
            <a:avLst/>
          </a:prstGeom>
          <a:solidFill>
            <a:srgbClr val="EEF2FB"/>
          </a:solidFill>
          <a:ln w="9525">
            <a:solidFill>
              <a:srgbClr val="CADCFC"/>
            </a:solidFill>
            <a:prstDash val="solid"/>
          </a:ln>
        </p:spPr>
      </p:sp>
      <p:sp>
        <p:nvSpPr>
          <p:cNvPr id="86" name="Text 84"/>
          <p:cNvSpPr/>
          <p:nvPr/>
        </p:nvSpPr>
        <p:spPr>
          <a:xfrm>
            <a:off x="8389620" y="2980944"/>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87" name="Shape 85"/>
          <p:cNvSpPr/>
          <p:nvPr/>
        </p:nvSpPr>
        <p:spPr>
          <a:xfrm>
            <a:off x="9464040" y="2980944"/>
            <a:ext cx="1074420" cy="384048"/>
          </a:xfrm>
          <a:prstGeom prst="rect">
            <a:avLst/>
          </a:prstGeom>
          <a:solidFill>
            <a:srgbClr val="EEF2FB"/>
          </a:solidFill>
          <a:ln w="9525">
            <a:solidFill>
              <a:srgbClr val="CADCFC"/>
            </a:solidFill>
            <a:prstDash val="solid"/>
          </a:ln>
        </p:spPr>
      </p:sp>
      <p:sp>
        <p:nvSpPr>
          <p:cNvPr id="88" name="Text 86"/>
          <p:cNvSpPr/>
          <p:nvPr/>
        </p:nvSpPr>
        <p:spPr>
          <a:xfrm>
            <a:off x="9464040" y="2980944"/>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89" name="Shape 87"/>
          <p:cNvSpPr/>
          <p:nvPr/>
        </p:nvSpPr>
        <p:spPr>
          <a:xfrm>
            <a:off x="10538460" y="2980944"/>
            <a:ext cx="1074420" cy="384048"/>
          </a:xfrm>
          <a:prstGeom prst="rect">
            <a:avLst/>
          </a:prstGeom>
          <a:solidFill>
            <a:srgbClr val="EEF2FB"/>
          </a:solidFill>
          <a:ln w="9525">
            <a:solidFill>
              <a:srgbClr val="CADCFC"/>
            </a:solidFill>
            <a:prstDash val="solid"/>
          </a:ln>
        </p:spPr>
      </p:sp>
      <p:sp>
        <p:nvSpPr>
          <p:cNvPr id="90" name="Text 88"/>
          <p:cNvSpPr/>
          <p:nvPr/>
        </p:nvSpPr>
        <p:spPr>
          <a:xfrm>
            <a:off x="10538460" y="2980944"/>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91" name="Shape 89"/>
          <p:cNvSpPr/>
          <p:nvPr/>
        </p:nvSpPr>
        <p:spPr>
          <a:xfrm>
            <a:off x="7315200" y="3364992"/>
            <a:ext cx="1074420" cy="384048"/>
          </a:xfrm>
          <a:prstGeom prst="rect">
            <a:avLst/>
          </a:prstGeom>
          <a:solidFill>
            <a:srgbClr val="FFFFFF"/>
          </a:solidFill>
          <a:ln w="9525">
            <a:solidFill>
              <a:srgbClr val="CADCFC"/>
            </a:solidFill>
            <a:prstDash val="solid"/>
          </a:ln>
        </p:spPr>
      </p:sp>
      <p:sp>
        <p:nvSpPr>
          <p:cNvPr id="92" name="Text 90"/>
          <p:cNvSpPr/>
          <p:nvPr/>
        </p:nvSpPr>
        <p:spPr>
          <a:xfrm>
            <a:off x="7315200" y="3364992"/>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93" name="Shape 91"/>
          <p:cNvSpPr/>
          <p:nvPr/>
        </p:nvSpPr>
        <p:spPr>
          <a:xfrm>
            <a:off x="8389620" y="3364992"/>
            <a:ext cx="1074420" cy="384048"/>
          </a:xfrm>
          <a:prstGeom prst="rect">
            <a:avLst/>
          </a:prstGeom>
          <a:solidFill>
            <a:srgbClr val="FFFFFF"/>
          </a:solidFill>
          <a:ln w="9525">
            <a:solidFill>
              <a:srgbClr val="CADCFC"/>
            </a:solidFill>
            <a:prstDash val="solid"/>
          </a:ln>
        </p:spPr>
      </p:sp>
      <p:sp>
        <p:nvSpPr>
          <p:cNvPr id="94" name="Text 92"/>
          <p:cNvSpPr/>
          <p:nvPr/>
        </p:nvSpPr>
        <p:spPr>
          <a:xfrm>
            <a:off x="8389620" y="3364992"/>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F</a:t>
            </a:r>
            <a:endParaRPr lang="en-US" sz="1200" dirty="0"/>
          </a:p>
        </p:txBody>
      </p:sp>
      <p:sp>
        <p:nvSpPr>
          <p:cNvPr id="95" name="Shape 93"/>
          <p:cNvSpPr/>
          <p:nvPr/>
        </p:nvSpPr>
        <p:spPr>
          <a:xfrm>
            <a:off x="9464040" y="3364992"/>
            <a:ext cx="1074420" cy="384048"/>
          </a:xfrm>
          <a:prstGeom prst="rect">
            <a:avLst/>
          </a:prstGeom>
          <a:solidFill>
            <a:srgbClr val="FFFFFF"/>
          </a:solidFill>
          <a:ln w="9525">
            <a:solidFill>
              <a:srgbClr val="CADCFC"/>
            </a:solidFill>
            <a:prstDash val="solid"/>
          </a:ln>
        </p:spPr>
      </p:sp>
      <p:sp>
        <p:nvSpPr>
          <p:cNvPr id="96" name="Text 94"/>
          <p:cNvSpPr/>
          <p:nvPr/>
        </p:nvSpPr>
        <p:spPr>
          <a:xfrm>
            <a:off x="9464040" y="3364992"/>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97" name="Shape 95"/>
          <p:cNvSpPr/>
          <p:nvPr/>
        </p:nvSpPr>
        <p:spPr>
          <a:xfrm>
            <a:off x="10538460" y="3364992"/>
            <a:ext cx="1074420" cy="384048"/>
          </a:xfrm>
          <a:prstGeom prst="rect">
            <a:avLst/>
          </a:prstGeom>
          <a:solidFill>
            <a:srgbClr val="FFFFFF"/>
          </a:solidFill>
          <a:ln w="9525">
            <a:solidFill>
              <a:srgbClr val="CADCFC"/>
            </a:solidFill>
            <a:prstDash val="solid"/>
          </a:ln>
        </p:spPr>
      </p:sp>
      <p:sp>
        <p:nvSpPr>
          <p:cNvPr id="98" name="Text 96"/>
          <p:cNvSpPr/>
          <p:nvPr/>
        </p:nvSpPr>
        <p:spPr>
          <a:xfrm>
            <a:off x="10538460" y="3364992"/>
            <a:ext cx="1074420" cy="384048"/>
          </a:xfrm>
          <a:prstGeom prst="rect">
            <a:avLst/>
          </a:prstGeom>
          <a:noFill/>
          <a:ln/>
        </p:spPr>
        <p:txBody>
          <a:bodyPr wrap="square" rtlCol="0" anchor="ctr"/>
          <a:lstStyle/>
          <a:p>
            <a:pPr marL="0" indent="0" algn="ctr">
              <a:buNone/>
            </a:pPr>
            <a:r>
              <a:rPr lang="en-US" sz="1200" dirty="0">
                <a:solidFill>
                  <a:srgbClr val="26304A"/>
                </a:solidFill>
                <a:latin typeface="Calibri" pitchFamily="34" charset="0"/>
                <a:ea typeface="Calibri" pitchFamily="34" charset="-122"/>
                <a:cs typeface="Calibri" pitchFamily="34" charset="-120"/>
              </a:rPr>
              <a:t>T</a:t>
            </a:r>
            <a:endParaRPr lang="en-US" sz="1200" dirty="0"/>
          </a:p>
        </p:txBody>
      </p:sp>
      <p:sp>
        <p:nvSpPr>
          <p:cNvPr id="99" name="Shape 97"/>
          <p:cNvSpPr/>
          <p:nvPr/>
        </p:nvSpPr>
        <p:spPr>
          <a:xfrm>
            <a:off x="548640" y="5074920"/>
            <a:ext cx="11064240" cy="1051560"/>
          </a:xfrm>
          <a:prstGeom prst="roundRect">
            <a:avLst>
              <a:gd name="adj" fmla="val 6957"/>
            </a:avLst>
          </a:prstGeom>
          <a:solidFill>
            <a:srgbClr val="FBF3E4"/>
          </a:solidFill>
          <a:ln/>
        </p:spPr>
      </p:sp>
      <p:sp>
        <p:nvSpPr>
          <p:cNvPr id="100" name="Text 98"/>
          <p:cNvSpPr/>
          <p:nvPr/>
        </p:nvSpPr>
        <p:spPr>
          <a:xfrm>
            <a:off x="822960" y="5074920"/>
            <a:ext cx="10515600" cy="105156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Key rule:  </a:t>
            </a:r>
            <a:r>
              <a:rPr lang="en-US" sz="1300" dirty="0">
                <a:solidFill>
                  <a:srgbClr val="26304A"/>
                </a:solidFill>
                <a:latin typeface="Calibri" pitchFamily="34" charset="0"/>
                <a:ea typeface="Calibri" pitchFamily="34" charset="-122"/>
                <a:cs typeface="Calibri" pitchFamily="34" charset="-120"/>
              </a:rPr>
              <a:t>p → q  is FALSE only when p is true and q is false. This single row trips up most beginners — memorize it first.</a:t>
            </a:r>
            <a:endParaRPr lang="en-US" sz="1300" dirty="0"/>
          </a:p>
        </p:txBody>
      </p:sp>
      <p:sp>
        <p:nvSpPr>
          <p:cNvPr id="101" name="Text 99"/>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590"/>
                </a:solidFill>
                <a:latin typeface="Calibri" pitchFamily="34" charset="0"/>
                <a:ea typeface="Calibri" pitchFamily="34" charset="-122"/>
                <a:cs typeface="Calibri" pitchFamily="34" charset="-120"/>
              </a:rPr>
              <a:t>Propositional Logic  |  Rosen, Discrete Mathematics 8e</a:t>
            </a:r>
            <a:endParaRPr lang="en-US" sz="900" dirty="0"/>
          </a:p>
        </p:txBody>
      </p:sp>
      <p:sp>
        <p:nvSpPr>
          <p:cNvPr id="102" name="Text 100"/>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B759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Compound Propositions</a:t>
            </a:r>
            <a:endParaRPr lang="en-US" sz="3200" dirty="0"/>
          </a:p>
        </p:txBody>
      </p:sp>
      <p:sp>
        <p:nvSpPr>
          <p:cNvPr id="3" name="Shape 1"/>
          <p:cNvSpPr/>
          <p:nvPr/>
        </p:nvSpPr>
        <p:spPr>
          <a:xfrm>
            <a:off x="548640" y="1051560"/>
            <a:ext cx="1005840" cy="54864"/>
          </a:xfrm>
          <a:prstGeom prst="rect">
            <a:avLst/>
          </a:prstGeom>
          <a:solidFill>
            <a:srgbClr val="E8A33D"/>
          </a:solidFill>
          <a:ln/>
        </p:spPr>
      </p:sp>
      <p:sp>
        <p:nvSpPr>
          <p:cNvPr id="4" name="Text 2"/>
          <p:cNvSpPr/>
          <p:nvPr/>
        </p:nvSpPr>
        <p:spPr>
          <a:xfrm>
            <a:off x="548640" y="1280160"/>
            <a:ext cx="5212080" cy="1051560"/>
          </a:xfrm>
          <a:prstGeom prst="rect">
            <a:avLst/>
          </a:prstGeom>
          <a:noFill/>
          <a:ln/>
        </p:spPr>
        <p:txBody>
          <a:bodyPr wrap="square" rtlCol="0" anchor="ctr"/>
          <a:lstStyle/>
          <a:p>
            <a:pPr marL="0" indent="0">
              <a:lnSpc>
                <a:spcPct val="125000"/>
              </a:lnSpc>
              <a:buNone/>
            </a:pPr>
            <a:r>
              <a:rPr lang="en-US" sz="1200" i="1" dirty="0">
                <a:solidFill>
                  <a:srgbClr val="26304A"/>
                </a:solidFill>
                <a:latin typeface="Calibri" pitchFamily="34" charset="0"/>
                <a:ea typeface="Calibri" pitchFamily="34" charset="-122"/>
                <a:cs typeface="Calibri" pitchFamily="34" charset="-120"/>
              </a:rPr>
              <a:t>"We can use these connectives to build up complicated compound propositions... We use a separate column to find the truth value of each compound expression as it is built up."</a:t>
            </a:r>
            <a:endParaRPr lang="en-US" sz="1200" dirty="0"/>
          </a:p>
        </p:txBody>
      </p:sp>
      <p:sp>
        <p:nvSpPr>
          <p:cNvPr id="5" name="Shape 3"/>
          <p:cNvSpPr/>
          <p:nvPr/>
        </p:nvSpPr>
        <p:spPr>
          <a:xfrm>
            <a:off x="548640" y="2514600"/>
            <a:ext cx="5212080" cy="1645920"/>
          </a:xfrm>
          <a:prstGeom prst="roundRect">
            <a:avLst>
              <a:gd name="adj" fmla="val 4444"/>
            </a:avLst>
          </a:prstGeom>
          <a:solidFill>
            <a:srgbClr val="1E2761"/>
          </a:solidFill>
          <a:ln/>
        </p:spPr>
      </p:sp>
      <p:sp>
        <p:nvSpPr>
          <p:cNvPr id="6" name="Text 4"/>
          <p:cNvSpPr/>
          <p:nvPr/>
        </p:nvSpPr>
        <p:spPr>
          <a:xfrm>
            <a:off x="868680" y="2670048"/>
            <a:ext cx="4572000" cy="274320"/>
          </a:xfrm>
          <a:prstGeom prst="rect">
            <a:avLst/>
          </a:prstGeom>
          <a:noFill/>
          <a:ln/>
        </p:spPr>
        <p:txBody>
          <a:bodyPr wrap="square" rtlCol="0" anchor="ctr"/>
          <a:lstStyle/>
          <a:p>
            <a:pPr marL="0" indent="0">
              <a:buNone/>
            </a:pPr>
            <a:r>
              <a:rPr lang="en-US" sz="1100" b="1" kern="0" spc="100" dirty="0">
                <a:solidFill>
                  <a:srgbClr val="E8A33D"/>
                </a:solidFill>
                <a:latin typeface="Calibri" pitchFamily="34" charset="0"/>
                <a:ea typeface="Calibri" pitchFamily="34" charset="-122"/>
                <a:cs typeface="Calibri" pitchFamily="34" charset="-120"/>
              </a:rPr>
              <a:t>EXAMPLE 14 (book)</a:t>
            </a:r>
            <a:endParaRPr lang="en-US" sz="1100" dirty="0"/>
          </a:p>
        </p:txBody>
      </p:sp>
      <p:sp>
        <p:nvSpPr>
          <p:cNvPr id="7" name="Text 5"/>
          <p:cNvSpPr/>
          <p:nvPr/>
        </p:nvSpPr>
        <p:spPr>
          <a:xfrm>
            <a:off x="868680" y="2926080"/>
            <a:ext cx="4572000" cy="365760"/>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Construct the truth table of the compound proposition</a:t>
            </a:r>
            <a:endParaRPr lang="en-US" sz="1150" dirty="0"/>
          </a:p>
        </p:txBody>
      </p:sp>
      <p:sp>
        <p:nvSpPr>
          <p:cNvPr id="8" name="Text 6"/>
          <p:cNvSpPr/>
          <p:nvPr/>
        </p:nvSpPr>
        <p:spPr>
          <a:xfrm>
            <a:off x="868680" y="3246120"/>
            <a:ext cx="457200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 ∨ ¬q) → (p ∧ q)</a:t>
            </a:r>
            <a:endParaRPr lang="en-US" sz="2400" dirty="0"/>
          </a:p>
        </p:txBody>
      </p:sp>
      <p:sp>
        <p:nvSpPr>
          <p:cNvPr id="9" name="Text 7"/>
          <p:cNvSpPr/>
          <p:nvPr/>
        </p:nvSpPr>
        <p:spPr>
          <a:xfrm>
            <a:off x="868680" y="3840480"/>
            <a:ext cx="4572000" cy="274320"/>
          </a:xfrm>
          <a:prstGeom prst="rect">
            <a:avLst/>
          </a:prstGeom>
          <a:noFill/>
          <a:ln/>
        </p:spPr>
        <p:txBody>
          <a:bodyPr wrap="square" rtlCol="0" anchor="ctr"/>
          <a:lstStyle/>
          <a:p>
            <a:pPr marL="0" indent="0">
              <a:buNone/>
            </a:pPr>
            <a:r>
              <a:rPr lang="en-US" sz="1100" dirty="0">
                <a:solidFill>
                  <a:srgbClr val="9AA6C7"/>
                </a:solidFill>
                <a:latin typeface="Calibri" pitchFamily="34" charset="0"/>
                <a:ea typeface="Calibri" pitchFamily="34" charset="-122"/>
                <a:cs typeface="Calibri" pitchFamily="34" charset="-120"/>
              </a:rPr>
              <a:t>Precedence:  ¬  &gt;  ∧  &gt;  ∨  &gt;  →  &gt;  ↔</a:t>
            </a:r>
            <a:endParaRPr lang="en-US" sz="1100" dirty="0"/>
          </a:p>
        </p:txBody>
      </p:sp>
      <p:sp>
        <p:nvSpPr>
          <p:cNvPr id="10" name="Text 8"/>
          <p:cNvSpPr/>
          <p:nvPr/>
        </p:nvSpPr>
        <p:spPr>
          <a:xfrm>
            <a:off x="548640" y="4343400"/>
            <a:ext cx="5212080" cy="548640"/>
          </a:xfrm>
          <a:prstGeom prst="rect">
            <a:avLst/>
          </a:prstGeom>
          <a:noFill/>
          <a:ln/>
        </p:spPr>
        <p:txBody>
          <a:bodyPr wrap="square" rtlCol="0" anchor="ctr"/>
          <a:lstStyle/>
          <a:p>
            <a:pPr marL="0" indent="0">
              <a:lnSpc>
                <a:spcPct val="120000"/>
              </a:lnSpc>
              <a:buNone/>
            </a:pPr>
            <a:r>
              <a:rPr lang="en-US" sz="1000" i="1" dirty="0">
                <a:solidFill>
                  <a:srgbClr val="6B7590"/>
                </a:solidFill>
                <a:latin typeface="Calibri" pitchFamily="34" charset="0"/>
                <a:ea typeface="Calibri" pitchFamily="34" charset="-122"/>
                <a:cs typeface="Calibri" pitchFamily="34" charset="-120"/>
              </a:rPr>
              <a:t>(TABLE 8, Section 1.1.5 — negation, conjunction, disjunction, conditional, biconditional, in order of precedence)</a:t>
            </a:r>
            <a:endParaRPr lang="en-US" sz="1000" dirty="0"/>
          </a:p>
        </p:txBody>
      </p:sp>
      <p:sp>
        <p:nvSpPr>
          <p:cNvPr id="11" name="Text 9"/>
          <p:cNvSpPr/>
          <p:nvPr/>
        </p:nvSpPr>
        <p:spPr>
          <a:xfrm>
            <a:off x="6126480" y="1280160"/>
            <a:ext cx="5532120" cy="274320"/>
          </a:xfrm>
          <a:prstGeom prst="rect">
            <a:avLst/>
          </a:prstGeom>
          <a:noFill/>
          <a:ln/>
        </p:spPr>
        <p:txBody>
          <a:bodyPr wrap="square" rtlCol="0" anchor="ctr"/>
          <a:lstStyle/>
          <a:p>
            <a:pPr marL="0" indent="0">
              <a:buNone/>
            </a:pPr>
            <a:r>
              <a:rPr lang="en-US" sz="1150" b="1" dirty="0">
                <a:solidFill>
                  <a:srgbClr val="1E2761"/>
                </a:solidFill>
                <a:latin typeface="Calibri" pitchFamily="34" charset="0"/>
                <a:ea typeface="Calibri" pitchFamily="34" charset="-122"/>
                <a:cs typeface="Calibri" pitchFamily="34" charset="-120"/>
              </a:rPr>
              <a:t>TABLE 7  The Truth Table of (p ∨ ¬q) → (p ∧ q)</a:t>
            </a:r>
            <a:endParaRPr lang="en-US" sz="1150" dirty="0"/>
          </a:p>
        </p:txBody>
      </p:sp>
      <p:sp>
        <p:nvSpPr>
          <p:cNvPr id="12" name="Shape 10"/>
          <p:cNvSpPr/>
          <p:nvPr/>
        </p:nvSpPr>
        <p:spPr>
          <a:xfrm>
            <a:off x="6126480" y="1691640"/>
            <a:ext cx="922020" cy="457200"/>
          </a:xfrm>
          <a:prstGeom prst="rect">
            <a:avLst/>
          </a:prstGeom>
          <a:solidFill>
            <a:srgbClr val="1E2761"/>
          </a:solidFill>
          <a:ln w="6350">
            <a:solidFill>
              <a:srgbClr val="FFFFFF"/>
            </a:solidFill>
            <a:prstDash val="solid"/>
          </a:ln>
        </p:spPr>
      </p:sp>
      <p:sp>
        <p:nvSpPr>
          <p:cNvPr id="13" name="Text 11"/>
          <p:cNvSpPr/>
          <p:nvPr/>
        </p:nvSpPr>
        <p:spPr>
          <a:xfrm>
            <a:off x="6126480" y="1691640"/>
            <a:ext cx="92202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a:t>
            </a:r>
            <a:endParaRPr lang="en-US" sz="1050" dirty="0"/>
          </a:p>
        </p:txBody>
      </p:sp>
      <p:sp>
        <p:nvSpPr>
          <p:cNvPr id="14" name="Shape 12"/>
          <p:cNvSpPr/>
          <p:nvPr/>
        </p:nvSpPr>
        <p:spPr>
          <a:xfrm>
            <a:off x="7048500" y="1691640"/>
            <a:ext cx="922020" cy="457200"/>
          </a:xfrm>
          <a:prstGeom prst="rect">
            <a:avLst/>
          </a:prstGeom>
          <a:solidFill>
            <a:srgbClr val="1E2761"/>
          </a:solidFill>
          <a:ln w="6350">
            <a:solidFill>
              <a:srgbClr val="FFFFFF"/>
            </a:solidFill>
            <a:prstDash val="solid"/>
          </a:ln>
        </p:spPr>
      </p:sp>
      <p:sp>
        <p:nvSpPr>
          <p:cNvPr id="15" name="Text 13"/>
          <p:cNvSpPr/>
          <p:nvPr/>
        </p:nvSpPr>
        <p:spPr>
          <a:xfrm>
            <a:off x="7048500" y="1691640"/>
            <a:ext cx="92202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q</a:t>
            </a:r>
            <a:endParaRPr lang="en-US" sz="1050" dirty="0"/>
          </a:p>
        </p:txBody>
      </p:sp>
      <p:sp>
        <p:nvSpPr>
          <p:cNvPr id="16" name="Shape 14"/>
          <p:cNvSpPr/>
          <p:nvPr/>
        </p:nvSpPr>
        <p:spPr>
          <a:xfrm>
            <a:off x="7970520" y="1691640"/>
            <a:ext cx="922020" cy="457200"/>
          </a:xfrm>
          <a:prstGeom prst="rect">
            <a:avLst/>
          </a:prstGeom>
          <a:solidFill>
            <a:srgbClr val="1E2761"/>
          </a:solidFill>
          <a:ln w="6350">
            <a:solidFill>
              <a:srgbClr val="FFFFFF"/>
            </a:solidFill>
            <a:prstDash val="solid"/>
          </a:ln>
        </p:spPr>
      </p:sp>
      <p:sp>
        <p:nvSpPr>
          <p:cNvPr id="17" name="Text 15"/>
          <p:cNvSpPr/>
          <p:nvPr/>
        </p:nvSpPr>
        <p:spPr>
          <a:xfrm>
            <a:off x="7970520" y="1691640"/>
            <a:ext cx="92202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¬q</a:t>
            </a:r>
            <a:endParaRPr lang="en-US" sz="1050" dirty="0"/>
          </a:p>
        </p:txBody>
      </p:sp>
      <p:sp>
        <p:nvSpPr>
          <p:cNvPr id="18" name="Shape 16"/>
          <p:cNvSpPr/>
          <p:nvPr/>
        </p:nvSpPr>
        <p:spPr>
          <a:xfrm>
            <a:off x="8892540" y="1691640"/>
            <a:ext cx="922020" cy="457200"/>
          </a:xfrm>
          <a:prstGeom prst="rect">
            <a:avLst/>
          </a:prstGeom>
          <a:solidFill>
            <a:srgbClr val="1E2761"/>
          </a:solidFill>
          <a:ln w="6350">
            <a:solidFill>
              <a:srgbClr val="FFFFFF"/>
            </a:solidFill>
            <a:prstDash val="solid"/>
          </a:ln>
        </p:spPr>
      </p:sp>
      <p:sp>
        <p:nvSpPr>
          <p:cNvPr id="19" name="Text 17"/>
          <p:cNvSpPr/>
          <p:nvPr/>
        </p:nvSpPr>
        <p:spPr>
          <a:xfrm>
            <a:off x="8892540" y="1691640"/>
            <a:ext cx="92202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p∨¬q</a:t>
            </a:r>
            <a:endParaRPr lang="en-US" sz="1050" dirty="0"/>
          </a:p>
        </p:txBody>
      </p:sp>
      <p:sp>
        <p:nvSpPr>
          <p:cNvPr id="20" name="Shape 18"/>
          <p:cNvSpPr/>
          <p:nvPr/>
        </p:nvSpPr>
        <p:spPr>
          <a:xfrm>
            <a:off x="9814560" y="1691640"/>
            <a:ext cx="922020" cy="457200"/>
          </a:xfrm>
          <a:prstGeom prst="rect">
            <a:avLst/>
          </a:prstGeom>
          <a:solidFill>
            <a:srgbClr val="1E2761"/>
          </a:solidFill>
          <a:ln w="6350">
            <a:solidFill>
              <a:srgbClr val="FFFFFF"/>
            </a:solidFill>
            <a:prstDash val="solid"/>
          </a:ln>
        </p:spPr>
      </p:sp>
      <p:sp>
        <p:nvSpPr>
          <p:cNvPr id="21" name="Text 19"/>
          <p:cNvSpPr/>
          <p:nvPr/>
        </p:nvSpPr>
        <p:spPr>
          <a:xfrm>
            <a:off x="9814560" y="1691640"/>
            <a:ext cx="92202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p∧q</a:t>
            </a:r>
            <a:endParaRPr lang="en-US" sz="1050" dirty="0"/>
          </a:p>
        </p:txBody>
      </p:sp>
      <p:sp>
        <p:nvSpPr>
          <p:cNvPr id="22" name="Shape 20"/>
          <p:cNvSpPr/>
          <p:nvPr/>
        </p:nvSpPr>
        <p:spPr>
          <a:xfrm>
            <a:off x="10736580" y="1691640"/>
            <a:ext cx="922020" cy="457200"/>
          </a:xfrm>
          <a:prstGeom prst="rect">
            <a:avLst/>
          </a:prstGeom>
          <a:solidFill>
            <a:srgbClr val="1E2761"/>
          </a:solidFill>
          <a:ln w="6350">
            <a:solidFill>
              <a:srgbClr val="FFFFFF"/>
            </a:solidFill>
            <a:prstDash val="solid"/>
          </a:ln>
        </p:spPr>
      </p:sp>
      <p:sp>
        <p:nvSpPr>
          <p:cNvPr id="23" name="Text 21"/>
          <p:cNvSpPr/>
          <p:nvPr/>
        </p:nvSpPr>
        <p:spPr>
          <a:xfrm>
            <a:off x="10736580" y="1691640"/>
            <a:ext cx="922020" cy="45720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(p∨¬q)→(p∧q)</a:t>
            </a:r>
            <a:endParaRPr lang="en-US" sz="1050" dirty="0"/>
          </a:p>
        </p:txBody>
      </p:sp>
      <p:sp>
        <p:nvSpPr>
          <p:cNvPr id="24" name="Shape 22"/>
          <p:cNvSpPr/>
          <p:nvPr/>
        </p:nvSpPr>
        <p:spPr>
          <a:xfrm>
            <a:off x="6126480" y="2148840"/>
            <a:ext cx="922020" cy="457200"/>
          </a:xfrm>
          <a:prstGeom prst="rect">
            <a:avLst/>
          </a:prstGeom>
          <a:solidFill>
            <a:srgbClr val="EEF2FB"/>
          </a:solidFill>
          <a:ln w="6350">
            <a:solidFill>
              <a:srgbClr val="CADCFC"/>
            </a:solidFill>
            <a:prstDash val="solid"/>
          </a:ln>
        </p:spPr>
      </p:sp>
      <p:sp>
        <p:nvSpPr>
          <p:cNvPr id="25" name="Text 23"/>
          <p:cNvSpPr/>
          <p:nvPr/>
        </p:nvSpPr>
        <p:spPr>
          <a:xfrm>
            <a:off x="6126480" y="21488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T</a:t>
            </a:r>
            <a:endParaRPr lang="en-US" sz="1100" dirty="0"/>
          </a:p>
        </p:txBody>
      </p:sp>
      <p:sp>
        <p:nvSpPr>
          <p:cNvPr id="26" name="Shape 24"/>
          <p:cNvSpPr/>
          <p:nvPr/>
        </p:nvSpPr>
        <p:spPr>
          <a:xfrm>
            <a:off x="7048500" y="2148840"/>
            <a:ext cx="922020" cy="457200"/>
          </a:xfrm>
          <a:prstGeom prst="rect">
            <a:avLst/>
          </a:prstGeom>
          <a:solidFill>
            <a:srgbClr val="EEF2FB"/>
          </a:solidFill>
          <a:ln w="6350">
            <a:solidFill>
              <a:srgbClr val="CADCFC"/>
            </a:solidFill>
            <a:prstDash val="solid"/>
          </a:ln>
        </p:spPr>
      </p:sp>
      <p:sp>
        <p:nvSpPr>
          <p:cNvPr id="27" name="Text 25"/>
          <p:cNvSpPr/>
          <p:nvPr/>
        </p:nvSpPr>
        <p:spPr>
          <a:xfrm>
            <a:off x="7048500" y="21488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T</a:t>
            </a:r>
            <a:endParaRPr lang="en-US" sz="1100" dirty="0"/>
          </a:p>
        </p:txBody>
      </p:sp>
      <p:sp>
        <p:nvSpPr>
          <p:cNvPr id="28" name="Shape 26"/>
          <p:cNvSpPr/>
          <p:nvPr/>
        </p:nvSpPr>
        <p:spPr>
          <a:xfrm>
            <a:off x="7970520" y="2148840"/>
            <a:ext cx="922020" cy="457200"/>
          </a:xfrm>
          <a:prstGeom prst="rect">
            <a:avLst/>
          </a:prstGeom>
          <a:solidFill>
            <a:srgbClr val="EEF2FB"/>
          </a:solidFill>
          <a:ln w="6350">
            <a:solidFill>
              <a:srgbClr val="CADCFC"/>
            </a:solidFill>
            <a:prstDash val="solid"/>
          </a:ln>
        </p:spPr>
      </p:sp>
      <p:sp>
        <p:nvSpPr>
          <p:cNvPr id="29" name="Text 27"/>
          <p:cNvSpPr/>
          <p:nvPr/>
        </p:nvSpPr>
        <p:spPr>
          <a:xfrm>
            <a:off x="7970520" y="21488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F</a:t>
            </a:r>
            <a:endParaRPr lang="en-US" sz="1100" dirty="0"/>
          </a:p>
        </p:txBody>
      </p:sp>
      <p:sp>
        <p:nvSpPr>
          <p:cNvPr id="30" name="Shape 28"/>
          <p:cNvSpPr/>
          <p:nvPr/>
        </p:nvSpPr>
        <p:spPr>
          <a:xfrm>
            <a:off x="8892540" y="2148840"/>
            <a:ext cx="922020" cy="457200"/>
          </a:xfrm>
          <a:prstGeom prst="rect">
            <a:avLst/>
          </a:prstGeom>
          <a:solidFill>
            <a:srgbClr val="EEF2FB"/>
          </a:solidFill>
          <a:ln w="6350">
            <a:solidFill>
              <a:srgbClr val="CADCFC"/>
            </a:solidFill>
            <a:prstDash val="solid"/>
          </a:ln>
        </p:spPr>
      </p:sp>
      <p:sp>
        <p:nvSpPr>
          <p:cNvPr id="31" name="Text 29"/>
          <p:cNvSpPr/>
          <p:nvPr/>
        </p:nvSpPr>
        <p:spPr>
          <a:xfrm>
            <a:off x="8892540" y="21488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T</a:t>
            </a:r>
            <a:endParaRPr lang="en-US" sz="1100" dirty="0"/>
          </a:p>
        </p:txBody>
      </p:sp>
      <p:sp>
        <p:nvSpPr>
          <p:cNvPr id="32" name="Shape 30"/>
          <p:cNvSpPr/>
          <p:nvPr/>
        </p:nvSpPr>
        <p:spPr>
          <a:xfrm>
            <a:off x="9814560" y="2148840"/>
            <a:ext cx="922020" cy="457200"/>
          </a:xfrm>
          <a:prstGeom prst="rect">
            <a:avLst/>
          </a:prstGeom>
          <a:solidFill>
            <a:srgbClr val="EEF2FB"/>
          </a:solidFill>
          <a:ln w="6350">
            <a:solidFill>
              <a:srgbClr val="CADCFC"/>
            </a:solidFill>
            <a:prstDash val="solid"/>
          </a:ln>
        </p:spPr>
      </p:sp>
      <p:sp>
        <p:nvSpPr>
          <p:cNvPr id="33" name="Text 31"/>
          <p:cNvSpPr/>
          <p:nvPr/>
        </p:nvSpPr>
        <p:spPr>
          <a:xfrm>
            <a:off x="9814560" y="21488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T</a:t>
            </a:r>
            <a:endParaRPr lang="en-US" sz="1100" dirty="0"/>
          </a:p>
        </p:txBody>
      </p:sp>
      <p:sp>
        <p:nvSpPr>
          <p:cNvPr id="34" name="Shape 32"/>
          <p:cNvSpPr/>
          <p:nvPr/>
        </p:nvSpPr>
        <p:spPr>
          <a:xfrm>
            <a:off x="10736580" y="2148840"/>
            <a:ext cx="922020" cy="457200"/>
          </a:xfrm>
          <a:prstGeom prst="rect">
            <a:avLst/>
          </a:prstGeom>
          <a:solidFill>
            <a:srgbClr val="EEF2FB"/>
          </a:solidFill>
          <a:ln w="6350">
            <a:solidFill>
              <a:srgbClr val="CADCFC"/>
            </a:solidFill>
            <a:prstDash val="solid"/>
          </a:ln>
        </p:spPr>
      </p:sp>
      <p:sp>
        <p:nvSpPr>
          <p:cNvPr id="35" name="Text 33"/>
          <p:cNvSpPr/>
          <p:nvPr/>
        </p:nvSpPr>
        <p:spPr>
          <a:xfrm>
            <a:off x="10736580" y="2148840"/>
            <a:ext cx="922020" cy="45720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T</a:t>
            </a:r>
            <a:endParaRPr lang="en-US" sz="1100" dirty="0"/>
          </a:p>
        </p:txBody>
      </p:sp>
      <p:sp>
        <p:nvSpPr>
          <p:cNvPr id="36" name="Shape 34"/>
          <p:cNvSpPr/>
          <p:nvPr/>
        </p:nvSpPr>
        <p:spPr>
          <a:xfrm>
            <a:off x="6126480" y="2606040"/>
            <a:ext cx="922020" cy="457200"/>
          </a:xfrm>
          <a:prstGeom prst="rect">
            <a:avLst/>
          </a:prstGeom>
          <a:solidFill>
            <a:srgbClr val="FFFFFF"/>
          </a:solidFill>
          <a:ln w="6350">
            <a:solidFill>
              <a:srgbClr val="CADCFC"/>
            </a:solidFill>
            <a:prstDash val="solid"/>
          </a:ln>
        </p:spPr>
      </p:sp>
      <p:sp>
        <p:nvSpPr>
          <p:cNvPr id="37" name="Text 35"/>
          <p:cNvSpPr/>
          <p:nvPr/>
        </p:nvSpPr>
        <p:spPr>
          <a:xfrm>
            <a:off x="6126480" y="26060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T</a:t>
            </a:r>
            <a:endParaRPr lang="en-US" sz="1100" dirty="0"/>
          </a:p>
        </p:txBody>
      </p:sp>
      <p:sp>
        <p:nvSpPr>
          <p:cNvPr id="38" name="Shape 36"/>
          <p:cNvSpPr/>
          <p:nvPr/>
        </p:nvSpPr>
        <p:spPr>
          <a:xfrm>
            <a:off x="7048500" y="2606040"/>
            <a:ext cx="922020" cy="457200"/>
          </a:xfrm>
          <a:prstGeom prst="rect">
            <a:avLst/>
          </a:prstGeom>
          <a:solidFill>
            <a:srgbClr val="FFFFFF"/>
          </a:solidFill>
          <a:ln w="6350">
            <a:solidFill>
              <a:srgbClr val="CADCFC"/>
            </a:solidFill>
            <a:prstDash val="solid"/>
          </a:ln>
        </p:spPr>
      </p:sp>
      <p:sp>
        <p:nvSpPr>
          <p:cNvPr id="39" name="Text 37"/>
          <p:cNvSpPr/>
          <p:nvPr/>
        </p:nvSpPr>
        <p:spPr>
          <a:xfrm>
            <a:off x="7048500" y="26060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F</a:t>
            </a:r>
            <a:endParaRPr lang="en-US" sz="1100" dirty="0"/>
          </a:p>
        </p:txBody>
      </p:sp>
      <p:sp>
        <p:nvSpPr>
          <p:cNvPr id="40" name="Shape 38"/>
          <p:cNvSpPr/>
          <p:nvPr/>
        </p:nvSpPr>
        <p:spPr>
          <a:xfrm>
            <a:off x="7970520" y="2606040"/>
            <a:ext cx="922020" cy="457200"/>
          </a:xfrm>
          <a:prstGeom prst="rect">
            <a:avLst/>
          </a:prstGeom>
          <a:solidFill>
            <a:srgbClr val="FFFFFF"/>
          </a:solidFill>
          <a:ln w="6350">
            <a:solidFill>
              <a:srgbClr val="CADCFC"/>
            </a:solidFill>
            <a:prstDash val="solid"/>
          </a:ln>
        </p:spPr>
      </p:sp>
      <p:sp>
        <p:nvSpPr>
          <p:cNvPr id="41" name="Text 39"/>
          <p:cNvSpPr/>
          <p:nvPr/>
        </p:nvSpPr>
        <p:spPr>
          <a:xfrm>
            <a:off x="7970520" y="26060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T</a:t>
            </a:r>
            <a:endParaRPr lang="en-US" sz="1100" dirty="0"/>
          </a:p>
        </p:txBody>
      </p:sp>
      <p:sp>
        <p:nvSpPr>
          <p:cNvPr id="42" name="Shape 40"/>
          <p:cNvSpPr/>
          <p:nvPr/>
        </p:nvSpPr>
        <p:spPr>
          <a:xfrm>
            <a:off x="8892540" y="2606040"/>
            <a:ext cx="922020" cy="457200"/>
          </a:xfrm>
          <a:prstGeom prst="rect">
            <a:avLst/>
          </a:prstGeom>
          <a:solidFill>
            <a:srgbClr val="FFFFFF"/>
          </a:solidFill>
          <a:ln w="6350">
            <a:solidFill>
              <a:srgbClr val="CADCFC"/>
            </a:solidFill>
            <a:prstDash val="solid"/>
          </a:ln>
        </p:spPr>
      </p:sp>
      <p:sp>
        <p:nvSpPr>
          <p:cNvPr id="43" name="Text 41"/>
          <p:cNvSpPr/>
          <p:nvPr/>
        </p:nvSpPr>
        <p:spPr>
          <a:xfrm>
            <a:off x="8892540" y="26060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T</a:t>
            </a:r>
            <a:endParaRPr lang="en-US" sz="1100" dirty="0"/>
          </a:p>
        </p:txBody>
      </p:sp>
      <p:sp>
        <p:nvSpPr>
          <p:cNvPr id="44" name="Shape 42"/>
          <p:cNvSpPr/>
          <p:nvPr/>
        </p:nvSpPr>
        <p:spPr>
          <a:xfrm>
            <a:off x="9814560" y="2606040"/>
            <a:ext cx="922020" cy="457200"/>
          </a:xfrm>
          <a:prstGeom prst="rect">
            <a:avLst/>
          </a:prstGeom>
          <a:solidFill>
            <a:srgbClr val="FFFFFF"/>
          </a:solidFill>
          <a:ln w="6350">
            <a:solidFill>
              <a:srgbClr val="CADCFC"/>
            </a:solidFill>
            <a:prstDash val="solid"/>
          </a:ln>
        </p:spPr>
      </p:sp>
      <p:sp>
        <p:nvSpPr>
          <p:cNvPr id="45" name="Text 43"/>
          <p:cNvSpPr/>
          <p:nvPr/>
        </p:nvSpPr>
        <p:spPr>
          <a:xfrm>
            <a:off x="9814560" y="26060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F</a:t>
            </a:r>
            <a:endParaRPr lang="en-US" sz="1100" dirty="0"/>
          </a:p>
        </p:txBody>
      </p:sp>
      <p:sp>
        <p:nvSpPr>
          <p:cNvPr id="46" name="Shape 44"/>
          <p:cNvSpPr/>
          <p:nvPr/>
        </p:nvSpPr>
        <p:spPr>
          <a:xfrm>
            <a:off x="10736580" y="2606040"/>
            <a:ext cx="922020" cy="457200"/>
          </a:xfrm>
          <a:prstGeom prst="rect">
            <a:avLst/>
          </a:prstGeom>
          <a:solidFill>
            <a:srgbClr val="FFFFFF"/>
          </a:solidFill>
          <a:ln w="6350">
            <a:solidFill>
              <a:srgbClr val="CADCFC"/>
            </a:solidFill>
            <a:prstDash val="solid"/>
          </a:ln>
        </p:spPr>
      </p:sp>
      <p:sp>
        <p:nvSpPr>
          <p:cNvPr id="47" name="Text 45"/>
          <p:cNvSpPr/>
          <p:nvPr/>
        </p:nvSpPr>
        <p:spPr>
          <a:xfrm>
            <a:off x="10736580" y="2606040"/>
            <a:ext cx="922020" cy="45720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F</a:t>
            </a:r>
            <a:endParaRPr lang="en-US" sz="1100" dirty="0"/>
          </a:p>
        </p:txBody>
      </p:sp>
      <p:sp>
        <p:nvSpPr>
          <p:cNvPr id="48" name="Shape 46"/>
          <p:cNvSpPr/>
          <p:nvPr/>
        </p:nvSpPr>
        <p:spPr>
          <a:xfrm>
            <a:off x="6126480" y="3063240"/>
            <a:ext cx="922020" cy="457200"/>
          </a:xfrm>
          <a:prstGeom prst="rect">
            <a:avLst/>
          </a:prstGeom>
          <a:solidFill>
            <a:srgbClr val="EEF2FB"/>
          </a:solidFill>
          <a:ln w="6350">
            <a:solidFill>
              <a:srgbClr val="CADCFC"/>
            </a:solidFill>
            <a:prstDash val="solid"/>
          </a:ln>
        </p:spPr>
      </p:sp>
      <p:sp>
        <p:nvSpPr>
          <p:cNvPr id="49" name="Text 47"/>
          <p:cNvSpPr/>
          <p:nvPr/>
        </p:nvSpPr>
        <p:spPr>
          <a:xfrm>
            <a:off x="6126480" y="30632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F</a:t>
            </a:r>
            <a:endParaRPr lang="en-US" sz="1100" dirty="0"/>
          </a:p>
        </p:txBody>
      </p:sp>
      <p:sp>
        <p:nvSpPr>
          <p:cNvPr id="50" name="Shape 48"/>
          <p:cNvSpPr/>
          <p:nvPr/>
        </p:nvSpPr>
        <p:spPr>
          <a:xfrm>
            <a:off x="7048500" y="3063240"/>
            <a:ext cx="922020" cy="457200"/>
          </a:xfrm>
          <a:prstGeom prst="rect">
            <a:avLst/>
          </a:prstGeom>
          <a:solidFill>
            <a:srgbClr val="EEF2FB"/>
          </a:solidFill>
          <a:ln w="6350">
            <a:solidFill>
              <a:srgbClr val="CADCFC"/>
            </a:solidFill>
            <a:prstDash val="solid"/>
          </a:ln>
        </p:spPr>
      </p:sp>
      <p:sp>
        <p:nvSpPr>
          <p:cNvPr id="51" name="Text 49"/>
          <p:cNvSpPr/>
          <p:nvPr/>
        </p:nvSpPr>
        <p:spPr>
          <a:xfrm>
            <a:off x="7048500" y="30632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T</a:t>
            </a:r>
            <a:endParaRPr lang="en-US" sz="1100" dirty="0"/>
          </a:p>
        </p:txBody>
      </p:sp>
      <p:sp>
        <p:nvSpPr>
          <p:cNvPr id="52" name="Shape 50"/>
          <p:cNvSpPr/>
          <p:nvPr/>
        </p:nvSpPr>
        <p:spPr>
          <a:xfrm>
            <a:off x="7970520" y="3063240"/>
            <a:ext cx="922020" cy="457200"/>
          </a:xfrm>
          <a:prstGeom prst="rect">
            <a:avLst/>
          </a:prstGeom>
          <a:solidFill>
            <a:srgbClr val="EEF2FB"/>
          </a:solidFill>
          <a:ln w="6350">
            <a:solidFill>
              <a:srgbClr val="CADCFC"/>
            </a:solidFill>
            <a:prstDash val="solid"/>
          </a:ln>
        </p:spPr>
      </p:sp>
      <p:sp>
        <p:nvSpPr>
          <p:cNvPr id="53" name="Text 51"/>
          <p:cNvSpPr/>
          <p:nvPr/>
        </p:nvSpPr>
        <p:spPr>
          <a:xfrm>
            <a:off x="7970520" y="30632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F</a:t>
            </a:r>
            <a:endParaRPr lang="en-US" sz="1100" dirty="0"/>
          </a:p>
        </p:txBody>
      </p:sp>
      <p:sp>
        <p:nvSpPr>
          <p:cNvPr id="54" name="Shape 52"/>
          <p:cNvSpPr/>
          <p:nvPr/>
        </p:nvSpPr>
        <p:spPr>
          <a:xfrm>
            <a:off x="8892540" y="3063240"/>
            <a:ext cx="922020" cy="457200"/>
          </a:xfrm>
          <a:prstGeom prst="rect">
            <a:avLst/>
          </a:prstGeom>
          <a:solidFill>
            <a:srgbClr val="EEF2FB"/>
          </a:solidFill>
          <a:ln w="6350">
            <a:solidFill>
              <a:srgbClr val="CADCFC"/>
            </a:solidFill>
            <a:prstDash val="solid"/>
          </a:ln>
        </p:spPr>
      </p:sp>
      <p:sp>
        <p:nvSpPr>
          <p:cNvPr id="55" name="Text 53"/>
          <p:cNvSpPr/>
          <p:nvPr/>
        </p:nvSpPr>
        <p:spPr>
          <a:xfrm>
            <a:off x="8892540" y="30632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F</a:t>
            </a:r>
            <a:endParaRPr lang="en-US" sz="1100" dirty="0"/>
          </a:p>
        </p:txBody>
      </p:sp>
      <p:sp>
        <p:nvSpPr>
          <p:cNvPr id="56" name="Shape 54"/>
          <p:cNvSpPr/>
          <p:nvPr/>
        </p:nvSpPr>
        <p:spPr>
          <a:xfrm>
            <a:off x="9814560" y="3063240"/>
            <a:ext cx="922020" cy="457200"/>
          </a:xfrm>
          <a:prstGeom prst="rect">
            <a:avLst/>
          </a:prstGeom>
          <a:solidFill>
            <a:srgbClr val="EEF2FB"/>
          </a:solidFill>
          <a:ln w="6350">
            <a:solidFill>
              <a:srgbClr val="CADCFC"/>
            </a:solidFill>
            <a:prstDash val="solid"/>
          </a:ln>
        </p:spPr>
      </p:sp>
      <p:sp>
        <p:nvSpPr>
          <p:cNvPr id="57" name="Text 55"/>
          <p:cNvSpPr/>
          <p:nvPr/>
        </p:nvSpPr>
        <p:spPr>
          <a:xfrm>
            <a:off x="9814560" y="30632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F</a:t>
            </a:r>
            <a:endParaRPr lang="en-US" sz="1100" dirty="0"/>
          </a:p>
        </p:txBody>
      </p:sp>
      <p:sp>
        <p:nvSpPr>
          <p:cNvPr id="58" name="Shape 56"/>
          <p:cNvSpPr/>
          <p:nvPr/>
        </p:nvSpPr>
        <p:spPr>
          <a:xfrm>
            <a:off x="10736580" y="3063240"/>
            <a:ext cx="922020" cy="457200"/>
          </a:xfrm>
          <a:prstGeom prst="rect">
            <a:avLst/>
          </a:prstGeom>
          <a:solidFill>
            <a:srgbClr val="EEF2FB"/>
          </a:solidFill>
          <a:ln w="6350">
            <a:solidFill>
              <a:srgbClr val="CADCFC"/>
            </a:solidFill>
            <a:prstDash val="solid"/>
          </a:ln>
        </p:spPr>
      </p:sp>
      <p:sp>
        <p:nvSpPr>
          <p:cNvPr id="59" name="Text 57"/>
          <p:cNvSpPr/>
          <p:nvPr/>
        </p:nvSpPr>
        <p:spPr>
          <a:xfrm>
            <a:off x="10736580" y="3063240"/>
            <a:ext cx="922020" cy="45720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T</a:t>
            </a:r>
            <a:endParaRPr lang="en-US" sz="1100" dirty="0"/>
          </a:p>
        </p:txBody>
      </p:sp>
      <p:sp>
        <p:nvSpPr>
          <p:cNvPr id="60" name="Shape 58"/>
          <p:cNvSpPr/>
          <p:nvPr/>
        </p:nvSpPr>
        <p:spPr>
          <a:xfrm>
            <a:off x="6126480" y="3520440"/>
            <a:ext cx="922020" cy="457200"/>
          </a:xfrm>
          <a:prstGeom prst="rect">
            <a:avLst/>
          </a:prstGeom>
          <a:solidFill>
            <a:srgbClr val="FFFFFF"/>
          </a:solidFill>
          <a:ln w="6350">
            <a:solidFill>
              <a:srgbClr val="CADCFC"/>
            </a:solidFill>
            <a:prstDash val="solid"/>
          </a:ln>
        </p:spPr>
      </p:sp>
      <p:sp>
        <p:nvSpPr>
          <p:cNvPr id="61" name="Text 59"/>
          <p:cNvSpPr/>
          <p:nvPr/>
        </p:nvSpPr>
        <p:spPr>
          <a:xfrm>
            <a:off x="6126480" y="35204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F</a:t>
            </a:r>
            <a:endParaRPr lang="en-US" sz="1100" dirty="0"/>
          </a:p>
        </p:txBody>
      </p:sp>
      <p:sp>
        <p:nvSpPr>
          <p:cNvPr id="62" name="Shape 60"/>
          <p:cNvSpPr/>
          <p:nvPr/>
        </p:nvSpPr>
        <p:spPr>
          <a:xfrm>
            <a:off x="7048500" y="3520440"/>
            <a:ext cx="922020" cy="457200"/>
          </a:xfrm>
          <a:prstGeom prst="rect">
            <a:avLst/>
          </a:prstGeom>
          <a:solidFill>
            <a:srgbClr val="FFFFFF"/>
          </a:solidFill>
          <a:ln w="6350">
            <a:solidFill>
              <a:srgbClr val="CADCFC"/>
            </a:solidFill>
            <a:prstDash val="solid"/>
          </a:ln>
        </p:spPr>
      </p:sp>
      <p:sp>
        <p:nvSpPr>
          <p:cNvPr id="63" name="Text 61"/>
          <p:cNvSpPr/>
          <p:nvPr/>
        </p:nvSpPr>
        <p:spPr>
          <a:xfrm>
            <a:off x="7048500" y="35204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F</a:t>
            </a:r>
            <a:endParaRPr lang="en-US" sz="1100" dirty="0"/>
          </a:p>
        </p:txBody>
      </p:sp>
      <p:sp>
        <p:nvSpPr>
          <p:cNvPr id="64" name="Shape 62"/>
          <p:cNvSpPr/>
          <p:nvPr/>
        </p:nvSpPr>
        <p:spPr>
          <a:xfrm>
            <a:off x="7970520" y="3520440"/>
            <a:ext cx="922020" cy="457200"/>
          </a:xfrm>
          <a:prstGeom prst="rect">
            <a:avLst/>
          </a:prstGeom>
          <a:solidFill>
            <a:srgbClr val="FFFFFF"/>
          </a:solidFill>
          <a:ln w="6350">
            <a:solidFill>
              <a:srgbClr val="CADCFC"/>
            </a:solidFill>
            <a:prstDash val="solid"/>
          </a:ln>
        </p:spPr>
      </p:sp>
      <p:sp>
        <p:nvSpPr>
          <p:cNvPr id="65" name="Text 63"/>
          <p:cNvSpPr/>
          <p:nvPr/>
        </p:nvSpPr>
        <p:spPr>
          <a:xfrm>
            <a:off x="7970520" y="35204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T</a:t>
            </a:r>
            <a:endParaRPr lang="en-US" sz="1100" dirty="0"/>
          </a:p>
        </p:txBody>
      </p:sp>
      <p:sp>
        <p:nvSpPr>
          <p:cNvPr id="66" name="Shape 64"/>
          <p:cNvSpPr/>
          <p:nvPr/>
        </p:nvSpPr>
        <p:spPr>
          <a:xfrm>
            <a:off x="8892540" y="3520440"/>
            <a:ext cx="922020" cy="457200"/>
          </a:xfrm>
          <a:prstGeom prst="rect">
            <a:avLst/>
          </a:prstGeom>
          <a:solidFill>
            <a:srgbClr val="FFFFFF"/>
          </a:solidFill>
          <a:ln w="6350">
            <a:solidFill>
              <a:srgbClr val="CADCFC"/>
            </a:solidFill>
            <a:prstDash val="solid"/>
          </a:ln>
        </p:spPr>
      </p:sp>
      <p:sp>
        <p:nvSpPr>
          <p:cNvPr id="67" name="Text 65"/>
          <p:cNvSpPr/>
          <p:nvPr/>
        </p:nvSpPr>
        <p:spPr>
          <a:xfrm>
            <a:off x="8892540" y="35204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T</a:t>
            </a:r>
            <a:endParaRPr lang="en-US" sz="1100" dirty="0"/>
          </a:p>
        </p:txBody>
      </p:sp>
      <p:sp>
        <p:nvSpPr>
          <p:cNvPr id="68" name="Shape 66"/>
          <p:cNvSpPr/>
          <p:nvPr/>
        </p:nvSpPr>
        <p:spPr>
          <a:xfrm>
            <a:off x="9814560" y="3520440"/>
            <a:ext cx="922020" cy="457200"/>
          </a:xfrm>
          <a:prstGeom prst="rect">
            <a:avLst/>
          </a:prstGeom>
          <a:solidFill>
            <a:srgbClr val="FFFFFF"/>
          </a:solidFill>
          <a:ln w="6350">
            <a:solidFill>
              <a:srgbClr val="CADCFC"/>
            </a:solidFill>
            <a:prstDash val="solid"/>
          </a:ln>
        </p:spPr>
      </p:sp>
      <p:sp>
        <p:nvSpPr>
          <p:cNvPr id="69" name="Text 67"/>
          <p:cNvSpPr/>
          <p:nvPr/>
        </p:nvSpPr>
        <p:spPr>
          <a:xfrm>
            <a:off x="9814560" y="3520440"/>
            <a:ext cx="922020" cy="457200"/>
          </a:xfrm>
          <a:prstGeom prst="rect">
            <a:avLst/>
          </a:prstGeom>
          <a:noFill/>
          <a:ln/>
        </p:spPr>
        <p:txBody>
          <a:bodyPr wrap="square" rtlCol="0" anchor="ctr"/>
          <a:lstStyle/>
          <a:p>
            <a:pPr marL="0" indent="0" algn="ctr">
              <a:buNone/>
            </a:pPr>
            <a:r>
              <a:rPr lang="en-US" sz="1100" dirty="0">
                <a:solidFill>
                  <a:srgbClr val="26304A"/>
                </a:solidFill>
                <a:latin typeface="Calibri" pitchFamily="34" charset="0"/>
                <a:ea typeface="Calibri" pitchFamily="34" charset="-122"/>
                <a:cs typeface="Calibri" pitchFamily="34" charset="-120"/>
              </a:rPr>
              <a:t>F</a:t>
            </a:r>
            <a:endParaRPr lang="en-US" sz="1100" dirty="0"/>
          </a:p>
        </p:txBody>
      </p:sp>
      <p:sp>
        <p:nvSpPr>
          <p:cNvPr id="70" name="Shape 68"/>
          <p:cNvSpPr/>
          <p:nvPr/>
        </p:nvSpPr>
        <p:spPr>
          <a:xfrm>
            <a:off x="10736580" y="3520440"/>
            <a:ext cx="922020" cy="457200"/>
          </a:xfrm>
          <a:prstGeom prst="rect">
            <a:avLst/>
          </a:prstGeom>
          <a:solidFill>
            <a:srgbClr val="FFFFFF"/>
          </a:solidFill>
          <a:ln w="6350">
            <a:solidFill>
              <a:srgbClr val="CADCFC"/>
            </a:solidFill>
            <a:prstDash val="solid"/>
          </a:ln>
        </p:spPr>
      </p:sp>
      <p:sp>
        <p:nvSpPr>
          <p:cNvPr id="71" name="Text 69"/>
          <p:cNvSpPr/>
          <p:nvPr/>
        </p:nvSpPr>
        <p:spPr>
          <a:xfrm>
            <a:off x="10736580" y="3520440"/>
            <a:ext cx="922020" cy="45720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F</a:t>
            </a:r>
            <a:endParaRPr lang="en-US" sz="1100" dirty="0"/>
          </a:p>
        </p:txBody>
      </p:sp>
      <p:sp>
        <p:nvSpPr>
          <p:cNvPr id="72" name="Shape 70"/>
          <p:cNvSpPr/>
          <p:nvPr/>
        </p:nvSpPr>
        <p:spPr>
          <a:xfrm>
            <a:off x="6126480" y="3977640"/>
            <a:ext cx="5532120" cy="914400"/>
          </a:xfrm>
          <a:prstGeom prst="roundRect">
            <a:avLst>
              <a:gd name="adj" fmla="val 8000"/>
            </a:avLst>
          </a:prstGeom>
          <a:solidFill>
            <a:srgbClr val="FBF3E4"/>
          </a:solidFill>
          <a:ln/>
        </p:spPr>
      </p:sp>
      <p:sp>
        <p:nvSpPr>
          <p:cNvPr id="73" name="Text 71"/>
          <p:cNvSpPr/>
          <p:nvPr/>
        </p:nvSpPr>
        <p:spPr>
          <a:xfrm>
            <a:off x="6355080" y="4069080"/>
            <a:ext cx="5074920" cy="731520"/>
          </a:xfrm>
          <a:prstGeom prst="rect">
            <a:avLst/>
          </a:prstGeom>
          <a:noFill/>
          <a:ln/>
        </p:spPr>
        <p:txBody>
          <a:bodyPr wrap="square" rtlCol="0" anchor="ctr"/>
          <a:lstStyle/>
          <a:p>
            <a:pPr marL="0" indent="0">
              <a:lnSpc>
                <a:spcPct val="120000"/>
              </a:lnSpc>
              <a:buNone/>
            </a:pPr>
            <a:r>
              <a:rPr lang="en-US" sz="1050" dirty="0">
                <a:solidFill>
                  <a:srgbClr val="26304A"/>
                </a:solidFill>
                <a:latin typeface="Calibri" pitchFamily="34" charset="0"/>
                <a:ea typeface="Calibri" pitchFamily="34" charset="-122"/>
                <a:cs typeface="Calibri" pitchFamily="34" charset="-120"/>
              </a:rPr>
              <a:t>Reading the build-up: column 3 gives ¬q, column 4 combines it with p to get p∨¬q, column 5 gives p∧q, and the final column applies → across columns 4 and 5.</a:t>
            </a:r>
            <a:endParaRPr lang="en-US" sz="1050" dirty="0"/>
          </a:p>
        </p:txBody>
      </p:sp>
      <p:sp>
        <p:nvSpPr>
          <p:cNvPr id="74" name="Text 72"/>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590"/>
                </a:solidFill>
                <a:latin typeface="Calibri" pitchFamily="34" charset="0"/>
                <a:ea typeface="Calibri" pitchFamily="34" charset="-122"/>
                <a:cs typeface="Calibri" pitchFamily="34" charset="-120"/>
              </a:rPr>
              <a:t>Propositional Logic  |  Rosen, Discrete Mathematics 8e</a:t>
            </a:r>
            <a:endParaRPr lang="en-US" sz="900" dirty="0"/>
          </a:p>
        </p:txBody>
      </p:sp>
      <p:sp>
        <p:nvSpPr>
          <p:cNvPr id="75" name="Text 73"/>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B759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Tautology, Contradiction &amp; Contingency</a:t>
            </a:r>
            <a:endParaRPr lang="en-US" sz="2900" dirty="0"/>
          </a:p>
        </p:txBody>
      </p:sp>
      <p:sp>
        <p:nvSpPr>
          <p:cNvPr id="3" name="Shape 1"/>
          <p:cNvSpPr/>
          <p:nvPr/>
        </p:nvSpPr>
        <p:spPr>
          <a:xfrm>
            <a:off x="548640" y="1051560"/>
            <a:ext cx="1005840" cy="54864"/>
          </a:xfrm>
          <a:prstGeom prst="rect">
            <a:avLst/>
          </a:prstGeom>
          <a:solidFill>
            <a:srgbClr val="E8A33D"/>
          </a:solidFill>
          <a:ln/>
        </p:spPr>
      </p:sp>
      <p:sp>
        <p:nvSpPr>
          <p:cNvPr id="4" name="Shape 2"/>
          <p:cNvSpPr/>
          <p:nvPr/>
        </p:nvSpPr>
        <p:spPr>
          <a:xfrm>
            <a:off x="548640" y="1463040"/>
            <a:ext cx="3611880" cy="4023360"/>
          </a:xfrm>
          <a:prstGeom prst="roundRect">
            <a:avLst>
              <a:gd name="adj" fmla="val 2532"/>
            </a:avLst>
          </a:prstGeom>
          <a:solidFill>
            <a:srgbClr val="1E2761"/>
          </a:solidFill>
          <a:ln/>
        </p:spPr>
      </p:sp>
      <p:sp>
        <p:nvSpPr>
          <p:cNvPr id="5" name="Shape 3"/>
          <p:cNvSpPr/>
          <p:nvPr/>
        </p:nvSpPr>
        <p:spPr>
          <a:xfrm>
            <a:off x="1943100" y="1783080"/>
            <a:ext cx="822960" cy="822960"/>
          </a:xfrm>
          <a:prstGeom prst="ellipse">
            <a:avLst/>
          </a:prstGeom>
          <a:solidFill>
            <a:srgbClr val="E8A33D"/>
          </a:solidFill>
          <a:ln/>
        </p:spPr>
      </p:sp>
      <p:sp>
        <p:nvSpPr>
          <p:cNvPr id="6" name="Text 4"/>
          <p:cNvSpPr/>
          <p:nvPr/>
        </p:nvSpPr>
        <p:spPr>
          <a:xfrm>
            <a:off x="1943100" y="1783080"/>
            <a:ext cx="822960" cy="822960"/>
          </a:xfrm>
          <a:prstGeom prst="rect">
            <a:avLst/>
          </a:prstGeom>
          <a:noFill/>
          <a:ln/>
        </p:spPr>
        <p:txBody>
          <a:bodyPr wrap="square" rtlCol="0" anchor="ctr"/>
          <a:lstStyle/>
          <a:p>
            <a:pPr marL="0" indent="0" algn="ctr">
              <a:buNone/>
            </a:pPr>
            <a:r>
              <a:rPr lang="en-US" sz="2800" b="1" dirty="0">
                <a:solidFill>
                  <a:srgbClr val="1E2761"/>
                </a:solidFill>
                <a:latin typeface="Cambria" pitchFamily="34" charset="0"/>
                <a:ea typeface="Cambria" pitchFamily="34" charset="-122"/>
                <a:cs typeface="Cambria" pitchFamily="34" charset="-120"/>
              </a:rPr>
              <a:t>T</a:t>
            </a:r>
            <a:endParaRPr lang="en-US" sz="2800" dirty="0"/>
          </a:p>
        </p:txBody>
      </p:sp>
      <p:sp>
        <p:nvSpPr>
          <p:cNvPr id="7" name="Text 5"/>
          <p:cNvSpPr/>
          <p:nvPr/>
        </p:nvSpPr>
        <p:spPr>
          <a:xfrm>
            <a:off x="731520" y="2788920"/>
            <a:ext cx="3246120" cy="41148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Tautology</a:t>
            </a:r>
            <a:endParaRPr lang="en-US" sz="1800" dirty="0"/>
          </a:p>
        </p:txBody>
      </p:sp>
      <p:sp>
        <p:nvSpPr>
          <p:cNvPr id="8" name="Text 6"/>
          <p:cNvSpPr/>
          <p:nvPr/>
        </p:nvSpPr>
        <p:spPr>
          <a:xfrm>
            <a:off x="868680" y="3246120"/>
            <a:ext cx="2971800" cy="1097280"/>
          </a:xfrm>
          <a:prstGeom prst="rect">
            <a:avLst/>
          </a:prstGeom>
          <a:noFill/>
          <a:ln/>
        </p:spPr>
        <p:txBody>
          <a:bodyPr wrap="square" rtlCol="0" anchor="ctr"/>
          <a:lstStyle/>
          <a:p>
            <a:pPr marL="0" indent="0" algn="ctr">
              <a:lnSpc>
                <a:spcPct val="120000"/>
              </a:lnSpc>
              <a:buNone/>
            </a:pPr>
            <a:r>
              <a:rPr lang="en-US" sz="1150" dirty="0">
                <a:solidFill>
                  <a:srgbClr val="CFD6EE"/>
                </a:solidFill>
                <a:latin typeface="Calibri" pitchFamily="34" charset="0"/>
                <a:ea typeface="Calibri" pitchFamily="34" charset="-122"/>
                <a:cs typeface="Calibri" pitchFamily="34" charset="-120"/>
              </a:rPr>
              <a:t>"A compound proposition that is always true, no matter what the truth values of the propositional variables that occur in it."</a:t>
            </a:r>
            <a:endParaRPr lang="en-US" sz="1150" dirty="0"/>
          </a:p>
        </p:txBody>
      </p:sp>
      <p:sp>
        <p:nvSpPr>
          <p:cNvPr id="9" name="Shape 7"/>
          <p:cNvSpPr/>
          <p:nvPr/>
        </p:nvSpPr>
        <p:spPr>
          <a:xfrm>
            <a:off x="1005840" y="4434840"/>
            <a:ext cx="2697480" cy="777240"/>
          </a:xfrm>
          <a:prstGeom prst="roundRect">
            <a:avLst>
              <a:gd name="adj" fmla="val 7059"/>
            </a:avLst>
          </a:prstGeom>
          <a:solidFill>
            <a:srgbClr val="2A3679"/>
          </a:solidFill>
          <a:ln/>
        </p:spPr>
      </p:sp>
      <p:sp>
        <p:nvSpPr>
          <p:cNvPr id="10" name="Text 8"/>
          <p:cNvSpPr/>
          <p:nvPr/>
        </p:nvSpPr>
        <p:spPr>
          <a:xfrm>
            <a:off x="1005840" y="4498848"/>
            <a:ext cx="2697480" cy="365760"/>
          </a:xfrm>
          <a:prstGeom prst="rect">
            <a:avLst/>
          </a:prstGeom>
          <a:noFill/>
          <a:ln/>
        </p:spPr>
        <p:txBody>
          <a:bodyPr wrap="square" rtlCol="0" anchor="ctr"/>
          <a:lstStyle/>
          <a:p>
            <a:pPr marL="0" indent="0" algn="ctr">
              <a:buNone/>
            </a:pPr>
            <a:r>
              <a:rPr lang="en-US" sz="1600" b="1" dirty="0">
                <a:solidFill>
                  <a:srgbClr val="E8A33D"/>
                </a:solidFill>
                <a:latin typeface="Cambria" pitchFamily="34" charset="0"/>
                <a:ea typeface="Cambria" pitchFamily="34" charset="-122"/>
                <a:cs typeface="Cambria" pitchFamily="34" charset="-120"/>
              </a:rPr>
              <a:t>p ∨ ¬p</a:t>
            </a:r>
            <a:endParaRPr lang="en-US" sz="1600" dirty="0"/>
          </a:p>
        </p:txBody>
      </p:sp>
      <p:sp>
        <p:nvSpPr>
          <p:cNvPr id="11" name="Text 9"/>
          <p:cNvSpPr/>
          <p:nvPr/>
        </p:nvSpPr>
        <p:spPr>
          <a:xfrm>
            <a:off x="1005840" y="4864608"/>
            <a:ext cx="2697480" cy="320040"/>
          </a:xfrm>
          <a:prstGeom prst="rect">
            <a:avLst/>
          </a:prstGeom>
          <a:noFill/>
          <a:ln/>
        </p:spPr>
        <p:txBody>
          <a:bodyPr wrap="square" rtlCol="0" anchor="ctr"/>
          <a:lstStyle/>
          <a:p>
            <a:pPr marL="0" indent="0" algn="ctr">
              <a:buNone/>
            </a:pPr>
            <a:r>
              <a:rPr lang="en-US" sz="1000" i="1" dirty="0">
                <a:solidFill>
                  <a:srgbClr val="9AA6C7"/>
                </a:solidFill>
                <a:latin typeface="Calibri" pitchFamily="34" charset="0"/>
                <a:ea typeface="Calibri" pitchFamily="34" charset="-122"/>
                <a:cs typeface="Calibri" pitchFamily="34" charset="-120"/>
              </a:rPr>
              <a:t>always T</a:t>
            </a:r>
            <a:endParaRPr lang="en-US" sz="1000" dirty="0"/>
          </a:p>
        </p:txBody>
      </p:sp>
      <p:sp>
        <p:nvSpPr>
          <p:cNvPr id="12" name="Shape 10"/>
          <p:cNvSpPr/>
          <p:nvPr/>
        </p:nvSpPr>
        <p:spPr>
          <a:xfrm>
            <a:off x="4343400" y="1463040"/>
            <a:ext cx="3611880" cy="4023360"/>
          </a:xfrm>
          <a:prstGeom prst="roundRect">
            <a:avLst>
              <a:gd name="adj" fmla="val 2532"/>
            </a:avLst>
          </a:prstGeom>
          <a:solidFill>
            <a:srgbClr val="FFFFFF"/>
          </a:solidFill>
          <a:ln/>
        </p:spPr>
      </p:sp>
      <p:sp>
        <p:nvSpPr>
          <p:cNvPr id="13" name="Shape 11"/>
          <p:cNvSpPr/>
          <p:nvPr/>
        </p:nvSpPr>
        <p:spPr>
          <a:xfrm>
            <a:off x="5737860" y="1783080"/>
            <a:ext cx="822960" cy="822960"/>
          </a:xfrm>
          <a:prstGeom prst="ellipse">
            <a:avLst/>
          </a:prstGeom>
          <a:solidFill>
            <a:srgbClr val="E8A33D"/>
          </a:solidFill>
          <a:ln/>
        </p:spPr>
      </p:sp>
      <p:sp>
        <p:nvSpPr>
          <p:cNvPr id="14" name="Text 12"/>
          <p:cNvSpPr/>
          <p:nvPr/>
        </p:nvSpPr>
        <p:spPr>
          <a:xfrm>
            <a:off x="5737860" y="1783080"/>
            <a:ext cx="822960" cy="822960"/>
          </a:xfrm>
          <a:prstGeom prst="rect">
            <a:avLst/>
          </a:prstGeom>
          <a:noFill/>
          <a:ln/>
        </p:spPr>
        <p:txBody>
          <a:bodyPr wrap="square" rtlCol="0" anchor="ctr"/>
          <a:lstStyle/>
          <a:p>
            <a:pPr marL="0" indent="0" algn="ctr">
              <a:buNone/>
            </a:pPr>
            <a:r>
              <a:rPr lang="en-US" sz="2800" b="1" dirty="0">
                <a:solidFill>
                  <a:srgbClr val="1E2761"/>
                </a:solidFill>
                <a:latin typeface="Cambria" pitchFamily="34" charset="0"/>
                <a:ea typeface="Cambria" pitchFamily="34" charset="-122"/>
                <a:cs typeface="Cambria" pitchFamily="34" charset="-120"/>
              </a:rPr>
              <a:t>F</a:t>
            </a:r>
            <a:endParaRPr lang="en-US" sz="2800" dirty="0"/>
          </a:p>
        </p:txBody>
      </p:sp>
      <p:sp>
        <p:nvSpPr>
          <p:cNvPr id="15" name="Text 13"/>
          <p:cNvSpPr/>
          <p:nvPr/>
        </p:nvSpPr>
        <p:spPr>
          <a:xfrm>
            <a:off x="4526280" y="2788920"/>
            <a:ext cx="3246120" cy="411480"/>
          </a:xfrm>
          <a:prstGeom prst="rect">
            <a:avLst/>
          </a:prstGeom>
          <a:noFill/>
          <a:ln/>
        </p:spPr>
        <p:txBody>
          <a:bodyPr wrap="square"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Contradiction</a:t>
            </a:r>
            <a:endParaRPr lang="en-US" sz="1800" dirty="0"/>
          </a:p>
        </p:txBody>
      </p:sp>
      <p:sp>
        <p:nvSpPr>
          <p:cNvPr id="16" name="Text 14"/>
          <p:cNvSpPr/>
          <p:nvPr/>
        </p:nvSpPr>
        <p:spPr>
          <a:xfrm>
            <a:off x="4663440" y="3246120"/>
            <a:ext cx="2971800" cy="1097280"/>
          </a:xfrm>
          <a:prstGeom prst="rect">
            <a:avLst/>
          </a:prstGeom>
          <a:noFill/>
          <a:ln/>
        </p:spPr>
        <p:txBody>
          <a:bodyPr wrap="square" rtlCol="0" anchor="ctr"/>
          <a:lstStyle/>
          <a:p>
            <a:pPr marL="0" indent="0" algn="ctr">
              <a:lnSpc>
                <a:spcPct val="120000"/>
              </a:lnSpc>
              <a:buNone/>
            </a:pPr>
            <a:r>
              <a:rPr lang="en-US" sz="1150" dirty="0">
                <a:solidFill>
                  <a:srgbClr val="6B7590"/>
                </a:solidFill>
                <a:latin typeface="Calibri" pitchFamily="34" charset="0"/>
                <a:ea typeface="Calibri" pitchFamily="34" charset="-122"/>
                <a:cs typeface="Calibri" pitchFamily="34" charset="-120"/>
              </a:rPr>
              <a:t>"A compound proposition that is always false" — the opposite of a tautology.</a:t>
            </a:r>
            <a:endParaRPr lang="en-US" sz="1150" dirty="0"/>
          </a:p>
        </p:txBody>
      </p:sp>
      <p:sp>
        <p:nvSpPr>
          <p:cNvPr id="17" name="Shape 15"/>
          <p:cNvSpPr/>
          <p:nvPr/>
        </p:nvSpPr>
        <p:spPr>
          <a:xfrm>
            <a:off x="4800600" y="4434840"/>
            <a:ext cx="2697480" cy="777240"/>
          </a:xfrm>
          <a:prstGeom prst="roundRect">
            <a:avLst>
              <a:gd name="adj" fmla="val 7059"/>
            </a:avLst>
          </a:prstGeom>
          <a:solidFill>
            <a:srgbClr val="FFFFFF"/>
          </a:solidFill>
          <a:ln/>
        </p:spPr>
      </p:sp>
      <p:sp>
        <p:nvSpPr>
          <p:cNvPr id="18" name="Text 16"/>
          <p:cNvSpPr/>
          <p:nvPr/>
        </p:nvSpPr>
        <p:spPr>
          <a:xfrm>
            <a:off x="4800600" y="4498848"/>
            <a:ext cx="2697480" cy="36576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p ∧ ¬p</a:t>
            </a:r>
            <a:endParaRPr lang="en-US" sz="1600" dirty="0"/>
          </a:p>
        </p:txBody>
      </p:sp>
      <p:sp>
        <p:nvSpPr>
          <p:cNvPr id="19" name="Text 17"/>
          <p:cNvSpPr/>
          <p:nvPr/>
        </p:nvSpPr>
        <p:spPr>
          <a:xfrm>
            <a:off x="4800600" y="4864608"/>
            <a:ext cx="2697480" cy="320040"/>
          </a:xfrm>
          <a:prstGeom prst="rect">
            <a:avLst/>
          </a:prstGeom>
          <a:noFill/>
          <a:ln/>
        </p:spPr>
        <p:txBody>
          <a:bodyPr wrap="square" rtlCol="0" anchor="ctr"/>
          <a:lstStyle/>
          <a:p>
            <a:pPr marL="0" indent="0" algn="ctr">
              <a:buNone/>
            </a:pPr>
            <a:r>
              <a:rPr lang="en-US" sz="1000" i="1" dirty="0">
                <a:solidFill>
                  <a:srgbClr val="6B7590"/>
                </a:solidFill>
                <a:latin typeface="Calibri" pitchFamily="34" charset="0"/>
                <a:ea typeface="Calibri" pitchFamily="34" charset="-122"/>
                <a:cs typeface="Calibri" pitchFamily="34" charset="-120"/>
              </a:rPr>
              <a:t>always F</a:t>
            </a:r>
            <a:endParaRPr lang="en-US" sz="1000" dirty="0"/>
          </a:p>
        </p:txBody>
      </p:sp>
      <p:sp>
        <p:nvSpPr>
          <p:cNvPr id="20" name="Shape 18"/>
          <p:cNvSpPr/>
          <p:nvPr/>
        </p:nvSpPr>
        <p:spPr>
          <a:xfrm>
            <a:off x="8138160" y="1463040"/>
            <a:ext cx="3611880" cy="4023360"/>
          </a:xfrm>
          <a:prstGeom prst="roundRect">
            <a:avLst>
              <a:gd name="adj" fmla="val 2532"/>
            </a:avLst>
          </a:prstGeom>
          <a:solidFill>
            <a:srgbClr val="FFFFFF"/>
          </a:solidFill>
          <a:ln/>
        </p:spPr>
      </p:sp>
      <p:sp>
        <p:nvSpPr>
          <p:cNvPr id="21" name="Shape 19"/>
          <p:cNvSpPr/>
          <p:nvPr/>
        </p:nvSpPr>
        <p:spPr>
          <a:xfrm>
            <a:off x="9532620" y="1783080"/>
            <a:ext cx="822960" cy="822960"/>
          </a:xfrm>
          <a:prstGeom prst="ellipse">
            <a:avLst/>
          </a:prstGeom>
          <a:solidFill>
            <a:srgbClr val="E8A33D"/>
          </a:solidFill>
          <a:ln/>
        </p:spPr>
      </p:sp>
      <p:sp>
        <p:nvSpPr>
          <p:cNvPr id="22" name="Text 20"/>
          <p:cNvSpPr/>
          <p:nvPr/>
        </p:nvSpPr>
        <p:spPr>
          <a:xfrm>
            <a:off x="9532620" y="1783080"/>
            <a:ext cx="822960" cy="822960"/>
          </a:xfrm>
          <a:prstGeom prst="rect">
            <a:avLst/>
          </a:prstGeom>
          <a:noFill/>
          <a:ln/>
        </p:spPr>
        <p:txBody>
          <a:bodyPr wrap="square" rtlCol="0" anchor="ctr"/>
          <a:lstStyle/>
          <a:p>
            <a:pPr marL="0" indent="0" algn="ctr">
              <a:buNone/>
            </a:pPr>
            <a:r>
              <a:rPr lang="en-US" sz="2800" b="1" dirty="0">
                <a:solidFill>
                  <a:srgbClr val="1E2761"/>
                </a:solidFill>
                <a:latin typeface="Cambria" pitchFamily="34" charset="0"/>
                <a:ea typeface="Cambria" pitchFamily="34" charset="-122"/>
                <a:cs typeface="Cambria" pitchFamily="34" charset="-120"/>
              </a:rPr>
              <a:t>?</a:t>
            </a:r>
            <a:endParaRPr lang="en-US" sz="2800" dirty="0"/>
          </a:p>
        </p:txBody>
      </p:sp>
      <p:sp>
        <p:nvSpPr>
          <p:cNvPr id="23" name="Text 21"/>
          <p:cNvSpPr/>
          <p:nvPr/>
        </p:nvSpPr>
        <p:spPr>
          <a:xfrm>
            <a:off x="8321040" y="2788920"/>
            <a:ext cx="3246120" cy="411480"/>
          </a:xfrm>
          <a:prstGeom prst="rect">
            <a:avLst/>
          </a:prstGeom>
          <a:noFill/>
          <a:ln/>
        </p:spPr>
        <p:txBody>
          <a:bodyPr wrap="square"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Contingency</a:t>
            </a:r>
            <a:endParaRPr lang="en-US" sz="1800" dirty="0"/>
          </a:p>
        </p:txBody>
      </p:sp>
      <p:sp>
        <p:nvSpPr>
          <p:cNvPr id="24" name="Text 22"/>
          <p:cNvSpPr/>
          <p:nvPr/>
        </p:nvSpPr>
        <p:spPr>
          <a:xfrm>
            <a:off x="8458200" y="3246120"/>
            <a:ext cx="2971800" cy="1097280"/>
          </a:xfrm>
          <a:prstGeom prst="rect">
            <a:avLst/>
          </a:prstGeom>
          <a:noFill/>
          <a:ln/>
        </p:spPr>
        <p:txBody>
          <a:bodyPr wrap="square" rtlCol="0" anchor="ctr"/>
          <a:lstStyle/>
          <a:p>
            <a:pPr marL="0" indent="0" algn="ctr">
              <a:lnSpc>
                <a:spcPct val="120000"/>
              </a:lnSpc>
              <a:buNone/>
            </a:pPr>
            <a:r>
              <a:rPr lang="en-US" sz="1150" dirty="0">
                <a:solidFill>
                  <a:srgbClr val="6B7590"/>
                </a:solidFill>
                <a:latin typeface="Calibri" pitchFamily="34" charset="0"/>
                <a:ea typeface="Calibri" pitchFamily="34" charset="-122"/>
                <a:cs typeface="Calibri" pitchFamily="34" charset="-120"/>
              </a:rPr>
              <a:t>"A compound proposition that is neither a tautology nor a contradiction."</a:t>
            </a:r>
            <a:endParaRPr lang="en-US" sz="1150" dirty="0"/>
          </a:p>
        </p:txBody>
      </p:sp>
      <p:sp>
        <p:nvSpPr>
          <p:cNvPr id="25" name="Shape 23"/>
          <p:cNvSpPr/>
          <p:nvPr/>
        </p:nvSpPr>
        <p:spPr>
          <a:xfrm>
            <a:off x="8595360" y="4434840"/>
            <a:ext cx="2697480" cy="777240"/>
          </a:xfrm>
          <a:prstGeom prst="roundRect">
            <a:avLst>
              <a:gd name="adj" fmla="val 7059"/>
            </a:avLst>
          </a:prstGeom>
          <a:solidFill>
            <a:srgbClr val="FFFFFF"/>
          </a:solidFill>
          <a:ln/>
        </p:spPr>
      </p:sp>
      <p:sp>
        <p:nvSpPr>
          <p:cNvPr id="26" name="Text 24"/>
          <p:cNvSpPr/>
          <p:nvPr/>
        </p:nvSpPr>
        <p:spPr>
          <a:xfrm>
            <a:off x="8595360" y="4498848"/>
            <a:ext cx="2697480" cy="36576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p → q</a:t>
            </a:r>
            <a:endParaRPr lang="en-US" sz="1600" dirty="0"/>
          </a:p>
        </p:txBody>
      </p:sp>
      <p:sp>
        <p:nvSpPr>
          <p:cNvPr id="27" name="Text 25"/>
          <p:cNvSpPr/>
          <p:nvPr/>
        </p:nvSpPr>
        <p:spPr>
          <a:xfrm>
            <a:off x="8595360" y="4864608"/>
            <a:ext cx="2697480" cy="320040"/>
          </a:xfrm>
          <a:prstGeom prst="rect">
            <a:avLst/>
          </a:prstGeom>
          <a:noFill/>
          <a:ln/>
        </p:spPr>
        <p:txBody>
          <a:bodyPr wrap="square" rtlCol="0" anchor="ctr"/>
          <a:lstStyle/>
          <a:p>
            <a:pPr marL="0" indent="0" algn="ctr">
              <a:buNone/>
            </a:pPr>
            <a:r>
              <a:rPr lang="en-US" sz="1000" i="1" dirty="0">
                <a:solidFill>
                  <a:srgbClr val="6B7590"/>
                </a:solidFill>
                <a:latin typeface="Calibri" pitchFamily="34" charset="0"/>
                <a:ea typeface="Calibri" pitchFamily="34" charset="-122"/>
                <a:cs typeface="Calibri" pitchFamily="34" charset="-120"/>
              </a:rPr>
              <a:t>always T / F</a:t>
            </a:r>
            <a:endParaRPr lang="en-US" sz="1000" dirty="0"/>
          </a:p>
        </p:txBody>
      </p:sp>
      <p:sp>
        <p:nvSpPr>
          <p:cNvPr id="28" name="Text 26"/>
          <p:cNvSpPr/>
          <p:nvPr/>
        </p:nvSpPr>
        <p:spPr>
          <a:xfrm>
            <a:off x="548640" y="5623560"/>
            <a:ext cx="11064240" cy="502920"/>
          </a:xfrm>
          <a:prstGeom prst="rect">
            <a:avLst/>
          </a:prstGeom>
          <a:noFill/>
          <a:ln/>
        </p:spPr>
        <p:txBody>
          <a:bodyPr wrap="square" rtlCol="0" anchor="ctr"/>
          <a:lstStyle/>
          <a:p>
            <a:pPr marL="0" indent="0">
              <a:lnSpc>
                <a:spcPct val="115000"/>
              </a:lnSpc>
              <a:buNone/>
            </a:pPr>
            <a:r>
              <a:rPr lang="en-US" sz="1050" i="1" dirty="0">
                <a:solidFill>
                  <a:srgbClr val="6B7590"/>
                </a:solidFill>
                <a:latin typeface="Calibri" pitchFamily="34" charset="0"/>
                <a:ea typeface="Calibri" pitchFamily="34" charset="-122"/>
                <a:cs typeface="Calibri" pitchFamily="34" charset="-120"/>
              </a:rPr>
              <a:t>TABLE 1 / EXAMPLE 1 (book): "We can construct examples of tautologies and contradictions using just one propositional variable... Because p ∨ ¬p is always true, it is a tautology. Because p ∧ ¬p is always false, it is a contradiction."</a:t>
            </a:r>
            <a:endParaRPr lang="en-US" sz="1050" dirty="0"/>
          </a:p>
        </p:txBody>
      </p:sp>
      <p:sp>
        <p:nvSpPr>
          <p:cNvPr id="29" name="Text 27"/>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590"/>
                </a:solidFill>
                <a:latin typeface="Calibri" pitchFamily="34" charset="0"/>
                <a:ea typeface="Calibri" pitchFamily="34" charset="-122"/>
                <a:cs typeface="Calibri" pitchFamily="34" charset="-120"/>
              </a:rPr>
              <a:t>Propositional Logic  |  Rosen, Discrete Mathematics 8e</a:t>
            </a:r>
            <a:endParaRPr lang="en-US" sz="900" dirty="0"/>
          </a:p>
        </p:txBody>
      </p:sp>
      <p:sp>
        <p:nvSpPr>
          <p:cNvPr id="30" name="Text 28"/>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B759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D138A8-D080-5D8E-39BA-DEF32F673C31}"/>
              </a:ext>
            </a:extLst>
          </p:cNvPr>
          <p:cNvSpPr txBox="1"/>
          <p:nvPr/>
        </p:nvSpPr>
        <p:spPr>
          <a:xfrm>
            <a:off x="1017917" y="566678"/>
            <a:ext cx="8236069" cy="5632311"/>
          </a:xfrm>
          <a:prstGeom prst="rect">
            <a:avLst/>
          </a:prstGeom>
          <a:noFill/>
        </p:spPr>
        <p:txBody>
          <a:bodyPr wrap="square">
            <a:spAutoFit/>
          </a:bodyPr>
          <a:lstStyle/>
          <a:p>
            <a:r>
              <a:rPr lang="en-IN" sz="2400" b="1" dirty="0"/>
              <a:t>CONVERSE, CONTRAPOSITIVE, AND INVERSE -</a:t>
            </a:r>
            <a:r>
              <a:rPr lang="en-IN" sz="2400" dirty="0"/>
              <a:t>We can form some new conditional statements starting with a conditional statement p → q. </a:t>
            </a:r>
          </a:p>
          <a:p>
            <a:endParaRPr lang="en-IN" sz="2400" dirty="0"/>
          </a:p>
          <a:p>
            <a:r>
              <a:rPr lang="en-IN" sz="2400" dirty="0"/>
              <a:t>In particular, there are three related conditional statements that occur so often that they have special names. </a:t>
            </a:r>
          </a:p>
          <a:p>
            <a:r>
              <a:rPr lang="en-IN" sz="2400" dirty="0"/>
              <a:t>The proposition q → p is called the converse of p → q. </a:t>
            </a:r>
          </a:p>
          <a:p>
            <a:r>
              <a:rPr lang="en-IN" sz="2400" dirty="0"/>
              <a:t>The contrapositive of p → q is the proposition ¬q → ¬p. </a:t>
            </a:r>
          </a:p>
          <a:p>
            <a:r>
              <a:rPr lang="en-IN" sz="2400" dirty="0"/>
              <a:t>The proposition ¬p → ¬q is called the inverse of p → q. </a:t>
            </a:r>
          </a:p>
          <a:p>
            <a:r>
              <a:rPr lang="en-IN" sz="2400" dirty="0"/>
              <a:t>We will see that of these three </a:t>
            </a:r>
            <a:r>
              <a:rPr lang="en-IN" sz="2400" dirty="0" err="1"/>
              <a:t>condi</a:t>
            </a:r>
            <a:r>
              <a:rPr lang="en-IN" sz="2400" dirty="0"/>
              <a:t> </a:t>
            </a:r>
            <a:r>
              <a:rPr lang="en-IN" sz="2400" dirty="0" err="1"/>
              <a:t>tional</a:t>
            </a:r>
            <a:r>
              <a:rPr lang="en-IN" sz="2400" dirty="0"/>
              <a:t> statements formed from p → q, only the contrapositive always has the same truth value as p →q.</a:t>
            </a:r>
          </a:p>
          <a:p>
            <a:r>
              <a:rPr lang="en-IN" sz="2400" b="1" dirty="0"/>
              <a:t>Example -Find the contrapositive, the converse, and the inverse of the conditional statement Extra Examples “The home team wins whenever it is raining</a:t>
            </a:r>
            <a:r>
              <a:rPr lang="en-IN" sz="2400" dirty="0"/>
              <a:t>.”</a:t>
            </a:r>
          </a:p>
        </p:txBody>
      </p:sp>
    </p:spTree>
    <p:extLst>
      <p:ext uri="{BB962C8B-B14F-4D97-AF65-F5344CB8AC3E}">
        <p14:creationId xmlns:p14="http://schemas.microsoft.com/office/powerpoint/2010/main" val="1938827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971CD2-1BE3-2428-3533-7DB6F5C3A587}"/>
              </a:ext>
            </a:extLst>
          </p:cNvPr>
          <p:cNvSpPr txBox="1"/>
          <p:nvPr/>
        </p:nvSpPr>
        <p:spPr>
          <a:xfrm>
            <a:off x="1029903" y="338821"/>
            <a:ext cx="8442158" cy="5632311"/>
          </a:xfrm>
          <a:prstGeom prst="rect">
            <a:avLst/>
          </a:prstGeom>
          <a:noFill/>
        </p:spPr>
        <p:txBody>
          <a:bodyPr wrap="square">
            <a:spAutoFit/>
          </a:bodyPr>
          <a:lstStyle/>
          <a:p>
            <a:r>
              <a:rPr lang="en-IN" sz="2400" dirty="0"/>
              <a:t>Solution: Because “q whenever </a:t>
            </a:r>
            <a:r>
              <a:rPr lang="en-IN" sz="2400" dirty="0" err="1"/>
              <a:t>p”is</a:t>
            </a:r>
            <a:r>
              <a:rPr lang="en-IN" sz="2400" dirty="0"/>
              <a:t> one of the ways to express the conditional statement p → q, the original statement can be rewritten as </a:t>
            </a:r>
          </a:p>
          <a:p>
            <a:r>
              <a:rPr lang="en-IN" sz="2400" dirty="0"/>
              <a:t>“If it is raining, then the home team wins.” </a:t>
            </a:r>
          </a:p>
          <a:p>
            <a:r>
              <a:rPr lang="en-IN" sz="2400" dirty="0"/>
              <a:t>Consequently, </a:t>
            </a:r>
          </a:p>
          <a:p>
            <a:endParaRPr lang="en-IN" sz="2400" dirty="0"/>
          </a:p>
          <a:p>
            <a:r>
              <a:rPr lang="en-IN" sz="2400" b="1" dirty="0"/>
              <a:t>The contrapositive of this conditional statement is “If the home team does not win, then it is not raining</a:t>
            </a:r>
            <a:r>
              <a:rPr lang="en-IN" sz="2400" dirty="0"/>
              <a:t>.” </a:t>
            </a:r>
          </a:p>
          <a:p>
            <a:endParaRPr lang="en-IN" sz="2400" b="1" dirty="0"/>
          </a:p>
          <a:p>
            <a:r>
              <a:rPr lang="en-IN" sz="2400" b="1" dirty="0"/>
              <a:t>The converse is “If the home team wins, then it is raining.” </a:t>
            </a:r>
          </a:p>
          <a:p>
            <a:endParaRPr lang="en-IN" sz="2400" b="1" dirty="0"/>
          </a:p>
          <a:p>
            <a:r>
              <a:rPr lang="en-IN" sz="2400" b="1" dirty="0"/>
              <a:t>The inverse is “If it is not raining, then the home team does not win.” </a:t>
            </a:r>
            <a:r>
              <a:rPr lang="en-IN" sz="2400" dirty="0"/>
              <a:t>◂ </a:t>
            </a:r>
          </a:p>
          <a:p>
            <a:endParaRPr lang="en-IN" sz="2400" dirty="0"/>
          </a:p>
          <a:p>
            <a:r>
              <a:rPr lang="en-IN" sz="2400" dirty="0"/>
              <a:t>Only the contrapositive is equivalent to the original statement. </a:t>
            </a:r>
          </a:p>
        </p:txBody>
      </p:sp>
    </p:spTree>
    <p:extLst>
      <p:ext uri="{BB962C8B-B14F-4D97-AF65-F5344CB8AC3E}">
        <p14:creationId xmlns:p14="http://schemas.microsoft.com/office/powerpoint/2010/main" val="27077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AEDED5-38F1-0C17-7C0C-A38F60806EE4}"/>
              </a:ext>
            </a:extLst>
          </p:cNvPr>
          <p:cNvSpPr txBox="1"/>
          <p:nvPr/>
        </p:nvSpPr>
        <p:spPr>
          <a:xfrm>
            <a:off x="575108" y="569305"/>
            <a:ext cx="9926053" cy="3139321"/>
          </a:xfrm>
          <a:prstGeom prst="rect">
            <a:avLst/>
          </a:prstGeom>
          <a:noFill/>
        </p:spPr>
        <p:txBody>
          <a:bodyPr wrap="square">
            <a:spAutoFit/>
          </a:bodyPr>
          <a:lstStyle/>
          <a:p>
            <a:pPr>
              <a:buNone/>
            </a:pPr>
            <a:r>
              <a:rPr lang="en-IN" sz="2400" b="1" dirty="0"/>
              <a:t>Satisfiability = Finding whether there is at least one way to make a logical expression TRUE.</a:t>
            </a:r>
          </a:p>
          <a:p>
            <a:pPr>
              <a:buNone/>
            </a:pPr>
            <a:endParaRPr lang="en-IN" sz="2400" dirty="0"/>
          </a:p>
          <a:p>
            <a:pPr>
              <a:buNone/>
            </a:pPr>
            <a:r>
              <a:rPr lang="en-IN" sz="2400" b="1" dirty="0"/>
              <a:t>N-Queens = Finding whether there is at least one way to place the queens while satisfying all the rules</a:t>
            </a:r>
            <a:r>
              <a:rPr lang="en-IN" b="1" dirty="0"/>
              <a:t>.</a:t>
            </a:r>
          </a:p>
          <a:p>
            <a:pPr>
              <a:buNone/>
            </a:pPr>
            <a:endParaRPr lang="en-IN" b="1" dirty="0"/>
          </a:p>
          <a:p>
            <a:pPr>
              <a:buNone/>
            </a:pPr>
            <a:r>
              <a:rPr lang="en-IN" sz="2000" dirty="0"/>
              <a:t>The n-queens problem asks for a placement of n queens on an </a:t>
            </a:r>
            <a:r>
              <a:rPr lang="en-IN" sz="2000" dirty="0" err="1"/>
              <a:t>n×n</a:t>
            </a:r>
            <a:r>
              <a:rPr lang="en-IN" sz="2000" dirty="0"/>
              <a:t> chessboard so that no queen can attack another queen. This means that no two queens can be placed in the same row, in the same column, or on the same diagonal.</a:t>
            </a:r>
          </a:p>
        </p:txBody>
      </p:sp>
      <p:pic>
        <p:nvPicPr>
          <p:cNvPr id="5" name="Picture 4">
            <a:extLst>
              <a:ext uri="{FF2B5EF4-FFF2-40B4-BE49-F238E27FC236}">
                <a16:creationId xmlns:a16="http://schemas.microsoft.com/office/drawing/2014/main" id="{CA8D1ECD-961E-C301-DE24-B2D3A2EE4361}"/>
              </a:ext>
            </a:extLst>
          </p:cNvPr>
          <p:cNvPicPr>
            <a:picLocks noChangeAspect="1"/>
          </p:cNvPicPr>
          <p:nvPr/>
        </p:nvPicPr>
        <p:blipFill>
          <a:blip r:embed="rId2"/>
          <a:stretch>
            <a:fillRect/>
          </a:stretch>
        </p:blipFill>
        <p:spPr>
          <a:xfrm>
            <a:off x="4134711" y="3718679"/>
            <a:ext cx="3902383" cy="3139321"/>
          </a:xfrm>
          <a:prstGeom prst="rect">
            <a:avLst/>
          </a:prstGeom>
        </p:spPr>
      </p:pic>
    </p:spTree>
    <p:extLst>
      <p:ext uri="{BB962C8B-B14F-4D97-AF65-F5344CB8AC3E}">
        <p14:creationId xmlns:p14="http://schemas.microsoft.com/office/powerpoint/2010/main" val="3356850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3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Logical Equivalence</a:t>
            </a:r>
            <a:endParaRPr lang="en-US" sz="3200" dirty="0"/>
          </a:p>
        </p:txBody>
      </p:sp>
      <p:sp>
        <p:nvSpPr>
          <p:cNvPr id="3" name="Shape 1"/>
          <p:cNvSpPr/>
          <p:nvPr/>
        </p:nvSpPr>
        <p:spPr>
          <a:xfrm>
            <a:off x="548640" y="1051560"/>
            <a:ext cx="1005840" cy="54864"/>
          </a:xfrm>
          <a:prstGeom prst="rect">
            <a:avLst/>
          </a:prstGeom>
          <a:solidFill>
            <a:srgbClr val="E8A33D"/>
          </a:solidFill>
          <a:ln/>
        </p:spPr>
      </p:sp>
      <p:sp>
        <p:nvSpPr>
          <p:cNvPr id="4" name="Text 2"/>
          <p:cNvSpPr/>
          <p:nvPr/>
        </p:nvSpPr>
        <p:spPr>
          <a:xfrm>
            <a:off x="548640" y="1280160"/>
            <a:ext cx="10698480" cy="731520"/>
          </a:xfrm>
          <a:prstGeom prst="rect">
            <a:avLst/>
          </a:prstGeom>
          <a:noFill/>
          <a:ln/>
        </p:spPr>
        <p:txBody>
          <a:bodyPr wrap="square" rtlCol="0" anchor="ctr"/>
          <a:lstStyle/>
          <a:p>
            <a:pPr marL="0" indent="0">
              <a:lnSpc>
                <a:spcPct val="120000"/>
              </a:lnSpc>
              <a:buNone/>
            </a:pPr>
            <a:r>
              <a:rPr lang="en-US" sz="1300" i="1" dirty="0">
                <a:solidFill>
                  <a:srgbClr val="26304A"/>
                </a:solidFill>
                <a:latin typeface="Calibri" pitchFamily="34" charset="0"/>
                <a:ea typeface="Calibri" pitchFamily="34" charset="-122"/>
                <a:cs typeface="Calibri" pitchFamily="34" charset="-120"/>
              </a:rPr>
              <a:t>DEFINITION (book): "The compound propositions p and q are called logically equivalent if p ↔ q is a tautology. The notation p ≡ q denotes that p and q are logically equivalent."</a:t>
            </a:r>
            <a:endParaRPr lang="en-US" sz="1300" dirty="0"/>
          </a:p>
        </p:txBody>
      </p:sp>
      <p:sp>
        <p:nvSpPr>
          <p:cNvPr id="5" name="Text 3"/>
          <p:cNvSpPr/>
          <p:nvPr/>
        </p:nvSpPr>
        <p:spPr>
          <a:xfrm>
            <a:off x="548640" y="2148840"/>
            <a:ext cx="5486400" cy="320040"/>
          </a:xfrm>
          <a:prstGeom prst="rect">
            <a:avLst/>
          </a:prstGeom>
          <a:noFill/>
          <a:ln/>
        </p:spPr>
        <p:txBody>
          <a:bodyPr wrap="square" rtlCol="0" anchor="ctr"/>
          <a:lstStyle/>
          <a:p>
            <a:pPr marL="0" indent="0">
              <a:buNone/>
            </a:pPr>
            <a:r>
              <a:rPr lang="en-US" sz="1300" b="1" kern="0" spc="100" dirty="0">
                <a:solidFill>
                  <a:srgbClr val="E8A33D"/>
                </a:solidFill>
                <a:latin typeface="Calibri" pitchFamily="34" charset="0"/>
                <a:ea typeface="Calibri" pitchFamily="34" charset="-122"/>
                <a:cs typeface="Calibri" pitchFamily="34" charset="-120"/>
              </a:rPr>
              <a:t>DE MORGAN'S LAWS</a:t>
            </a:r>
            <a:endParaRPr lang="en-US" sz="1300" dirty="0"/>
          </a:p>
        </p:txBody>
      </p:sp>
      <p:sp>
        <p:nvSpPr>
          <p:cNvPr id="6" name="Shape 4"/>
          <p:cNvSpPr/>
          <p:nvPr/>
        </p:nvSpPr>
        <p:spPr>
          <a:xfrm>
            <a:off x="548640" y="2514600"/>
            <a:ext cx="5212080" cy="868680"/>
          </a:xfrm>
          <a:prstGeom prst="roundRect">
            <a:avLst>
              <a:gd name="adj" fmla="val 8421"/>
            </a:avLst>
          </a:prstGeom>
          <a:solidFill>
            <a:srgbClr val="1E2761"/>
          </a:solidFill>
          <a:ln/>
        </p:spPr>
      </p:sp>
      <p:sp>
        <p:nvSpPr>
          <p:cNvPr id="7" name="Text 5"/>
          <p:cNvSpPr/>
          <p:nvPr/>
        </p:nvSpPr>
        <p:spPr>
          <a:xfrm>
            <a:off x="731520" y="2514600"/>
            <a:ext cx="1920240" cy="86868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 ∧ q)</a:t>
            </a:r>
            <a:endParaRPr lang="en-US" sz="1800" dirty="0"/>
          </a:p>
        </p:txBody>
      </p:sp>
      <p:sp>
        <p:nvSpPr>
          <p:cNvPr id="8" name="Text 6"/>
          <p:cNvSpPr/>
          <p:nvPr/>
        </p:nvSpPr>
        <p:spPr>
          <a:xfrm>
            <a:off x="2651760" y="2514600"/>
            <a:ext cx="548640" cy="868680"/>
          </a:xfrm>
          <a:prstGeom prst="rect">
            <a:avLst/>
          </a:prstGeom>
          <a:noFill/>
          <a:ln/>
        </p:spPr>
        <p:txBody>
          <a:bodyPr wrap="square" rtlCol="0" anchor="ctr"/>
          <a:lstStyle/>
          <a:p>
            <a:pPr marL="0" indent="0" algn="ctr">
              <a:buNone/>
            </a:pPr>
            <a:r>
              <a:rPr lang="en-US" sz="1800" b="1" dirty="0">
                <a:solidFill>
                  <a:srgbClr val="E8A33D"/>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3200400" y="2514600"/>
            <a:ext cx="2468880" cy="86868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 ∨ ¬q</a:t>
            </a:r>
            <a:endParaRPr lang="en-US" sz="1800" dirty="0"/>
          </a:p>
        </p:txBody>
      </p:sp>
      <p:sp>
        <p:nvSpPr>
          <p:cNvPr id="10" name="Shape 8"/>
          <p:cNvSpPr/>
          <p:nvPr/>
        </p:nvSpPr>
        <p:spPr>
          <a:xfrm>
            <a:off x="548640" y="3566160"/>
            <a:ext cx="5212080" cy="868680"/>
          </a:xfrm>
          <a:prstGeom prst="roundRect">
            <a:avLst>
              <a:gd name="adj" fmla="val 8421"/>
            </a:avLst>
          </a:prstGeom>
          <a:solidFill>
            <a:srgbClr val="1E2761"/>
          </a:solidFill>
          <a:ln/>
        </p:spPr>
      </p:sp>
      <p:sp>
        <p:nvSpPr>
          <p:cNvPr id="11" name="Text 9"/>
          <p:cNvSpPr/>
          <p:nvPr/>
        </p:nvSpPr>
        <p:spPr>
          <a:xfrm>
            <a:off x="731520" y="3566160"/>
            <a:ext cx="1920240" cy="86868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 ∨ q)</a:t>
            </a:r>
            <a:endParaRPr lang="en-US" sz="1800" dirty="0"/>
          </a:p>
        </p:txBody>
      </p:sp>
      <p:sp>
        <p:nvSpPr>
          <p:cNvPr id="12" name="Text 10"/>
          <p:cNvSpPr/>
          <p:nvPr/>
        </p:nvSpPr>
        <p:spPr>
          <a:xfrm>
            <a:off x="2651760" y="3566160"/>
            <a:ext cx="548640" cy="868680"/>
          </a:xfrm>
          <a:prstGeom prst="rect">
            <a:avLst/>
          </a:prstGeom>
          <a:noFill/>
          <a:ln/>
        </p:spPr>
        <p:txBody>
          <a:bodyPr wrap="square" rtlCol="0" anchor="ctr"/>
          <a:lstStyle/>
          <a:p>
            <a:pPr marL="0" indent="0" algn="ctr">
              <a:buNone/>
            </a:pPr>
            <a:r>
              <a:rPr lang="en-US" sz="1800" b="1" dirty="0">
                <a:solidFill>
                  <a:srgbClr val="E8A33D"/>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200400" y="3566160"/>
            <a:ext cx="2468880" cy="86868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 ∧ ¬q</a:t>
            </a:r>
            <a:endParaRPr lang="en-US" sz="1800" dirty="0"/>
          </a:p>
        </p:txBody>
      </p:sp>
      <p:sp>
        <p:nvSpPr>
          <p:cNvPr id="14" name="Text 12"/>
          <p:cNvSpPr/>
          <p:nvPr/>
        </p:nvSpPr>
        <p:spPr>
          <a:xfrm>
            <a:off x="6126480" y="2148840"/>
            <a:ext cx="5486400" cy="457200"/>
          </a:xfrm>
          <a:prstGeom prst="rect">
            <a:avLst/>
          </a:prstGeom>
          <a:noFill/>
          <a:ln/>
        </p:spPr>
        <p:txBody>
          <a:bodyPr wrap="square"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EXAMPLE 2 (book) — Show that ¬(p ∨ q) and ¬p ∧ ¬q are logically equivalent.</a:t>
            </a:r>
            <a:endParaRPr lang="en-US" sz="1250" dirty="0"/>
          </a:p>
        </p:txBody>
      </p:sp>
      <p:sp>
        <p:nvSpPr>
          <p:cNvPr id="15" name="Text 13"/>
          <p:cNvSpPr/>
          <p:nvPr/>
        </p:nvSpPr>
        <p:spPr>
          <a:xfrm>
            <a:off x="6126480" y="2514600"/>
            <a:ext cx="5486400" cy="274320"/>
          </a:xfrm>
          <a:prstGeom prst="rect">
            <a:avLst/>
          </a:prstGeom>
          <a:noFill/>
          <a:ln/>
        </p:spPr>
        <p:txBody>
          <a:bodyPr wrap="square" rtlCol="0" anchor="ctr"/>
          <a:lstStyle/>
          <a:p>
            <a:pPr marL="0" indent="0">
              <a:buNone/>
            </a:pPr>
            <a:r>
              <a:rPr lang="en-US" sz="1050" dirty="0">
                <a:solidFill>
                  <a:srgbClr val="6B7590"/>
                </a:solidFill>
                <a:latin typeface="Calibri" pitchFamily="34" charset="0"/>
                <a:ea typeface="Calibri" pitchFamily="34" charset="-122"/>
                <a:cs typeface="Calibri" pitchFamily="34" charset="-120"/>
              </a:rPr>
              <a:t>TABLE 3</a:t>
            </a:r>
            <a:endParaRPr lang="en-US" sz="1050" dirty="0"/>
          </a:p>
        </p:txBody>
      </p:sp>
      <p:sp>
        <p:nvSpPr>
          <p:cNvPr id="16" name="Shape 14"/>
          <p:cNvSpPr/>
          <p:nvPr/>
        </p:nvSpPr>
        <p:spPr>
          <a:xfrm>
            <a:off x="6126480" y="2834640"/>
            <a:ext cx="790303" cy="365760"/>
          </a:xfrm>
          <a:prstGeom prst="rect">
            <a:avLst/>
          </a:prstGeom>
          <a:solidFill>
            <a:srgbClr val="1E2761"/>
          </a:solidFill>
          <a:ln w="6350">
            <a:solidFill>
              <a:srgbClr val="FFFFFF"/>
            </a:solidFill>
            <a:prstDash val="solid"/>
          </a:ln>
        </p:spPr>
      </p:sp>
      <p:sp>
        <p:nvSpPr>
          <p:cNvPr id="17" name="Text 15"/>
          <p:cNvSpPr/>
          <p:nvPr/>
        </p:nvSpPr>
        <p:spPr>
          <a:xfrm>
            <a:off x="6126480" y="2834640"/>
            <a:ext cx="790303"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t>
            </a:r>
            <a:endParaRPr lang="en-US" sz="1000" dirty="0"/>
          </a:p>
        </p:txBody>
      </p:sp>
      <p:sp>
        <p:nvSpPr>
          <p:cNvPr id="18" name="Shape 16"/>
          <p:cNvSpPr/>
          <p:nvPr/>
        </p:nvSpPr>
        <p:spPr>
          <a:xfrm>
            <a:off x="6916783" y="2834640"/>
            <a:ext cx="790303" cy="365760"/>
          </a:xfrm>
          <a:prstGeom prst="rect">
            <a:avLst/>
          </a:prstGeom>
          <a:solidFill>
            <a:srgbClr val="1E2761"/>
          </a:solidFill>
          <a:ln w="6350">
            <a:solidFill>
              <a:srgbClr val="FFFFFF"/>
            </a:solidFill>
            <a:prstDash val="solid"/>
          </a:ln>
        </p:spPr>
      </p:sp>
      <p:sp>
        <p:nvSpPr>
          <p:cNvPr id="19" name="Text 17"/>
          <p:cNvSpPr/>
          <p:nvPr/>
        </p:nvSpPr>
        <p:spPr>
          <a:xfrm>
            <a:off x="6916783" y="2834640"/>
            <a:ext cx="790303"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a:t>
            </a:r>
            <a:endParaRPr lang="en-US" sz="1000" dirty="0"/>
          </a:p>
        </p:txBody>
      </p:sp>
      <p:sp>
        <p:nvSpPr>
          <p:cNvPr id="20" name="Shape 18"/>
          <p:cNvSpPr/>
          <p:nvPr/>
        </p:nvSpPr>
        <p:spPr>
          <a:xfrm>
            <a:off x="7707086" y="2834640"/>
            <a:ext cx="790303" cy="365760"/>
          </a:xfrm>
          <a:prstGeom prst="rect">
            <a:avLst/>
          </a:prstGeom>
          <a:solidFill>
            <a:srgbClr val="1E2761"/>
          </a:solidFill>
          <a:ln w="6350">
            <a:solidFill>
              <a:srgbClr val="FFFFFF"/>
            </a:solidFill>
            <a:prstDash val="solid"/>
          </a:ln>
        </p:spPr>
      </p:sp>
      <p:sp>
        <p:nvSpPr>
          <p:cNvPr id="21" name="Text 19"/>
          <p:cNvSpPr/>
          <p:nvPr/>
        </p:nvSpPr>
        <p:spPr>
          <a:xfrm>
            <a:off x="7707086" y="2834640"/>
            <a:ext cx="790303"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p∨q</a:t>
            </a:r>
            <a:endParaRPr lang="en-US" sz="1000" dirty="0"/>
          </a:p>
        </p:txBody>
      </p:sp>
      <p:sp>
        <p:nvSpPr>
          <p:cNvPr id="22" name="Shape 20"/>
          <p:cNvSpPr/>
          <p:nvPr/>
        </p:nvSpPr>
        <p:spPr>
          <a:xfrm>
            <a:off x="8497389" y="2834640"/>
            <a:ext cx="790303" cy="365760"/>
          </a:xfrm>
          <a:prstGeom prst="rect">
            <a:avLst/>
          </a:prstGeom>
          <a:solidFill>
            <a:srgbClr val="1E2761"/>
          </a:solidFill>
          <a:ln w="6350">
            <a:solidFill>
              <a:srgbClr val="FFFFFF"/>
            </a:solidFill>
            <a:prstDash val="solid"/>
          </a:ln>
        </p:spPr>
      </p:sp>
      <p:sp>
        <p:nvSpPr>
          <p:cNvPr id="23" name="Text 21"/>
          <p:cNvSpPr/>
          <p:nvPr/>
        </p:nvSpPr>
        <p:spPr>
          <a:xfrm>
            <a:off x="8497389" y="2834640"/>
            <a:ext cx="790303"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¬(p∨q)</a:t>
            </a:r>
            <a:endParaRPr lang="en-US" sz="1000" dirty="0"/>
          </a:p>
        </p:txBody>
      </p:sp>
      <p:sp>
        <p:nvSpPr>
          <p:cNvPr id="24" name="Shape 22"/>
          <p:cNvSpPr/>
          <p:nvPr/>
        </p:nvSpPr>
        <p:spPr>
          <a:xfrm>
            <a:off x="9287691" y="2834640"/>
            <a:ext cx="790303" cy="365760"/>
          </a:xfrm>
          <a:prstGeom prst="rect">
            <a:avLst/>
          </a:prstGeom>
          <a:solidFill>
            <a:srgbClr val="1E2761"/>
          </a:solidFill>
          <a:ln w="6350">
            <a:solidFill>
              <a:srgbClr val="FFFFFF"/>
            </a:solidFill>
            <a:prstDash val="solid"/>
          </a:ln>
        </p:spPr>
      </p:sp>
      <p:sp>
        <p:nvSpPr>
          <p:cNvPr id="25" name="Text 23"/>
          <p:cNvSpPr/>
          <p:nvPr/>
        </p:nvSpPr>
        <p:spPr>
          <a:xfrm>
            <a:off x="9287691" y="2834640"/>
            <a:ext cx="790303"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t>
            </a:r>
            <a:endParaRPr lang="en-US" sz="1000" dirty="0"/>
          </a:p>
        </p:txBody>
      </p:sp>
      <p:sp>
        <p:nvSpPr>
          <p:cNvPr id="26" name="Shape 24"/>
          <p:cNvSpPr/>
          <p:nvPr/>
        </p:nvSpPr>
        <p:spPr>
          <a:xfrm>
            <a:off x="10077994" y="2834640"/>
            <a:ext cx="790303" cy="365760"/>
          </a:xfrm>
          <a:prstGeom prst="rect">
            <a:avLst/>
          </a:prstGeom>
          <a:solidFill>
            <a:srgbClr val="1E2761"/>
          </a:solidFill>
          <a:ln w="6350">
            <a:solidFill>
              <a:srgbClr val="FFFFFF"/>
            </a:solidFill>
            <a:prstDash val="solid"/>
          </a:ln>
        </p:spPr>
      </p:sp>
      <p:sp>
        <p:nvSpPr>
          <p:cNvPr id="27" name="Text 25"/>
          <p:cNvSpPr/>
          <p:nvPr/>
        </p:nvSpPr>
        <p:spPr>
          <a:xfrm>
            <a:off x="10077994" y="2834640"/>
            <a:ext cx="790303"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a:t>
            </a:r>
            <a:endParaRPr lang="en-US" sz="1000" dirty="0"/>
          </a:p>
        </p:txBody>
      </p:sp>
      <p:sp>
        <p:nvSpPr>
          <p:cNvPr id="28" name="Shape 26"/>
          <p:cNvSpPr/>
          <p:nvPr/>
        </p:nvSpPr>
        <p:spPr>
          <a:xfrm>
            <a:off x="10868297" y="2834640"/>
            <a:ext cx="790303" cy="365760"/>
          </a:xfrm>
          <a:prstGeom prst="rect">
            <a:avLst/>
          </a:prstGeom>
          <a:solidFill>
            <a:srgbClr val="1E2761"/>
          </a:solidFill>
          <a:ln w="6350">
            <a:solidFill>
              <a:srgbClr val="FFFFFF"/>
            </a:solidFill>
            <a:prstDash val="solid"/>
          </a:ln>
        </p:spPr>
      </p:sp>
      <p:sp>
        <p:nvSpPr>
          <p:cNvPr id="29" name="Text 27"/>
          <p:cNvSpPr/>
          <p:nvPr/>
        </p:nvSpPr>
        <p:spPr>
          <a:xfrm>
            <a:off x="10868297" y="2834640"/>
            <a:ext cx="790303" cy="36576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¬p∧¬q</a:t>
            </a:r>
            <a:endParaRPr lang="en-US" sz="1000" dirty="0"/>
          </a:p>
        </p:txBody>
      </p:sp>
      <p:sp>
        <p:nvSpPr>
          <p:cNvPr id="30" name="Shape 28"/>
          <p:cNvSpPr/>
          <p:nvPr/>
        </p:nvSpPr>
        <p:spPr>
          <a:xfrm>
            <a:off x="6126480" y="3200400"/>
            <a:ext cx="790303" cy="365760"/>
          </a:xfrm>
          <a:prstGeom prst="rect">
            <a:avLst/>
          </a:prstGeom>
          <a:solidFill>
            <a:srgbClr val="EEF2FB"/>
          </a:solidFill>
          <a:ln w="6350">
            <a:solidFill>
              <a:srgbClr val="CADCFC"/>
            </a:solidFill>
            <a:prstDash val="solid"/>
          </a:ln>
        </p:spPr>
      </p:sp>
      <p:sp>
        <p:nvSpPr>
          <p:cNvPr id="31" name="Text 29"/>
          <p:cNvSpPr/>
          <p:nvPr/>
        </p:nvSpPr>
        <p:spPr>
          <a:xfrm>
            <a:off x="6126480" y="320040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T</a:t>
            </a:r>
            <a:endParaRPr lang="en-US" sz="1050" dirty="0"/>
          </a:p>
        </p:txBody>
      </p:sp>
      <p:sp>
        <p:nvSpPr>
          <p:cNvPr id="32" name="Shape 30"/>
          <p:cNvSpPr/>
          <p:nvPr/>
        </p:nvSpPr>
        <p:spPr>
          <a:xfrm>
            <a:off x="6916783" y="3200400"/>
            <a:ext cx="790303" cy="365760"/>
          </a:xfrm>
          <a:prstGeom prst="rect">
            <a:avLst/>
          </a:prstGeom>
          <a:solidFill>
            <a:srgbClr val="EEF2FB"/>
          </a:solidFill>
          <a:ln w="6350">
            <a:solidFill>
              <a:srgbClr val="CADCFC"/>
            </a:solidFill>
            <a:prstDash val="solid"/>
          </a:ln>
        </p:spPr>
      </p:sp>
      <p:sp>
        <p:nvSpPr>
          <p:cNvPr id="33" name="Text 31"/>
          <p:cNvSpPr/>
          <p:nvPr/>
        </p:nvSpPr>
        <p:spPr>
          <a:xfrm>
            <a:off x="6916783" y="320040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T</a:t>
            </a:r>
            <a:endParaRPr lang="en-US" sz="1050" dirty="0"/>
          </a:p>
        </p:txBody>
      </p:sp>
      <p:sp>
        <p:nvSpPr>
          <p:cNvPr id="34" name="Shape 32"/>
          <p:cNvSpPr/>
          <p:nvPr/>
        </p:nvSpPr>
        <p:spPr>
          <a:xfrm>
            <a:off x="7707086" y="3200400"/>
            <a:ext cx="790303" cy="365760"/>
          </a:xfrm>
          <a:prstGeom prst="rect">
            <a:avLst/>
          </a:prstGeom>
          <a:solidFill>
            <a:srgbClr val="EEF2FB"/>
          </a:solidFill>
          <a:ln w="6350">
            <a:solidFill>
              <a:srgbClr val="CADCFC"/>
            </a:solidFill>
            <a:prstDash val="solid"/>
          </a:ln>
        </p:spPr>
      </p:sp>
      <p:sp>
        <p:nvSpPr>
          <p:cNvPr id="35" name="Text 33"/>
          <p:cNvSpPr/>
          <p:nvPr/>
        </p:nvSpPr>
        <p:spPr>
          <a:xfrm>
            <a:off x="7707086" y="320040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T</a:t>
            </a:r>
            <a:endParaRPr lang="en-US" sz="1050" dirty="0"/>
          </a:p>
        </p:txBody>
      </p:sp>
      <p:sp>
        <p:nvSpPr>
          <p:cNvPr id="36" name="Shape 34"/>
          <p:cNvSpPr/>
          <p:nvPr/>
        </p:nvSpPr>
        <p:spPr>
          <a:xfrm>
            <a:off x="8497389" y="3200400"/>
            <a:ext cx="790303" cy="365760"/>
          </a:xfrm>
          <a:prstGeom prst="rect">
            <a:avLst/>
          </a:prstGeom>
          <a:solidFill>
            <a:srgbClr val="FBF3E4"/>
          </a:solidFill>
          <a:ln w="6350">
            <a:solidFill>
              <a:srgbClr val="CADCFC"/>
            </a:solidFill>
            <a:prstDash val="solid"/>
          </a:ln>
        </p:spPr>
      </p:sp>
      <p:sp>
        <p:nvSpPr>
          <p:cNvPr id="37" name="Text 35"/>
          <p:cNvSpPr/>
          <p:nvPr/>
        </p:nvSpPr>
        <p:spPr>
          <a:xfrm>
            <a:off x="8497389" y="3200400"/>
            <a:ext cx="790303" cy="365760"/>
          </a:xfrm>
          <a:prstGeom prst="rect">
            <a:avLst/>
          </a:prstGeom>
          <a:noFill/>
          <a:ln/>
        </p:spPr>
        <p:txBody>
          <a:bodyPr wrap="square" rtlCol="0" anchor="ctr"/>
          <a:lstStyle/>
          <a:p>
            <a:pPr marL="0" indent="0" algn="ctr">
              <a:buNone/>
            </a:pPr>
            <a:r>
              <a:rPr lang="en-US" sz="1050" b="1" dirty="0">
                <a:solidFill>
                  <a:srgbClr val="26304A"/>
                </a:solidFill>
                <a:latin typeface="Calibri" pitchFamily="34" charset="0"/>
                <a:ea typeface="Calibri" pitchFamily="34" charset="-122"/>
                <a:cs typeface="Calibri" pitchFamily="34" charset="-120"/>
              </a:rPr>
              <a:t>F</a:t>
            </a:r>
            <a:endParaRPr lang="en-US" sz="1050" dirty="0"/>
          </a:p>
        </p:txBody>
      </p:sp>
      <p:sp>
        <p:nvSpPr>
          <p:cNvPr id="38" name="Shape 36"/>
          <p:cNvSpPr/>
          <p:nvPr/>
        </p:nvSpPr>
        <p:spPr>
          <a:xfrm>
            <a:off x="9287691" y="3200400"/>
            <a:ext cx="790303" cy="365760"/>
          </a:xfrm>
          <a:prstGeom prst="rect">
            <a:avLst/>
          </a:prstGeom>
          <a:solidFill>
            <a:srgbClr val="EEF2FB"/>
          </a:solidFill>
          <a:ln w="6350">
            <a:solidFill>
              <a:srgbClr val="CADCFC"/>
            </a:solidFill>
            <a:prstDash val="solid"/>
          </a:ln>
        </p:spPr>
      </p:sp>
      <p:sp>
        <p:nvSpPr>
          <p:cNvPr id="39" name="Text 37"/>
          <p:cNvSpPr/>
          <p:nvPr/>
        </p:nvSpPr>
        <p:spPr>
          <a:xfrm>
            <a:off x="9287691" y="320040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F</a:t>
            </a:r>
            <a:endParaRPr lang="en-US" sz="1050" dirty="0"/>
          </a:p>
        </p:txBody>
      </p:sp>
      <p:sp>
        <p:nvSpPr>
          <p:cNvPr id="40" name="Shape 38"/>
          <p:cNvSpPr/>
          <p:nvPr/>
        </p:nvSpPr>
        <p:spPr>
          <a:xfrm>
            <a:off x="10077994" y="3200400"/>
            <a:ext cx="790303" cy="365760"/>
          </a:xfrm>
          <a:prstGeom prst="rect">
            <a:avLst/>
          </a:prstGeom>
          <a:solidFill>
            <a:srgbClr val="EEF2FB"/>
          </a:solidFill>
          <a:ln w="6350">
            <a:solidFill>
              <a:srgbClr val="CADCFC"/>
            </a:solidFill>
            <a:prstDash val="solid"/>
          </a:ln>
        </p:spPr>
      </p:sp>
      <p:sp>
        <p:nvSpPr>
          <p:cNvPr id="41" name="Text 39"/>
          <p:cNvSpPr/>
          <p:nvPr/>
        </p:nvSpPr>
        <p:spPr>
          <a:xfrm>
            <a:off x="10077994" y="320040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F</a:t>
            </a:r>
            <a:endParaRPr lang="en-US" sz="1050" dirty="0"/>
          </a:p>
        </p:txBody>
      </p:sp>
      <p:sp>
        <p:nvSpPr>
          <p:cNvPr id="42" name="Shape 40"/>
          <p:cNvSpPr/>
          <p:nvPr/>
        </p:nvSpPr>
        <p:spPr>
          <a:xfrm>
            <a:off x="10868297" y="3200400"/>
            <a:ext cx="790303" cy="365760"/>
          </a:xfrm>
          <a:prstGeom prst="rect">
            <a:avLst/>
          </a:prstGeom>
          <a:solidFill>
            <a:srgbClr val="FBF3E4"/>
          </a:solidFill>
          <a:ln w="6350">
            <a:solidFill>
              <a:srgbClr val="CADCFC"/>
            </a:solidFill>
            <a:prstDash val="solid"/>
          </a:ln>
        </p:spPr>
      </p:sp>
      <p:sp>
        <p:nvSpPr>
          <p:cNvPr id="43" name="Text 41"/>
          <p:cNvSpPr/>
          <p:nvPr/>
        </p:nvSpPr>
        <p:spPr>
          <a:xfrm>
            <a:off x="10868297" y="3200400"/>
            <a:ext cx="790303" cy="365760"/>
          </a:xfrm>
          <a:prstGeom prst="rect">
            <a:avLst/>
          </a:prstGeom>
          <a:noFill/>
          <a:ln/>
        </p:spPr>
        <p:txBody>
          <a:bodyPr wrap="square" rtlCol="0" anchor="ctr"/>
          <a:lstStyle/>
          <a:p>
            <a:pPr marL="0" indent="0" algn="ctr">
              <a:buNone/>
            </a:pPr>
            <a:r>
              <a:rPr lang="en-US" sz="1050" b="1" dirty="0">
                <a:solidFill>
                  <a:srgbClr val="26304A"/>
                </a:solidFill>
                <a:latin typeface="Calibri" pitchFamily="34" charset="0"/>
                <a:ea typeface="Calibri" pitchFamily="34" charset="-122"/>
                <a:cs typeface="Calibri" pitchFamily="34" charset="-120"/>
              </a:rPr>
              <a:t>F</a:t>
            </a:r>
            <a:endParaRPr lang="en-US" sz="1050" dirty="0"/>
          </a:p>
        </p:txBody>
      </p:sp>
      <p:sp>
        <p:nvSpPr>
          <p:cNvPr id="44" name="Shape 42"/>
          <p:cNvSpPr/>
          <p:nvPr/>
        </p:nvSpPr>
        <p:spPr>
          <a:xfrm>
            <a:off x="6126480" y="3566160"/>
            <a:ext cx="790303" cy="365760"/>
          </a:xfrm>
          <a:prstGeom prst="rect">
            <a:avLst/>
          </a:prstGeom>
          <a:solidFill>
            <a:srgbClr val="FFFFFF"/>
          </a:solidFill>
          <a:ln w="6350">
            <a:solidFill>
              <a:srgbClr val="CADCFC"/>
            </a:solidFill>
            <a:prstDash val="solid"/>
          </a:ln>
        </p:spPr>
      </p:sp>
      <p:sp>
        <p:nvSpPr>
          <p:cNvPr id="45" name="Text 43"/>
          <p:cNvSpPr/>
          <p:nvPr/>
        </p:nvSpPr>
        <p:spPr>
          <a:xfrm>
            <a:off x="6126480" y="356616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T</a:t>
            </a:r>
            <a:endParaRPr lang="en-US" sz="1050" dirty="0"/>
          </a:p>
        </p:txBody>
      </p:sp>
      <p:sp>
        <p:nvSpPr>
          <p:cNvPr id="46" name="Shape 44"/>
          <p:cNvSpPr/>
          <p:nvPr/>
        </p:nvSpPr>
        <p:spPr>
          <a:xfrm>
            <a:off x="6916783" y="3566160"/>
            <a:ext cx="790303" cy="365760"/>
          </a:xfrm>
          <a:prstGeom prst="rect">
            <a:avLst/>
          </a:prstGeom>
          <a:solidFill>
            <a:srgbClr val="FFFFFF"/>
          </a:solidFill>
          <a:ln w="6350">
            <a:solidFill>
              <a:srgbClr val="CADCFC"/>
            </a:solidFill>
            <a:prstDash val="solid"/>
          </a:ln>
        </p:spPr>
      </p:sp>
      <p:sp>
        <p:nvSpPr>
          <p:cNvPr id="47" name="Text 45"/>
          <p:cNvSpPr/>
          <p:nvPr/>
        </p:nvSpPr>
        <p:spPr>
          <a:xfrm>
            <a:off x="6916783" y="356616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F</a:t>
            </a:r>
            <a:endParaRPr lang="en-US" sz="1050" dirty="0"/>
          </a:p>
        </p:txBody>
      </p:sp>
      <p:sp>
        <p:nvSpPr>
          <p:cNvPr id="48" name="Shape 46"/>
          <p:cNvSpPr/>
          <p:nvPr/>
        </p:nvSpPr>
        <p:spPr>
          <a:xfrm>
            <a:off x="7707086" y="3566160"/>
            <a:ext cx="790303" cy="365760"/>
          </a:xfrm>
          <a:prstGeom prst="rect">
            <a:avLst/>
          </a:prstGeom>
          <a:solidFill>
            <a:srgbClr val="FFFFFF"/>
          </a:solidFill>
          <a:ln w="6350">
            <a:solidFill>
              <a:srgbClr val="CADCFC"/>
            </a:solidFill>
            <a:prstDash val="solid"/>
          </a:ln>
        </p:spPr>
      </p:sp>
      <p:sp>
        <p:nvSpPr>
          <p:cNvPr id="49" name="Text 47"/>
          <p:cNvSpPr/>
          <p:nvPr/>
        </p:nvSpPr>
        <p:spPr>
          <a:xfrm>
            <a:off x="7707086" y="356616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T</a:t>
            </a:r>
            <a:endParaRPr lang="en-US" sz="1050" dirty="0"/>
          </a:p>
        </p:txBody>
      </p:sp>
      <p:sp>
        <p:nvSpPr>
          <p:cNvPr id="50" name="Shape 48"/>
          <p:cNvSpPr/>
          <p:nvPr/>
        </p:nvSpPr>
        <p:spPr>
          <a:xfrm>
            <a:off x="8497389" y="3566160"/>
            <a:ext cx="790303" cy="365760"/>
          </a:xfrm>
          <a:prstGeom prst="rect">
            <a:avLst/>
          </a:prstGeom>
          <a:solidFill>
            <a:srgbClr val="FBF3E4"/>
          </a:solidFill>
          <a:ln w="6350">
            <a:solidFill>
              <a:srgbClr val="CADCFC"/>
            </a:solidFill>
            <a:prstDash val="solid"/>
          </a:ln>
        </p:spPr>
      </p:sp>
      <p:sp>
        <p:nvSpPr>
          <p:cNvPr id="51" name="Text 49"/>
          <p:cNvSpPr/>
          <p:nvPr/>
        </p:nvSpPr>
        <p:spPr>
          <a:xfrm>
            <a:off x="8497389" y="3566160"/>
            <a:ext cx="790303" cy="365760"/>
          </a:xfrm>
          <a:prstGeom prst="rect">
            <a:avLst/>
          </a:prstGeom>
          <a:noFill/>
          <a:ln/>
        </p:spPr>
        <p:txBody>
          <a:bodyPr wrap="square" rtlCol="0" anchor="ctr"/>
          <a:lstStyle/>
          <a:p>
            <a:pPr marL="0" indent="0" algn="ctr">
              <a:buNone/>
            </a:pPr>
            <a:r>
              <a:rPr lang="en-US" sz="1050" b="1" dirty="0">
                <a:solidFill>
                  <a:srgbClr val="26304A"/>
                </a:solidFill>
                <a:latin typeface="Calibri" pitchFamily="34" charset="0"/>
                <a:ea typeface="Calibri" pitchFamily="34" charset="-122"/>
                <a:cs typeface="Calibri" pitchFamily="34" charset="-120"/>
              </a:rPr>
              <a:t>F</a:t>
            </a:r>
            <a:endParaRPr lang="en-US" sz="1050" dirty="0"/>
          </a:p>
        </p:txBody>
      </p:sp>
      <p:sp>
        <p:nvSpPr>
          <p:cNvPr id="52" name="Shape 50"/>
          <p:cNvSpPr/>
          <p:nvPr/>
        </p:nvSpPr>
        <p:spPr>
          <a:xfrm>
            <a:off x="9287691" y="3566160"/>
            <a:ext cx="790303" cy="365760"/>
          </a:xfrm>
          <a:prstGeom prst="rect">
            <a:avLst/>
          </a:prstGeom>
          <a:solidFill>
            <a:srgbClr val="FFFFFF"/>
          </a:solidFill>
          <a:ln w="6350">
            <a:solidFill>
              <a:srgbClr val="CADCFC"/>
            </a:solidFill>
            <a:prstDash val="solid"/>
          </a:ln>
        </p:spPr>
      </p:sp>
      <p:sp>
        <p:nvSpPr>
          <p:cNvPr id="53" name="Text 51"/>
          <p:cNvSpPr/>
          <p:nvPr/>
        </p:nvSpPr>
        <p:spPr>
          <a:xfrm>
            <a:off x="9287691" y="356616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F</a:t>
            </a:r>
            <a:endParaRPr lang="en-US" sz="1050" dirty="0"/>
          </a:p>
        </p:txBody>
      </p:sp>
      <p:sp>
        <p:nvSpPr>
          <p:cNvPr id="54" name="Shape 52"/>
          <p:cNvSpPr/>
          <p:nvPr/>
        </p:nvSpPr>
        <p:spPr>
          <a:xfrm>
            <a:off x="10077994" y="3566160"/>
            <a:ext cx="790303" cy="365760"/>
          </a:xfrm>
          <a:prstGeom prst="rect">
            <a:avLst/>
          </a:prstGeom>
          <a:solidFill>
            <a:srgbClr val="FFFFFF"/>
          </a:solidFill>
          <a:ln w="6350">
            <a:solidFill>
              <a:srgbClr val="CADCFC"/>
            </a:solidFill>
            <a:prstDash val="solid"/>
          </a:ln>
        </p:spPr>
      </p:sp>
      <p:sp>
        <p:nvSpPr>
          <p:cNvPr id="55" name="Text 53"/>
          <p:cNvSpPr/>
          <p:nvPr/>
        </p:nvSpPr>
        <p:spPr>
          <a:xfrm>
            <a:off x="10077994" y="356616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T</a:t>
            </a:r>
            <a:endParaRPr lang="en-US" sz="1050" dirty="0"/>
          </a:p>
        </p:txBody>
      </p:sp>
      <p:sp>
        <p:nvSpPr>
          <p:cNvPr id="56" name="Shape 54"/>
          <p:cNvSpPr/>
          <p:nvPr/>
        </p:nvSpPr>
        <p:spPr>
          <a:xfrm>
            <a:off x="10868297" y="3566160"/>
            <a:ext cx="790303" cy="365760"/>
          </a:xfrm>
          <a:prstGeom prst="rect">
            <a:avLst/>
          </a:prstGeom>
          <a:solidFill>
            <a:srgbClr val="FBF3E4"/>
          </a:solidFill>
          <a:ln w="6350">
            <a:solidFill>
              <a:srgbClr val="CADCFC"/>
            </a:solidFill>
            <a:prstDash val="solid"/>
          </a:ln>
        </p:spPr>
      </p:sp>
      <p:sp>
        <p:nvSpPr>
          <p:cNvPr id="57" name="Text 55"/>
          <p:cNvSpPr/>
          <p:nvPr/>
        </p:nvSpPr>
        <p:spPr>
          <a:xfrm>
            <a:off x="10868297" y="3566160"/>
            <a:ext cx="790303" cy="365760"/>
          </a:xfrm>
          <a:prstGeom prst="rect">
            <a:avLst/>
          </a:prstGeom>
          <a:noFill/>
          <a:ln/>
        </p:spPr>
        <p:txBody>
          <a:bodyPr wrap="square" rtlCol="0" anchor="ctr"/>
          <a:lstStyle/>
          <a:p>
            <a:pPr marL="0" indent="0" algn="ctr">
              <a:buNone/>
            </a:pPr>
            <a:r>
              <a:rPr lang="en-US" sz="1050" b="1" dirty="0">
                <a:solidFill>
                  <a:srgbClr val="26304A"/>
                </a:solidFill>
                <a:latin typeface="Calibri" pitchFamily="34" charset="0"/>
                <a:ea typeface="Calibri" pitchFamily="34" charset="-122"/>
                <a:cs typeface="Calibri" pitchFamily="34" charset="-120"/>
              </a:rPr>
              <a:t>F</a:t>
            </a:r>
            <a:endParaRPr lang="en-US" sz="1050" dirty="0"/>
          </a:p>
        </p:txBody>
      </p:sp>
      <p:sp>
        <p:nvSpPr>
          <p:cNvPr id="58" name="Shape 56"/>
          <p:cNvSpPr/>
          <p:nvPr/>
        </p:nvSpPr>
        <p:spPr>
          <a:xfrm>
            <a:off x="6126480" y="3931920"/>
            <a:ext cx="790303" cy="365760"/>
          </a:xfrm>
          <a:prstGeom prst="rect">
            <a:avLst/>
          </a:prstGeom>
          <a:solidFill>
            <a:srgbClr val="EEF2FB"/>
          </a:solidFill>
          <a:ln w="6350">
            <a:solidFill>
              <a:srgbClr val="CADCFC"/>
            </a:solidFill>
            <a:prstDash val="solid"/>
          </a:ln>
        </p:spPr>
      </p:sp>
      <p:sp>
        <p:nvSpPr>
          <p:cNvPr id="59" name="Text 57"/>
          <p:cNvSpPr/>
          <p:nvPr/>
        </p:nvSpPr>
        <p:spPr>
          <a:xfrm>
            <a:off x="6126480" y="393192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F</a:t>
            </a:r>
            <a:endParaRPr lang="en-US" sz="1050" dirty="0"/>
          </a:p>
        </p:txBody>
      </p:sp>
      <p:sp>
        <p:nvSpPr>
          <p:cNvPr id="60" name="Shape 58"/>
          <p:cNvSpPr/>
          <p:nvPr/>
        </p:nvSpPr>
        <p:spPr>
          <a:xfrm>
            <a:off x="6916783" y="3931920"/>
            <a:ext cx="790303" cy="365760"/>
          </a:xfrm>
          <a:prstGeom prst="rect">
            <a:avLst/>
          </a:prstGeom>
          <a:solidFill>
            <a:srgbClr val="EEF2FB"/>
          </a:solidFill>
          <a:ln w="6350">
            <a:solidFill>
              <a:srgbClr val="CADCFC"/>
            </a:solidFill>
            <a:prstDash val="solid"/>
          </a:ln>
        </p:spPr>
      </p:sp>
      <p:sp>
        <p:nvSpPr>
          <p:cNvPr id="61" name="Text 59"/>
          <p:cNvSpPr/>
          <p:nvPr/>
        </p:nvSpPr>
        <p:spPr>
          <a:xfrm>
            <a:off x="6916783" y="393192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T</a:t>
            </a:r>
            <a:endParaRPr lang="en-US" sz="1050" dirty="0"/>
          </a:p>
        </p:txBody>
      </p:sp>
      <p:sp>
        <p:nvSpPr>
          <p:cNvPr id="62" name="Shape 60"/>
          <p:cNvSpPr/>
          <p:nvPr/>
        </p:nvSpPr>
        <p:spPr>
          <a:xfrm>
            <a:off x="7707086" y="3931920"/>
            <a:ext cx="790303" cy="365760"/>
          </a:xfrm>
          <a:prstGeom prst="rect">
            <a:avLst/>
          </a:prstGeom>
          <a:solidFill>
            <a:srgbClr val="EEF2FB"/>
          </a:solidFill>
          <a:ln w="6350">
            <a:solidFill>
              <a:srgbClr val="CADCFC"/>
            </a:solidFill>
            <a:prstDash val="solid"/>
          </a:ln>
        </p:spPr>
      </p:sp>
      <p:sp>
        <p:nvSpPr>
          <p:cNvPr id="63" name="Text 61"/>
          <p:cNvSpPr/>
          <p:nvPr/>
        </p:nvSpPr>
        <p:spPr>
          <a:xfrm>
            <a:off x="7707086" y="393192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T</a:t>
            </a:r>
            <a:endParaRPr lang="en-US" sz="1050" dirty="0"/>
          </a:p>
        </p:txBody>
      </p:sp>
      <p:sp>
        <p:nvSpPr>
          <p:cNvPr id="64" name="Shape 62"/>
          <p:cNvSpPr/>
          <p:nvPr/>
        </p:nvSpPr>
        <p:spPr>
          <a:xfrm>
            <a:off x="8497389" y="3931920"/>
            <a:ext cx="790303" cy="365760"/>
          </a:xfrm>
          <a:prstGeom prst="rect">
            <a:avLst/>
          </a:prstGeom>
          <a:solidFill>
            <a:srgbClr val="FBF3E4"/>
          </a:solidFill>
          <a:ln w="6350">
            <a:solidFill>
              <a:srgbClr val="CADCFC"/>
            </a:solidFill>
            <a:prstDash val="solid"/>
          </a:ln>
        </p:spPr>
      </p:sp>
      <p:sp>
        <p:nvSpPr>
          <p:cNvPr id="65" name="Text 63"/>
          <p:cNvSpPr/>
          <p:nvPr/>
        </p:nvSpPr>
        <p:spPr>
          <a:xfrm>
            <a:off x="8497389" y="3931920"/>
            <a:ext cx="790303" cy="365760"/>
          </a:xfrm>
          <a:prstGeom prst="rect">
            <a:avLst/>
          </a:prstGeom>
          <a:noFill/>
          <a:ln/>
        </p:spPr>
        <p:txBody>
          <a:bodyPr wrap="square" rtlCol="0" anchor="ctr"/>
          <a:lstStyle/>
          <a:p>
            <a:pPr marL="0" indent="0" algn="ctr">
              <a:buNone/>
            </a:pPr>
            <a:r>
              <a:rPr lang="en-US" sz="1050" b="1" dirty="0">
                <a:solidFill>
                  <a:srgbClr val="26304A"/>
                </a:solidFill>
                <a:latin typeface="Calibri" pitchFamily="34" charset="0"/>
                <a:ea typeface="Calibri" pitchFamily="34" charset="-122"/>
                <a:cs typeface="Calibri" pitchFamily="34" charset="-120"/>
              </a:rPr>
              <a:t>F</a:t>
            </a:r>
            <a:endParaRPr lang="en-US" sz="1050" dirty="0"/>
          </a:p>
        </p:txBody>
      </p:sp>
      <p:sp>
        <p:nvSpPr>
          <p:cNvPr id="66" name="Shape 64"/>
          <p:cNvSpPr/>
          <p:nvPr/>
        </p:nvSpPr>
        <p:spPr>
          <a:xfrm>
            <a:off x="9287691" y="3931920"/>
            <a:ext cx="790303" cy="365760"/>
          </a:xfrm>
          <a:prstGeom prst="rect">
            <a:avLst/>
          </a:prstGeom>
          <a:solidFill>
            <a:srgbClr val="EEF2FB"/>
          </a:solidFill>
          <a:ln w="6350">
            <a:solidFill>
              <a:srgbClr val="CADCFC"/>
            </a:solidFill>
            <a:prstDash val="solid"/>
          </a:ln>
        </p:spPr>
      </p:sp>
      <p:sp>
        <p:nvSpPr>
          <p:cNvPr id="67" name="Text 65"/>
          <p:cNvSpPr/>
          <p:nvPr/>
        </p:nvSpPr>
        <p:spPr>
          <a:xfrm>
            <a:off x="9287691" y="393192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T</a:t>
            </a:r>
            <a:endParaRPr lang="en-US" sz="1050" dirty="0"/>
          </a:p>
        </p:txBody>
      </p:sp>
      <p:sp>
        <p:nvSpPr>
          <p:cNvPr id="68" name="Shape 66"/>
          <p:cNvSpPr/>
          <p:nvPr/>
        </p:nvSpPr>
        <p:spPr>
          <a:xfrm>
            <a:off x="10077994" y="3931920"/>
            <a:ext cx="790303" cy="365760"/>
          </a:xfrm>
          <a:prstGeom prst="rect">
            <a:avLst/>
          </a:prstGeom>
          <a:solidFill>
            <a:srgbClr val="EEF2FB"/>
          </a:solidFill>
          <a:ln w="6350">
            <a:solidFill>
              <a:srgbClr val="CADCFC"/>
            </a:solidFill>
            <a:prstDash val="solid"/>
          </a:ln>
        </p:spPr>
      </p:sp>
      <p:sp>
        <p:nvSpPr>
          <p:cNvPr id="69" name="Text 67"/>
          <p:cNvSpPr/>
          <p:nvPr/>
        </p:nvSpPr>
        <p:spPr>
          <a:xfrm>
            <a:off x="10077994" y="393192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F</a:t>
            </a:r>
            <a:endParaRPr lang="en-US" sz="1050" dirty="0"/>
          </a:p>
        </p:txBody>
      </p:sp>
      <p:sp>
        <p:nvSpPr>
          <p:cNvPr id="70" name="Shape 68"/>
          <p:cNvSpPr/>
          <p:nvPr/>
        </p:nvSpPr>
        <p:spPr>
          <a:xfrm>
            <a:off x="10868297" y="3931920"/>
            <a:ext cx="790303" cy="365760"/>
          </a:xfrm>
          <a:prstGeom prst="rect">
            <a:avLst/>
          </a:prstGeom>
          <a:solidFill>
            <a:srgbClr val="FBF3E4"/>
          </a:solidFill>
          <a:ln w="6350">
            <a:solidFill>
              <a:srgbClr val="CADCFC"/>
            </a:solidFill>
            <a:prstDash val="solid"/>
          </a:ln>
        </p:spPr>
      </p:sp>
      <p:sp>
        <p:nvSpPr>
          <p:cNvPr id="71" name="Text 69"/>
          <p:cNvSpPr/>
          <p:nvPr/>
        </p:nvSpPr>
        <p:spPr>
          <a:xfrm>
            <a:off x="10868297" y="3931920"/>
            <a:ext cx="790303" cy="365760"/>
          </a:xfrm>
          <a:prstGeom prst="rect">
            <a:avLst/>
          </a:prstGeom>
          <a:noFill/>
          <a:ln/>
        </p:spPr>
        <p:txBody>
          <a:bodyPr wrap="square" rtlCol="0" anchor="ctr"/>
          <a:lstStyle/>
          <a:p>
            <a:pPr marL="0" indent="0" algn="ctr">
              <a:buNone/>
            </a:pPr>
            <a:r>
              <a:rPr lang="en-US" sz="1050" b="1" dirty="0">
                <a:solidFill>
                  <a:srgbClr val="26304A"/>
                </a:solidFill>
                <a:latin typeface="Calibri" pitchFamily="34" charset="0"/>
                <a:ea typeface="Calibri" pitchFamily="34" charset="-122"/>
                <a:cs typeface="Calibri" pitchFamily="34" charset="-120"/>
              </a:rPr>
              <a:t>F</a:t>
            </a:r>
            <a:endParaRPr lang="en-US" sz="1050" dirty="0"/>
          </a:p>
        </p:txBody>
      </p:sp>
      <p:sp>
        <p:nvSpPr>
          <p:cNvPr id="72" name="Shape 70"/>
          <p:cNvSpPr/>
          <p:nvPr/>
        </p:nvSpPr>
        <p:spPr>
          <a:xfrm>
            <a:off x="6126480" y="4297680"/>
            <a:ext cx="790303" cy="365760"/>
          </a:xfrm>
          <a:prstGeom prst="rect">
            <a:avLst/>
          </a:prstGeom>
          <a:solidFill>
            <a:srgbClr val="FFFFFF"/>
          </a:solidFill>
          <a:ln w="6350">
            <a:solidFill>
              <a:srgbClr val="CADCFC"/>
            </a:solidFill>
            <a:prstDash val="solid"/>
          </a:ln>
        </p:spPr>
      </p:sp>
      <p:sp>
        <p:nvSpPr>
          <p:cNvPr id="73" name="Text 71"/>
          <p:cNvSpPr/>
          <p:nvPr/>
        </p:nvSpPr>
        <p:spPr>
          <a:xfrm>
            <a:off x="6126480" y="429768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F</a:t>
            </a:r>
            <a:endParaRPr lang="en-US" sz="1050" dirty="0"/>
          </a:p>
        </p:txBody>
      </p:sp>
      <p:sp>
        <p:nvSpPr>
          <p:cNvPr id="74" name="Shape 72"/>
          <p:cNvSpPr/>
          <p:nvPr/>
        </p:nvSpPr>
        <p:spPr>
          <a:xfrm>
            <a:off x="6916783" y="4297680"/>
            <a:ext cx="790303" cy="365760"/>
          </a:xfrm>
          <a:prstGeom prst="rect">
            <a:avLst/>
          </a:prstGeom>
          <a:solidFill>
            <a:srgbClr val="FFFFFF"/>
          </a:solidFill>
          <a:ln w="6350">
            <a:solidFill>
              <a:srgbClr val="CADCFC"/>
            </a:solidFill>
            <a:prstDash val="solid"/>
          </a:ln>
        </p:spPr>
      </p:sp>
      <p:sp>
        <p:nvSpPr>
          <p:cNvPr id="75" name="Text 73"/>
          <p:cNvSpPr/>
          <p:nvPr/>
        </p:nvSpPr>
        <p:spPr>
          <a:xfrm>
            <a:off x="6916783" y="429768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F</a:t>
            </a:r>
            <a:endParaRPr lang="en-US" sz="1050" dirty="0"/>
          </a:p>
        </p:txBody>
      </p:sp>
      <p:sp>
        <p:nvSpPr>
          <p:cNvPr id="76" name="Shape 74"/>
          <p:cNvSpPr/>
          <p:nvPr/>
        </p:nvSpPr>
        <p:spPr>
          <a:xfrm>
            <a:off x="7707086" y="4297680"/>
            <a:ext cx="790303" cy="365760"/>
          </a:xfrm>
          <a:prstGeom prst="rect">
            <a:avLst/>
          </a:prstGeom>
          <a:solidFill>
            <a:srgbClr val="FFFFFF"/>
          </a:solidFill>
          <a:ln w="6350">
            <a:solidFill>
              <a:srgbClr val="CADCFC"/>
            </a:solidFill>
            <a:prstDash val="solid"/>
          </a:ln>
        </p:spPr>
      </p:sp>
      <p:sp>
        <p:nvSpPr>
          <p:cNvPr id="77" name="Text 75"/>
          <p:cNvSpPr/>
          <p:nvPr/>
        </p:nvSpPr>
        <p:spPr>
          <a:xfrm>
            <a:off x="7707086" y="429768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F</a:t>
            </a:r>
            <a:endParaRPr lang="en-US" sz="1050" dirty="0"/>
          </a:p>
        </p:txBody>
      </p:sp>
      <p:sp>
        <p:nvSpPr>
          <p:cNvPr id="78" name="Shape 76"/>
          <p:cNvSpPr/>
          <p:nvPr/>
        </p:nvSpPr>
        <p:spPr>
          <a:xfrm>
            <a:off x="8497389" y="4297680"/>
            <a:ext cx="790303" cy="365760"/>
          </a:xfrm>
          <a:prstGeom prst="rect">
            <a:avLst/>
          </a:prstGeom>
          <a:solidFill>
            <a:srgbClr val="FBF3E4"/>
          </a:solidFill>
          <a:ln w="6350">
            <a:solidFill>
              <a:srgbClr val="CADCFC"/>
            </a:solidFill>
            <a:prstDash val="solid"/>
          </a:ln>
        </p:spPr>
      </p:sp>
      <p:sp>
        <p:nvSpPr>
          <p:cNvPr id="79" name="Text 77"/>
          <p:cNvSpPr/>
          <p:nvPr/>
        </p:nvSpPr>
        <p:spPr>
          <a:xfrm>
            <a:off x="8497389" y="4297680"/>
            <a:ext cx="790303" cy="365760"/>
          </a:xfrm>
          <a:prstGeom prst="rect">
            <a:avLst/>
          </a:prstGeom>
          <a:noFill/>
          <a:ln/>
        </p:spPr>
        <p:txBody>
          <a:bodyPr wrap="square" rtlCol="0" anchor="ctr"/>
          <a:lstStyle/>
          <a:p>
            <a:pPr marL="0" indent="0" algn="ctr">
              <a:buNone/>
            </a:pPr>
            <a:r>
              <a:rPr lang="en-US" sz="1050" b="1" dirty="0">
                <a:solidFill>
                  <a:srgbClr val="26304A"/>
                </a:solidFill>
                <a:latin typeface="Calibri" pitchFamily="34" charset="0"/>
                <a:ea typeface="Calibri" pitchFamily="34" charset="-122"/>
                <a:cs typeface="Calibri" pitchFamily="34" charset="-120"/>
              </a:rPr>
              <a:t>T</a:t>
            </a:r>
            <a:endParaRPr lang="en-US" sz="1050" dirty="0"/>
          </a:p>
        </p:txBody>
      </p:sp>
      <p:sp>
        <p:nvSpPr>
          <p:cNvPr id="80" name="Shape 78"/>
          <p:cNvSpPr/>
          <p:nvPr/>
        </p:nvSpPr>
        <p:spPr>
          <a:xfrm>
            <a:off x="9287691" y="4297680"/>
            <a:ext cx="790303" cy="365760"/>
          </a:xfrm>
          <a:prstGeom prst="rect">
            <a:avLst/>
          </a:prstGeom>
          <a:solidFill>
            <a:srgbClr val="FFFFFF"/>
          </a:solidFill>
          <a:ln w="6350">
            <a:solidFill>
              <a:srgbClr val="CADCFC"/>
            </a:solidFill>
            <a:prstDash val="solid"/>
          </a:ln>
        </p:spPr>
      </p:sp>
      <p:sp>
        <p:nvSpPr>
          <p:cNvPr id="81" name="Text 79"/>
          <p:cNvSpPr/>
          <p:nvPr/>
        </p:nvSpPr>
        <p:spPr>
          <a:xfrm>
            <a:off x="9287691" y="429768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T</a:t>
            </a:r>
            <a:endParaRPr lang="en-US" sz="1050" dirty="0"/>
          </a:p>
        </p:txBody>
      </p:sp>
      <p:sp>
        <p:nvSpPr>
          <p:cNvPr id="82" name="Shape 80"/>
          <p:cNvSpPr/>
          <p:nvPr/>
        </p:nvSpPr>
        <p:spPr>
          <a:xfrm>
            <a:off x="10077994" y="4297680"/>
            <a:ext cx="790303" cy="365760"/>
          </a:xfrm>
          <a:prstGeom prst="rect">
            <a:avLst/>
          </a:prstGeom>
          <a:solidFill>
            <a:srgbClr val="FFFFFF"/>
          </a:solidFill>
          <a:ln w="6350">
            <a:solidFill>
              <a:srgbClr val="CADCFC"/>
            </a:solidFill>
            <a:prstDash val="solid"/>
          </a:ln>
        </p:spPr>
      </p:sp>
      <p:sp>
        <p:nvSpPr>
          <p:cNvPr id="83" name="Text 81"/>
          <p:cNvSpPr/>
          <p:nvPr/>
        </p:nvSpPr>
        <p:spPr>
          <a:xfrm>
            <a:off x="10077994" y="4297680"/>
            <a:ext cx="790303" cy="365760"/>
          </a:xfrm>
          <a:prstGeom prst="rect">
            <a:avLst/>
          </a:prstGeom>
          <a:noFill/>
          <a:ln/>
        </p:spPr>
        <p:txBody>
          <a:bodyPr wrap="square" rtlCol="0" anchor="ctr"/>
          <a:lstStyle/>
          <a:p>
            <a:pPr marL="0" indent="0" algn="ctr">
              <a:buNone/>
            </a:pPr>
            <a:r>
              <a:rPr lang="en-US" sz="1050" dirty="0">
                <a:solidFill>
                  <a:srgbClr val="26304A"/>
                </a:solidFill>
                <a:latin typeface="Calibri" pitchFamily="34" charset="0"/>
                <a:ea typeface="Calibri" pitchFamily="34" charset="-122"/>
                <a:cs typeface="Calibri" pitchFamily="34" charset="-120"/>
              </a:rPr>
              <a:t>T</a:t>
            </a:r>
            <a:endParaRPr lang="en-US" sz="1050" dirty="0"/>
          </a:p>
        </p:txBody>
      </p:sp>
      <p:sp>
        <p:nvSpPr>
          <p:cNvPr id="84" name="Shape 82"/>
          <p:cNvSpPr/>
          <p:nvPr/>
        </p:nvSpPr>
        <p:spPr>
          <a:xfrm>
            <a:off x="10868297" y="4297680"/>
            <a:ext cx="790303" cy="365760"/>
          </a:xfrm>
          <a:prstGeom prst="rect">
            <a:avLst/>
          </a:prstGeom>
          <a:solidFill>
            <a:srgbClr val="FBF3E4"/>
          </a:solidFill>
          <a:ln w="6350">
            <a:solidFill>
              <a:srgbClr val="CADCFC"/>
            </a:solidFill>
            <a:prstDash val="solid"/>
          </a:ln>
        </p:spPr>
      </p:sp>
      <p:sp>
        <p:nvSpPr>
          <p:cNvPr id="85" name="Text 83"/>
          <p:cNvSpPr/>
          <p:nvPr/>
        </p:nvSpPr>
        <p:spPr>
          <a:xfrm>
            <a:off x="10868297" y="4297680"/>
            <a:ext cx="790303" cy="365760"/>
          </a:xfrm>
          <a:prstGeom prst="rect">
            <a:avLst/>
          </a:prstGeom>
          <a:noFill/>
          <a:ln/>
        </p:spPr>
        <p:txBody>
          <a:bodyPr wrap="square" rtlCol="0" anchor="ctr"/>
          <a:lstStyle/>
          <a:p>
            <a:pPr marL="0" indent="0" algn="ctr">
              <a:buNone/>
            </a:pPr>
            <a:r>
              <a:rPr lang="en-US" sz="1050" b="1" dirty="0">
                <a:solidFill>
                  <a:srgbClr val="26304A"/>
                </a:solidFill>
                <a:latin typeface="Calibri" pitchFamily="34" charset="0"/>
                <a:ea typeface="Calibri" pitchFamily="34" charset="-122"/>
                <a:cs typeface="Calibri" pitchFamily="34" charset="-120"/>
              </a:rPr>
              <a:t>T</a:t>
            </a:r>
            <a:endParaRPr lang="en-US" sz="1050" dirty="0"/>
          </a:p>
        </p:txBody>
      </p:sp>
      <p:sp>
        <p:nvSpPr>
          <p:cNvPr id="86" name="Text 84"/>
          <p:cNvSpPr/>
          <p:nvPr/>
        </p:nvSpPr>
        <p:spPr>
          <a:xfrm>
            <a:off x="6126480" y="4800600"/>
            <a:ext cx="5532120" cy="685800"/>
          </a:xfrm>
          <a:prstGeom prst="rect">
            <a:avLst/>
          </a:prstGeom>
          <a:noFill/>
          <a:ln/>
        </p:spPr>
        <p:txBody>
          <a:bodyPr wrap="square" rtlCol="0" anchor="ctr"/>
          <a:lstStyle/>
          <a:p>
            <a:pPr marL="0" indent="0">
              <a:lnSpc>
                <a:spcPct val="120000"/>
              </a:lnSpc>
              <a:buNone/>
            </a:pPr>
            <a:r>
              <a:rPr lang="en-US" sz="1000" i="1" dirty="0">
                <a:solidFill>
                  <a:srgbClr val="6B7590"/>
                </a:solidFill>
                <a:latin typeface="Calibri" pitchFamily="34" charset="0"/>
                <a:ea typeface="Calibri" pitchFamily="34" charset="-122"/>
                <a:cs typeface="Calibri" pitchFamily="34" charset="-120"/>
              </a:rPr>
              <a:t>"Because the truth values of ¬(p∨q) and ¬p∧¬q agree for all possible combinations, ¬(p∨q) ↔ (¬p∧¬q) is a tautology and these propositions are logically equivalent."</a:t>
            </a:r>
            <a:endParaRPr lang="en-US" sz="1000" dirty="0"/>
          </a:p>
        </p:txBody>
      </p:sp>
      <p:sp>
        <p:nvSpPr>
          <p:cNvPr id="87" name="Text 85"/>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590"/>
                </a:solidFill>
                <a:latin typeface="Calibri" pitchFamily="34" charset="0"/>
                <a:ea typeface="Calibri" pitchFamily="34" charset="-122"/>
                <a:cs typeface="Calibri" pitchFamily="34" charset="-120"/>
              </a:rPr>
              <a:t>Propositional Logic  |  Rosen, Discrete Mathematics 8e</a:t>
            </a:r>
            <a:endParaRPr lang="en-US" sz="900" dirty="0"/>
          </a:p>
        </p:txBody>
      </p:sp>
      <p:sp>
        <p:nvSpPr>
          <p:cNvPr id="88" name="Text 86"/>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B759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E44136-969A-4C18-AE26-BD0BF081D6CA}"/>
              </a:ext>
            </a:extLst>
          </p:cNvPr>
          <p:cNvSpPr txBox="1"/>
          <p:nvPr/>
        </p:nvSpPr>
        <p:spPr>
          <a:xfrm>
            <a:off x="430729" y="640427"/>
            <a:ext cx="6097604" cy="6063198"/>
          </a:xfrm>
          <a:prstGeom prst="rect">
            <a:avLst/>
          </a:prstGeom>
          <a:noFill/>
        </p:spPr>
        <p:txBody>
          <a:bodyPr wrap="square">
            <a:spAutoFit/>
          </a:bodyPr>
          <a:lstStyle/>
          <a:p>
            <a:r>
              <a:rPr lang="en-IN" sz="2400" b="1" dirty="0" err="1"/>
              <a:t>LogicalEquivalences</a:t>
            </a:r>
            <a:r>
              <a:rPr lang="en-IN" sz="2400" b="1" dirty="0"/>
              <a:t> </a:t>
            </a:r>
            <a:r>
              <a:rPr lang="en-IN" sz="2400" b="1" dirty="0" err="1"/>
              <a:t>InvolvingConditional</a:t>
            </a:r>
            <a:r>
              <a:rPr lang="en-IN" sz="2400" b="1" dirty="0"/>
              <a:t> Statements.</a:t>
            </a:r>
          </a:p>
          <a:p>
            <a:r>
              <a:rPr lang="en-IN" sz="2000" dirty="0" err="1"/>
              <a:t>p→q</a:t>
            </a:r>
            <a:r>
              <a:rPr lang="en-IN" sz="2000" dirty="0"/>
              <a:t>≡¬</a:t>
            </a:r>
            <a:r>
              <a:rPr lang="en-IN" sz="2000" dirty="0" err="1"/>
              <a:t>p∨q</a:t>
            </a:r>
            <a:r>
              <a:rPr lang="en-IN" sz="2000" dirty="0"/>
              <a:t> </a:t>
            </a:r>
          </a:p>
          <a:p>
            <a:endParaRPr lang="en-IN" sz="2000" dirty="0"/>
          </a:p>
          <a:p>
            <a:r>
              <a:rPr lang="en-IN" sz="2000" dirty="0" err="1"/>
              <a:t>p→q</a:t>
            </a:r>
            <a:r>
              <a:rPr lang="en-IN" sz="2000" dirty="0"/>
              <a:t>≡¬q→¬p</a:t>
            </a:r>
          </a:p>
          <a:p>
            <a:endParaRPr lang="en-IN" sz="2000" dirty="0"/>
          </a:p>
          <a:p>
            <a:r>
              <a:rPr lang="en-IN" sz="2000" dirty="0"/>
              <a:t> </a:t>
            </a:r>
            <a:r>
              <a:rPr lang="en-IN" sz="2000" dirty="0" err="1"/>
              <a:t>p∨q</a:t>
            </a:r>
            <a:r>
              <a:rPr lang="en-IN" sz="2000" dirty="0"/>
              <a:t>≡¬</a:t>
            </a:r>
            <a:r>
              <a:rPr lang="en-IN" sz="2000" dirty="0" err="1"/>
              <a:t>p→q</a:t>
            </a:r>
            <a:r>
              <a:rPr lang="en-IN" sz="2000" dirty="0"/>
              <a:t> </a:t>
            </a:r>
          </a:p>
          <a:p>
            <a:endParaRPr lang="en-IN" sz="2000" dirty="0"/>
          </a:p>
          <a:p>
            <a:r>
              <a:rPr lang="en-IN" sz="2000" dirty="0" err="1"/>
              <a:t>p∧q</a:t>
            </a:r>
            <a:r>
              <a:rPr lang="en-IN" sz="2000" dirty="0"/>
              <a:t>≡¬(p→¬q) </a:t>
            </a:r>
          </a:p>
          <a:p>
            <a:endParaRPr lang="en-IN" sz="2000" dirty="0"/>
          </a:p>
          <a:p>
            <a:r>
              <a:rPr lang="en-IN" sz="2000" dirty="0"/>
              <a:t>¬(</a:t>
            </a:r>
            <a:r>
              <a:rPr lang="en-IN" sz="2000" dirty="0" err="1"/>
              <a:t>p→q</a:t>
            </a:r>
            <a:r>
              <a:rPr lang="en-IN" sz="2000" dirty="0"/>
              <a:t>)≡p∧¬q </a:t>
            </a:r>
          </a:p>
          <a:p>
            <a:endParaRPr lang="en-IN" sz="2000" dirty="0"/>
          </a:p>
          <a:p>
            <a:r>
              <a:rPr lang="en-IN" sz="2000" dirty="0"/>
              <a:t>(</a:t>
            </a:r>
            <a:r>
              <a:rPr lang="en-IN" sz="2000" dirty="0" err="1"/>
              <a:t>p→q</a:t>
            </a:r>
            <a:r>
              <a:rPr lang="en-IN" sz="2000" dirty="0"/>
              <a:t>)∧(</a:t>
            </a:r>
            <a:r>
              <a:rPr lang="en-IN" sz="2000" dirty="0" err="1"/>
              <a:t>p→r</a:t>
            </a:r>
            <a:r>
              <a:rPr lang="en-IN" sz="2000" dirty="0"/>
              <a:t>)≡p→(</a:t>
            </a:r>
            <a:r>
              <a:rPr lang="en-IN" sz="2000" dirty="0" err="1"/>
              <a:t>q∧r</a:t>
            </a:r>
            <a:r>
              <a:rPr lang="en-IN" sz="2000" dirty="0"/>
              <a:t>)</a:t>
            </a:r>
          </a:p>
          <a:p>
            <a:r>
              <a:rPr lang="en-IN" sz="2000" dirty="0"/>
              <a:t> </a:t>
            </a:r>
          </a:p>
          <a:p>
            <a:r>
              <a:rPr lang="en-IN" sz="2000" dirty="0"/>
              <a:t>(</a:t>
            </a:r>
            <a:r>
              <a:rPr lang="en-IN" sz="2000" dirty="0" err="1"/>
              <a:t>p→r</a:t>
            </a:r>
            <a:r>
              <a:rPr lang="en-IN" sz="2000" dirty="0"/>
              <a:t>)∧(</a:t>
            </a:r>
            <a:r>
              <a:rPr lang="en-IN" sz="2000" dirty="0" err="1"/>
              <a:t>q→r</a:t>
            </a:r>
            <a:r>
              <a:rPr lang="en-IN" sz="2000" dirty="0"/>
              <a:t>)≡(</a:t>
            </a:r>
            <a:r>
              <a:rPr lang="en-IN" sz="2000" dirty="0" err="1"/>
              <a:t>p∨q</a:t>
            </a:r>
            <a:r>
              <a:rPr lang="en-IN" sz="2000" dirty="0"/>
              <a:t>)→r</a:t>
            </a:r>
          </a:p>
          <a:p>
            <a:r>
              <a:rPr lang="en-IN" sz="2000" dirty="0"/>
              <a:t> </a:t>
            </a:r>
          </a:p>
          <a:p>
            <a:r>
              <a:rPr lang="en-IN" sz="2000" dirty="0"/>
              <a:t>(</a:t>
            </a:r>
            <a:r>
              <a:rPr lang="en-IN" sz="2000" dirty="0" err="1"/>
              <a:t>p→q</a:t>
            </a:r>
            <a:r>
              <a:rPr lang="en-IN" sz="2000" dirty="0"/>
              <a:t>)∨(</a:t>
            </a:r>
            <a:r>
              <a:rPr lang="en-IN" sz="2000" dirty="0" err="1"/>
              <a:t>p→r</a:t>
            </a:r>
            <a:r>
              <a:rPr lang="en-IN" sz="2000" dirty="0"/>
              <a:t>)≡p→(</a:t>
            </a:r>
            <a:r>
              <a:rPr lang="en-IN" sz="2000" dirty="0" err="1"/>
              <a:t>q∨r</a:t>
            </a:r>
            <a:r>
              <a:rPr lang="en-IN" sz="2000" dirty="0"/>
              <a:t>)</a:t>
            </a:r>
          </a:p>
          <a:p>
            <a:r>
              <a:rPr lang="en-IN" sz="2000" dirty="0"/>
              <a:t> </a:t>
            </a:r>
          </a:p>
          <a:p>
            <a:r>
              <a:rPr lang="en-IN" sz="2000" dirty="0"/>
              <a:t>(</a:t>
            </a:r>
            <a:r>
              <a:rPr lang="en-IN" sz="2000" dirty="0" err="1"/>
              <a:t>p→r</a:t>
            </a:r>
            <a:r>
              <a:rPr lang="en-IN" sz="2000" dirty="0"/>
              <a:t>)∨(</a:t>
            </a:r>
            <a:r>
              <a:rPr lang="en-IN" sz="2000" dirty="0" err="1"/>
              <a:t>q→r</a:t>
            </a:r>
            <a:r>
              <a:rPr lang="en-IN" sz="2000" dirty="0"/>
              <a:t>)≡(</a:t>
            </a:r>
            <a:r>
              <a:rPr lang="en-IN" sz="2000" dirty="0" err="1"/>
              <a:t>p∧q</a:t>
            </a:r>
            <a:r>
              <a:rPr lang="en-IN" sz="2000" dirty="0"/>
              <a:t>)→r</a:t>
            </a:r>
          </a:p>
        </p:txBody>
      </p:sp>
      <p:sp>
        <p:nvSpPr>
          <p:cNvPr id="5" name="TextBox 4">
            <a:extLst>
              <a:ext uri="{FF2B5EF4-FFF2-40B4-BE49-F238E27FC236}">
                <a16:creationId xmlns:a16="http://schemas.microsoft.com/office/drawing/2014/main" id="{5C587CED-AAF7-969B-7685-146C836587A2}"/>
              </a:ext>
            </a:extLst>
          </p:cNvPr>
          <p:cNvSpPr txBox="1"/>
          <p:nvPr/>
        </p:nvSpPr>
        <p:spPr>
          <a:xfrm>
            <a:off x="6094396" y="640427"/>
            <a:ext cx="6097604" cy="3293209"/>
          </a:xfrm>
          <a:prstGeom prst="rect">
            <a:avLst/>
          </a:prstGeom>
          <a:noFill/>
        </p:spPr>
        <p:txBody>
          <a:bodyPr wrap="square">
            <a:spAutoFit/>
          </a:bodyPr>
          <a:lstStyle/>
          <a:p>
            <a:r>
              <a:rPr lang="en-IN" sz="2400" b="1" dirty="0"/>
              <a:t>Logical </a:t>
            </a:r>
            <a:r>
              <a:rPr lang="en-IN" sz="2400" b="1" dirty="0" err="1"/>
              <a:t>EquivalencesInvolving</a:t>
            </a:r>
            <a:r>
              <a:rPr lang="en-IN" sz="2400" b="1" dirty="0"/>
              <a:t> </a:t>
            </a:r>
            <a:r>
              <a:rPr lang="en-IN" sz="2400" b="1" dirty="0" err="1"/>
              <a:t>BiconditionalStatements</a:t>
            </a:r>
            <a:r>
              <a:rPr lang="en-IN" sz="2000" dirty="0"/>
              <a:t>.</a:t>
            </a:r>
          </a:p>
          <a:p>
            <a:endParaRPr lang="en-IN" sz="2000" dirty="0"/>
          </a:p>
          <a:p>
            <a:r>
              <a:rPr lang="en-IN" sz="2000" dirty="0" err="1"/>
              <a:t>p↔q</a:t>
            </a:r>
            <a:r>
              <a:rPr lang="en-IN" sz="2000" dirty="0"/>
              <a:t>≡(</a:t>
            </a:r>
            <a:r>
              <a:rPr lang="en-IN" sz="2000" dirty="0" err="1"/>
              <a:t>p→q</a:t>
            </a:r>
            <a:r>
              <a:rPr lang="en-IN" sz="2000" dirty="0"/>
              <a:t>)∧(</a:t>
            </a:r>
            <a:r>
              <a:rPr lang="en-IN" sz="2000" dirty="0" err="1"/>
              <a:t>q→p</a:t>
            </a:r>
            <a:r>
              <a:rPr lang="en-IN" sz="2000" dirty="0"/>
              <a:t>) </a:t>
            </a:r>
          </a:p>
          <a:p>
            <a:endParaRPr lang="en-IN" sz="2000" dirty="0"/>
          </a:p>
          <a:p>
            <a:r>
              <a:rPr lang="en-IN" sz="2000" dirty="0" err="1"/>
              <a:t>p↔q</a:t>
            </a:r>
            <a:r>
              <a:rPr lang="en-IN" sz="2000" dirty="0"/>
              <a:t>≡¬p↔¬q </a:t>
            </a:r>
          </a:p>
          <a:p>
            <a:endParaRPr lang="en-IN" sz="2000" dirty="0"/>
          </a:p>
          <a:p>
            <a:r>
              <a:rPr lang="en-IN" sz="2000" dirty="0" err="1"/>
              <a:t>p↔q</a:t>
            </a:r>
            <a:r>
              <a:rPr lang="en-IN" sz="2000" dirty="0"/>
              <a:t>≡(</a:t>
            </a:r>
            <a:r>
              <a:rPr lang="en-IN" sz="2000" dirty="0" err="1"/>
              <a:t>p∧q</a:t>
            </a:r>
            <a:r>
              <a:rPr lang="en-IN" sz="2000" dirty="0"/>
              <a:t>)∨(¬p∧¬q)</a:t>
            </a:r>
          </a:p>
          <a:p>
            <a:r>
              <a:rPr lang="en-IN" sz="2000" dirty="0"/>
              <a:t> </a:t>
            </a:r>
          </a:p>
          <a:p>
            <a:r>
              <a:rPr lang="en-IN" sz="2000" dirty="0"/>
              <a:t>¬(</a:t>
            </a:r>
            <a:r>
              <a:rPr lang="en-IN" sz="2000" dirty="0" err="1"/>
              <a:t>p↔q</a:t>
            </a:r>
            <a:r>
              <a:rPr lang="en-IN" sz="2000" dirty="0"/>
              <a:t>)≡p↔¬q </a:t>
            </a:r>
          </a:p>
        </p:txBody>
      </p:sp>
      <p:sp>
        <p:nvSpPr>
          <p:cNvPr id="7" name="TextBox 6">
            <a:extLst>
              <a:ext uri="{FF2B5EF4-FFF2-40B4-BE49-F238E27FC236}">
                <a16:creationId xmlns:a16="http://schemas.microsoft.com/office/drawing/2014/main" id="{B1651B7D-0834-5F8D-5276-399F9D30CDB5}"/>
              </a:ext>
            </a:extLst>
          </p:cNvPr>
          <p:cNvSpPr txBox="1"/>
          <p:nvPr/>
        </p:nvSpPr>
        <p:spPr>
          <a:xfrm>
            <a:off x="5426242" y="4494279"/>
            <a:ext cx="6097604" cy="1200329"/>
          </a:xfrm>
          <a:prstGeom prst="rect">
            <a:avLst/>
          </a:prstGeom>
          <a:noFill/>
        </p:spPr>
        <p:txBody>
          <a:bodyPr wrap="square">
            <a:spAutoFit/>
          </a:bodyPr>
          <a:lstStyle/>
          <a:p>
            <a:r>
              <a:rPr lang="en-IN" sz="2400" b="1" dirty="0"/>
              <a:t>Show that p∨(</a:t>
            </a:r>
            <a:r>
              <a:rPr lang="en-IN" sz="2400" b="1" dirty="0" err="1"/>
              <a:t>q∧r</a:t>
            </a:r>
            <a:r>
              <a:rPr lang="en-IN" sz="2400" b="1" dirty="0"/>
              <a:t>) and (</a:t>
            </a:r>
            <a:r>
              <a:rPr lang="en-IN" sz="2400" b="1" dirty="0" err="1"/>
              <a:t>p∨q</a:t>
            </a:r>
            <a:r>
              <a:rPr lang="en-IN" sz="2400" b="1" dirty="0"/>
              <a:t>)∧(</a:t>
            </a:r>
            <a:r>
              <a:rPr lang="en-IN" sz="2400" b="1" dirty="0" err="1"/>
              <a:t>p∨r</a:t>
            </a:r>
            <a:r>
              <a:rPr lang="en-IN" sz="2400" b="1" dirty="0"/>
              <a:t>) are logically equivalent. This is the distributive law of disjunction over conjunction.</a:t>
            </a:r>
          </a:p>
        </p:txBody>
      </p:sp>
    </p:spTree>
    <p:extLst>
      <p:ext uri="{BB962C8B-B14F-4D97-AF65-F5344CB8AC3E}">
        <p14:creationId xmlns:p14="http://schemas.microsoft.com/office/powerpoint/2010/main" val="535894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3F6FC"/>
        </a:solidFill>
        <a:effectLst/>
      </p:bgPr>
    </p:bg>
    <p:spTree>
      <p:nvGrpSpPr>
        <p:cNvPr id="1" name=""/>
        <p:cNvGrpSpPr/>
        <p:nvPr/>
      </p:nvGrpSpPr>
      <p:grpSpPr>
        <a:xfrm>
          <a:off x="0" y="0"/>
          <a:ext cx="0" cy="0"/>
          <a:chOff x="0" y="0"/>
          <a:chExt cx="0" cy="0"/>
        </a:xfrm>
      </p:grpSpPr>
      <p:sp>
        <p:nvSpPr>
          <p:cNvPr id="2" name="Text 0"/>
          <p:cNvSpPr/>
          <p:nvPr/>
        </p:nvSpPr>
        <p:spPr>
          <a:xfrm>
            <a:off x="548640" y="365760"/>
            <a:ext cx="10058400" cy="594360"/>
          </a:xfrm>
          <a:prstGeom prst="rect">
            <a:avLst/>
          </a:prstGeom>
          <a:noFill/>
          <a:ln/>
        </p:spPr>
        <p:txBody>
          <a:bodyPr wrap="square"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Laws of Logical Equivalence</a:t>
            </a:r>
            <a:endParaRPr lang="en-US" sz="2900" dirty="0"/>
          </a:p>
        </p:txBody>
      </p:sp>
      <p:sp>
        <p:nvSpPr>
          <p:cNvPr id="3" name="Shape 1"/>
          <p:cNvSpPr/>
          <p:nvPr/>
        </p:nvSpPr>
        <p:spPr>
          <a:xfrm>
            <a:off x="548640" y="960120"/>
            <a:ext cx="1005840" cy="54864"/>
          </a:xfrm>
          <a:prstGeom prst="rect">
            <a:avLst/>
          </a:prstGeom>
          <a:solidFill>
            <a:srgbClr val="E8A33D"/>
          </a:solidFill>
          <a:ln/>
        </p:spPr>
      </p:sp>
      <p:sp>
        <p:nvSpPr>
          <p:cNvPr id="4" name="Shape 2"/>
          <p:cNvSpPr/>
          <p:nvPr/>
        </p:nvSpPr>
        <p:spPr>
          <a:xfrm>
            <a:off x="548640" y="1188720"/>
            <a:ext cx="11064240" cy="457200"/>
          </a:xfrm>
          <a:prstGeom prst="rect">
            <a:avLst/>
          </a:prstGeom>
          <a:solidFill>
            <a:srgbClr val="FFFFFF"/>
          </a:solidFill>
          <a:ln/>
        </p:spPr>
      </p:sp>
      <p:sp>
        <p:nvSpPr>
          <p:cNvPr id="5" name="Shape 3"/>
          <p:cNvSpPr/>
          <p:nvPr/>
        </p:nvSpPr>
        <p:spPr>
          <a:xfrm>
            <a:off x="548640" y="1188720"/>
            <a:ext cx="2377440" cy="457200"/>
          </a:xfrm>
          <a:prstGeom prst="rect">
            <a:avLst/>
          </a:prstGeom>
          <a:solidFill>
            <a:srgbClr val="1E2761"/>
          </a:solidFill>
          <a:ln w="6350">
            <a:solidFill>
              <a:srgbClr val="FFFFFF"/>
            </a:solidFill>
            <a:prstDash val="solid"/>
          </a:ln>
        </p:spPr>
      </p:sp>
      <p:sp>
        <p:nvSpPr>
          <p:cNvPr id="6" name="Text 4"/>
          <p:cNvSpPr/>
          <p:nvPr/>
        </p:nvSpPr>
        <p:spPr>
          <a:xfrm>
            <a:off x="685800" y="1188720"/>
            <a:ext cx="210312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Identity</a:t>
            </a:r>
            <a:endParaRPr lang="en-US" sz="1200" dirty="0"/>
          </a:p>
        </p:txBody>
      </p:sp>
      <p:sp>
        <p:nvSpPr>
          <p:cNvPr id="7" name="Text 5"/>
          <p:cNvSpPr/>
          <p:nvPr/>
        </p:nvSpPr>
        <p:spPr>
          <a:xfrm>
            <a:off x="3063240" y="1188720"/>
            <a:ext cx="528713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 ∧ T ≡ p</a:t>
            </a:r>
            <a:endParaRPr lang="en-US" sz="1200" dirty="0"/>
          </a:p>
        </p:txBody>
      </p:sp>
      <p:sp>
        <p:nvSpPr>
          <p:cNvPr id="8" name="Text 6"/>
          <p:cNvSpPr/>
          <p:nvPr/>
        </p:nvSpPr>
        <p:spPr>
          <a:xfrm>
            <a:off x="7406640" y="11887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 ∨ F ≡ p</a:t>
            </a:r>
            <a:endParaRPr lang="en-US" sz="1200" dirty="0"/>
          </a:p>
        </p:txBody>
      </p:sp>
      <p:sp>
        <p:nvSpPr>
          <p:cNvPr id="9" name="Shape 7"/>
          <p:cNvSpPr/>
          <p:nvPr/>
        </p:nvSpPr>
        <p:spPr>
          <a:xfrm>
            <a:off x="548640" y="1645920"/>
            <a:ext cx="11064240" cy="457200"/>
          </a:xfrm>
          <a:prstGeom prst="rect">
            <a:avLst/>
          </a:prstGeom>
          <a:solidFill>
            <a:srgbClr val="F3F6FC"/>
          </a:solidFill>
          <a:ln/>
        </p:spPr>
      </p:sp>
      <p:sp>
        <p:nvSpPr>
          <p:cNvPr id="10" name="Shape 8"/>
          <p:cNvSpPr/>
          <p:nvPr/>
        </p:nvSpPr>
        <p:spPr>
          <a:xfrm>
            <a:off x="548640" y="1645920"/>
            <a:ext cx="2377440" cy="457200"/>
          </a:xfrm>
          <a:prstGeom prst="rect">
            <a:avLst/>
          </a:prstGeom>
          <a:solidFill>
            <a:srgbClr val="1E2761"/>
          </a:solidFill>
          <a:ln w="6350">
            <a:solidFill>
              <a:srgbClr val="FFFFFF"/>
            </a:solidFill>
            <a:prstDash val="solid"/>
          </a:ln>
        </p:spPr>
      </p:sp>
      <p:sp>
        <p:nvSpPr>
          <p:cNvPr id="11" name="Text 9"/>
          <p:cNvSpPr/>
          <p:nvPr/>
        </p:nvSpPr>
        <p:spPr>
          <a:xfrm>
            <a:off x="685800" y="1645920"/>
            <a:ext cx="210312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Domination</a:t>
            </a:r>
            <a:endParaRPr lang="en-US" sz="1200" dirty="0"/>
          </a:p>
        </p:txBody>
      </p:sp>
      <p:sp>
        <p:nvSpPr>
          <p:cNvPr id="12" name="Text 10"/>
          <p:cNvSpPr/>
          <p:nvPr/>
        </p:nvSpPr>
        <p:spPr>
          <a:xfrm>
            <a:off x="3063240" y="16459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 ∨ T ≡ T</a:t>
            </a:r>
            <a:endParaRPr lang="en-US" sz="1200" dirty="0"/>
          </a:p>
        </p:txBody>
      </p:sp>
      <p:sp>
        <p:nvSpPr>
          <p:cNvPr id="13" name="Text 11"/>
          <p:cNvSpPr/>
          <p:nvPr/>
        </p:nvSpPr>
        <p:spPr>
          <a:xfrm>
            <a:off x="7406640" y="16459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 ∧ F ≡ F</a:t>
            </a:r>
            <a:endParaRPr lang="en-US" sz="1200" dirty="0"/>
          </a:p>
        </p:txBody>
      </p:sp>
      <p:sp>
        <p:nvSpPr>
          <p:cNvPr id="14" name="Shape 12"/>
          <p:cNvSpPr/>
          <p:nvPr/>
        </p:nvSpPr>
        <p:spPr>
          <a:xfrm>
            <a:off x="548640" y="2103120"/>
            <a:ext cx="11064240" cy="457200"/>
          </a:xfrm>
          <a:prstGeom prst="rect">
            <a:avLst/>
          </a:prstGeom>
          <a:solidFill>
            <a:srgbClr val="FFFFFF"/>
          </a:solidFill>
          <a:ln/>
        </p:spPr>
      </p:sp>
      <p:sp>
        <p:nvSpPr>
          <p:cNvPr id="15" name="Shape 13"/>
          <p:cNvSpPr/>
          <p:nvPr/>
        </p:nvSpPr>
        <p:spPr>
          <a:xfrm>
            <a:off x="548640" y="2103120"/>
            <a:ext cx="2377440" cy="457200"/>
          </a:xfrm>
          <a:prstGeom prst="rect">
            <a:avLst/>
          </a:prstGeom>
          <a:solidFill>
            <a:srgbClr val="1E2761"/>
          </a:solidFill>
          <a:ln w="6350">
            <a:solidFill>
              <a:srgbClr val="FFFFFF"/>
            </a:solidFill>
            <a:prstDash val="solid"/>
          </a:ln>
        </p:spPr>
      </p:sp>
      <p:sp>
        <p:nvSpPr>
          <p:cNvPr id="16" name="Text 14"/>
          <p:cNvSpPr/>
          <p:nvPr/>
        </p:nvSpPr>
        <p:spPr>
          <a:xfrm>
            <a:off x="685800" y="2103120"/>
            <a:ext cx="210312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Idempotent</a:t>
            </a:r>
            <a:endParaRPr lang="en-US" sz="1200" dirty="0"/>
          </a:p>
        </p:txBody>
      </p:sp>
      <p:sp>
        <p:nvSpPr>
          <p:cNvPr id="17" name="Text 15"/>
          <p:cNvSpPr/>
          <p:nvPr/>
        </p:nvSpPr>
        <p:spPr>
          <a:xfrm>
            <a:off x="3063240" y="21031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 ∨ p ≡ p</a:t>
            </a:r>
            <a:endParaRPr lang="en-US" sz="1200" dirty="0"/>
          </a:p>
        </p:txBody>
      </p:sp>
      <p:sp>
        <p:nvSpPr>
          <p:cNvPr id="18" name="Text 16"/>
          <p:cNvSpPr/>
          <p:nvPr/>
        </p:nvSpPr>
        <p:spPr>
          <a:xfrm>
            <a:off x="7406640" y="21031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 ∧ p ≡ p</a:t>
            </a:r>
            <a:endParaRPr lang="en-US" sz="1200" dirty="0"/>
          </a:p>
        </p:txBody>
      </p:sp>
      <p:sp>
        <p:nvSpPr>
          <p:cNvPr id="19" name="Shape 17"/>
          <p:cNvSpPr/>
          <p:nvPr/>
        </p:nvSpPr>
        <p:spPr>
          <a:xfrm>
            <a:off x="548640" y="2560320"/>
            <a:ext cx="11064240" cy="457200"/>
          </a:xfrm>
          <a:prstGeom prst="rect">
            <a:avLst/>
          </a:prstGeom>
          <a:solidFill>
            <a:srgbClr val="F3F6FC"/>
          </a:solidFill>
          <a:ln/>
        </p:spPr>
      </p:sp>
      <p:sp>
        <p:nvSpPr>
          <p:cNvPr id="20" name="Shape 18"/>
          <p:cNvSpPr/>
          <p:nvPr/>
        </p:nvSpPr>
        <p:spPr>
          <a:xfrm>
            <a:off x="548640" y="2560320"/>
            <a:ext cx="2377440" cy="457200"/>
          </a:xfrm>
          <a:prstGeom prst="rect">
            <a:avLst/>
          </a:prstGeom>
          <a:solidFill>
            <a:srgbClr val="1E2761"/>
          </a:solidFill>
          <a:ln w="6350">
            <a:solidFill>
              <a:srgbClr val="FFFFFF"/>
            </a:solidFill>
            <a:prstDash val="solid"/>
          </a:ln>
        </p:spPr>
      </p:sp>
      <p:sp>
        <p:nvSpPr>
          <p:cNvPr id="21" name="Text 19"/>
          <p:cNvSpPr/>
          <p:nvPr/>
        </p:nvSpPr>
        <p:spPr>
          <a:xfrm>
            <a:off x="685800" y="2560320"/>
            <a:ext cx="210312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Double Negation</a:t>
            </a:r>
            <a:endParaRPr lang="en-US" sz="1200" dirty="0"/>
          </a:p>
        </p:txBody>
      </p:sp>
      <p:sp>
        <p:nvSpPr>
          <p:cNvPr id="22" name="Text 20"/>
          <p:cNvSpPr/>
          <p:nvPr/>
        </p:nvSpPr>
        <p:spPr>
          <a:xfrm>
            <a:off x="3063240" y="25603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 ≡ p</a:t>
            </a:r>
            <a:endParaRPr lang="en-US" sz="1200" dirty="0"/>
          </a:p>
        </p:txBody>
      </p:sp>
      <p:sp>
        <p:nvSpPr>
          <p:cNvPr id="23" name="Text 21"/>
          <p:cNvSpPr/>
          <p:nvPr/>
        </p:nvSpPr>
        <p:spPr>
          <a:xfrm>
            <a:off x="7406640" y="2560320"/>
            <a:ext cx="4160520" cy="457200"/>
          </a:xfrm>
          <a:prstGeom prst="rect">
            <a:avLst/>
          </a:prstGeom>
          <a:noFill/>
          <a:ln/>
        </p:spPr>
        <p:txBody>
          <a:bodyPr wrap="square" rtlCol="0" anchor="ctr"/>
          <a:lstStyle/>
          <a:p>
            <a:pPr marL="0" indent="0">
              <a:buNone/>
            </a:pPr>
            <a:endParaRPr lang="en-US" sz="1200" dirty="0"/>
          </a:p>
        </p:txBody>
      </p:sp>
      <p:sp>
        <p:nvSpPr>
          <p:cNvPr id="24" name="Shape 22"/>
          <p:cNvSpPr/>
          <p:nvPr/>
        </p:nvSpPr>
        <p:spPr>
          <a:xfrm>
            <a:off x="548640" y="3017520"/>
            <a:ext cx="11064240" cy="457200"/>
          </a:xfrm>
          <a:prstGeom prst="rect">
            <a:avLst/>
          </a:prstGeom>
          <a:solidFill>
            <a:srgbClr val="FFFFFF"/>
          </a:solidFill>
          <a:ln/>
        </p:spPr>
      </p:sp>
      <p:sp>
        <p:nvSpPr>
          <p:cNvPr id="25" name="Shape 23"/>
          <p:cNvSpPr/>
          <p:nvPr/>
        </p:nvSpPr>
        <p:spPr>
          <a:xfrm>
            <a:off x="548640" y="3017520"/>
            <a:ext cx="2377440" cy="457200"/>
          </a:xfrm>
          <a:prstGeom prst="rect">
            <a:avLst/>
          </a:prstGeom>
          <a:solidFill>
            <a:srgbClr val="1E2761"/>
          </a:solidFill>
          <a:ln w="6350">
            <a:solidFill>
              <a:srgbClr val="FFFFFF"/>
            </a:solidFill>
            <a:prstDash val="solid"/>
          </a:ln>
        </p:spPr>
      </p:sp>
      <p:sp>
        <p:nvSpPr>
          <p:cNvPr id="26" name="Text 24"/>
          <p:cNvSpPr/>
          <p:nvPr/>
        </p:nvSpPr>
        <p:spPr>
          <a:xfrm>
            <a:off x="685800" y="3017520"/>
            <a:ext cx="210312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Commutative</a:t>
            </a:r>
            <a:endParaRPr lang="en-US" sz="1200" dirty="0"/>
          </a:p>
        </p:txBody>
      </p:sp>
      <p:sp>
        <p:nvSpPr>
          <p:cNvPr id="27" name="Text 25"/>
          <p:cNvSpPr/>
          <p:nvPr/>
        </p:nvSpPr>
        <p:spPr>
          <a:xfrm>
            <a:off x="3063240" y="30175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 ∨ q ≡ q ∨ p</a:t>
            </a:r>
            <a:endParaRPr lang="en-US" sz="1200" dirty="0"/>
          </a:p>
        </p:txBody>
      </p:sp>
      <p:sp>
        <p:nvSpPr>
          <p:cNvPr id="28" name="Text 26"/>
          <p:cNvSpPr/>
          <p:nvPr/>
        </p:nvSpPr>
        <p:spPr>
          <a:xfrm>
            <a:off x="7406640" y="30175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 ∧ q ≡ q ∧ p</a:t>
            </a:r>
            <a:endParaRPr lang="en-US" sz="1200" dirty="0"/>
          </a:p>
        </p:txBody>
      </p:sp>
      <p:sp>
        <p:nvSpPr>
          <p:cNvPr id="29" name="Shape 27"/>
          <p:cNvSpPr/>
          <p:nvPr/>
        </p:nvSpPr>
        <p:spPr>
          <a:xfrm>
            <a:off x="548640" y="3474720"/>
            <a:ext cx="11064240" cy="457200"/>
          </a:xfrm>
          <a:prstGeom prst="rect">
            <a:avLst/>
          </a:prstGeom>
          <a:solidFill>
            <a:srgbClr val="F3F6FC"/>
          </a:solidFill>
          <a:ln/>
        </p:spPr>
      </p:sp>
      <p:sp>
        <p:nvSpPr>
          <p:cNvPr id="30" name="Shape 28"/>
          <p:cNvSpPr/>
          <p:nvPr/>
        </p:nvSpPr>
        <p:spPr>
          <a:xfrm>
            <a:off x="548640" y="3474720"/>
            <a:ext cx="2377440" cy="457200"/>
          </a:xfrm>
          <a:prstGeom prst="rect">
            <a:avLst/>
          </a:prstGeom>
          <a:solidFill>
            <a:srgbClr val="1E2761"/>
          </a:solidFill>
          <a:ln w="6350">
            <a:solidFill>
              <a:srgbClr val="FFFFFF"/>
            </a:solidFill>
            <a:prstDash val="solid"/>
          </a:ln>
        </p:spPr>
      </p:sp>
      <p:sp>
        <p:nvSpPr>
          <p:cNvPr id="31" name="Text 29"/>
          <p:cNvSpPr/>
          <p:nvPr/>
        </p:nvSpPr>
        <p:spPr>
          <a:xfrm>
            <a:off x="685800" y="3474720"/>
            <a:ext cx="210312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Associative</a:t>
            </a:r>
            <a:endParaRPr lang="en-US" sz="1200" dirty="0"/>
          </a:p>
        </p:txBody>
      </p:sp>
      <p:sp>
        <p:nvSpPr>
          <p:cNvPr id="32" name="Text 30"/>
          <p:cNvSpPr/>
          <p:nvPr/>
        </p:nvSpPr>
        <p:spPr>
          <a:xfrm>
            <a:off x="3063240" y="34747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(p∨q)∨r ≡ p∨(q∨r)</a:t>
            </a:r>
            <a:endParaRPr lang="en-US" sz="1200" dirty="0"/>
          </a:p>
        </p:txBody>
      </p:sp>
      <p:sp>
        <p:nvSpPr>
          <p:cNvPr id="33" name="Text 31"/>
          <p:cNvSpPr/>
          <p:nvPr/>
        </p:nvSpPr>
        <p:spPr>
          <a:xfrm>
            <a:off x="7406640" y="34747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(p∧q)∧r ≡ p∧(q∧r)</a:t>
            </a:r>
            <a:endParaRPr lang="en-US" sz="1200" dirty="0"/>
          </a:p>
        </p:txBody>
      </p:sp>
      <p:sp>
        <p:nvSpPr>
          <p:cNvPr id="34" name="Shape 32"/>
          <p:cNvSpPr/>
          <p:nvPr/>
        </p:nvSpPr>
        <p:spPr>
          <a:xfrm>
            <a:off x="548640" y="3931920"/>
            <a:ext cx="11064240" cy="457200"/>
          </a:xfrm>
          <a:prstGeom prst="rect">
            <a:avLst/>
          </a:prstGeom>
          <a:solidFill>
            <a:srgbClr val="FFFFFF"/>
          </a:solidFill>
          <a:ln/>
        </p:spPr>
      </p:sp>
      <p:sp>
        <p:nvSpPr>
          <p:cNvPr id="35" name="Shape 33"/>
          <p:cNvSpPr/>
          <p:nvPr/>
        </p:nvSpPr>
        <p:spPr>
          <a:xfrm>
            <a:off x="548640" y="3931920"/>
            <a:ext cx="2377440" cy="457200"/>
          </a:xfrm>
          <a:prstGeom prst="rect">
            <a:avLst/>
          </a:prstGeom>
          <a:solidFill>
            <a:srgbClr val="1E2761"/>
          </a:solidFill>
          <a:ln w="6350">
            <a:solidFill>
              <a:srgbClr val="FFFFFF"/>
            </a:solidFill>
            <a:prstDash val="solid"/>
          </a:ln>
        </p:spPr>
      </p:sp>
      <p:sp>
        <p:nvSpPr>
          <p:cNvPr id="36" name="Text 34"/>
          <p:cNvSpPr/>
          <p:nvPr/>
        </p:nvSpPr>
        <p:spPr>
          <a:xfrm>
            <a:off x="685800" y="3931920"/>
            <a:ext cx="210312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Distributive</a:t>
            </a:r>
            <a:endParaRPr lang="en-US" sz="1200" dirty="0"/>
          </a:p>
        </p:txBody>
      </p:sp>
      <p:sp>
        <p:nvSpPr>
          <p:cNvPr id="37" name="Text 35"/>
          <p:cNvSpPr/>
          <p:nvPr/>
        </p:nvSpPr>
        <p:spPr>
          <a:xfrm>
            <a:off x="3063240" y="39319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p∨(q∧r) ≡ (p∨q)∧(p∨r)</a:t>
            </a:r>
            <a:endParaRPr lang="en-US" sz="1200" dirty="0"/>
          </a:p>
        </p:txBody>
      </p:sp>
      <p:sp>
        <p:nvSpPr>
          <p:cNvPr id="38" name="Text 36"/>
          <p:cNvSpPr/>
          <p:nvPr/>
        </p:nvSpPr>
        <p:spPr>
          <a:xfrm>
            <a:off x="7406640" y="39319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p∧(q∨r) ≡ (p∧q)∨(p∧r)</a:t>
            </a:r>
            <a:endParaRPr lang="en-US" sz="1200" dirty="0"/>
          </a:p>
        </p:txBody>
      </p:sp>
      <p:sp>
        <p:nvSpPr>
          <p:cNvPr id="39" name="Shape 37"/>
          <p:cNvSpPr/>
          <p:nvPr/>
        </p:nvSpPr>
        <p:spPr>
          <a:xfrm>
            <a:off x="548640" y="4389120"/>
            <a:ext cx="11064240" cy="457200"/>
          </a:xfrm>
          <a:prstGeom prst="rect">
            <a:avLst/>
          </a:prstGeom>
          <a:solidFill>
            <a:srgbClr val="F3F6FC"/>
          </a:solidFill>
          <a:ln/>
        </p:spPr>
      </p:sp>
      <p:sp>
        <p:nvSpPr>
          <p:cNvPr id="40" name="Shape 38"/>
          <p:cNvSpPr/>
          <p:nvPr/>
        </p:nvSpPr>
        <p:spPr>
          <a:xfrm>
            <a:off x="548640" y="4389120"/>
            <a:ext cx="2377440" cy="457200"/>
          </a:xfrm>
          <a:prstGeom prst="rect">
            <a:avLst/>
          </a:prstGeom>
          <a:solidFill>
            <a:srgbClr val="1E2761"/>
          </a:solidFill>
          <a:ln w="6350">
            <a:solidFill>
              <a:srgbClr val="FFFFFF"/>
            </a:solidFill>
            <a:prstDash val="solid"/>
          </a:ln>
        </p:spPr>
      </p:sp>
      <p:sp>
        <p:nvSpPr>
          <p:cNvPr id="41" name="Text 39"/>
          <p:cNvSpPr/>
          <p:nvPr/>
        </p:nvSpPr>
        <p:spPr>
          <a:xfrm>
            <a:off x="685800" y="4389120"/>
            <a:ext cx="210312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 Morgan's</a:t>
            </a:r>
            <a:endParaRPr lang="en-US" sz="1200" dirty="0"/>
          </a:p>
        </p:txBody>
      </p:sp>
      <p:sp>
        <p:nvSpPr>
          <p:cNvPr id="42" name="Text 40"/>
          <p:cNvSpPr/>
          <p:nvPr/>
        </p:nvSpPr>
        <p:spPr>
          <a:xfrm>
            <a:off x="3063240" y="43891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¬(p∧q) ≡ ¬p∨¬q</a:t>
            </a:r>
            <a:endParaRPr lang="en-US" sz="1200" dirty="0"/>
          </a:p>
        </p:txBody>
      </p:sp>
      <p:sp>
        <p:nvSpPr>
          <p:cNvPr id="43" name="Text 41"/>
          <p:cNvSpPr/>
          <p:nvPr/>
        </p:nvSpPr>
        <p:spPr>
          <a:xfrm>
            <a:off x="7406640" y="43891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¬(p∨q) ≡ ¬p∧¬q</a:t>
            </a:r>
            <a:endParaRPr lang="en-US" sz="1200" dirty="0"/>
          </a:p>
        </p:txBody>
      </p:sp>
      <p:sp>
        <p:nvSpPr>
          <p:cNvPr id="44" name="Shape 42"/>
          <p:cNvSpPr/>
          <p:nvPr/>
        </p:nvSpPr>
        <p:spPr>
          <a:xfrm>
            <a:off x="548640" y="4846320"/>
            <a:ext cx="11064240" cy="457200"/>
          </a:xfrm>
          <a:prstGeom prst="rect">
            <a:avLst/>
          </a:prstGeom>
          <a:solidFill>
            <a:srgbClr val="FFFFFF"/>
          </a:solidFill>
          <a:ln/>
        </p:spPr>
      </p:sp>
      <p:sp>
        <p:nvSpPr>
          <p:cNvPr id="45" name="Shape 43"/>
          <p:cNvSpPr/>
          <p:nvPr/>
        </p:nvSpPr>
        <p:spPr>
          <a:xfrm>
            <a:off x="548640" y="4846320"/>
            <a:ext cx="2377440" cy="457200"/>
          </a:xfrm>
          <a:prstGeom prst="rect">
            <a:avLst/>
          </a:prstGeom>
          <a:solidFill>
            <a:srgbClr val="1E2761"/>
          </a:solidFill>
          <a:ln w="6350">
            <a:solidFill>
              <a:srgbClr val="FFFFFF"/>
            </a:solidFill>
            <a:prstDash val="solid"/>
          </a:ln>
        </p:spPr>
      </p:sp>
      <p:sp>
        <p:nvSpPr>
          <p:cNvPr id="46" name="Text 44"/>
          <p:cNvSpPr/>
          <p:nvPr/>
        </p:nvSpPr>
        <p:spPr>
          <a:xfrm>
            <a:off x="685800" y="4846320"/>
            <a:ext cx="210312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Absorption</a:t>
            </a:r>
            <a:endParaRPr lang="en-US" sz="1200" dirty="0"/>
          </a:p>
        </p:txBody>
      </p:sp>
      <p:sp>
        <p:nvSpPr>
          <p:cNvPr id="47" name="Text 45"/>
          <p:cNvSpPr/>
          <p:nvPr/>
        </p:nvSpPr>
        <p:spPr>
          <a:xfrm>
            <a:off x="3063240" y="48463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p∨(p∧q) ≡ p</a:t>
            </a:r>
            <a:endParaRPr lang="en-US" sz="1200" dirty="0"/>
          </a:p>
        </p:txBody>
      </p:sp>
      <p:sp>
        <p:nvSpPr>
          <p:cNvPr id="48" name="Text 46"/>
          <p:cNvSpPr/>
          <p:nvPr/>
        </p:nvSpPr>
        <p:spPr>
          <a:xfrm>
            <a:off x="7406640" y="48463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p∧(p∨q) ≡ p</a:t>
            </a:r>
            <a:endParaRPr lang="en-US" sz="1200" dirty="0"/>
          </a:p>
        </p:txBody>
      </p:sp>
      <p:sp>
        <p:nvSpPr>
          <p:cNvPr id="49" name="Shape 47"/>
          <p:cNvSpPr/>
          <p:nvPr/>
        </p:nvSpPr>
        <p:spPr>
          <a:xfrm>
            <a:off x="548640" y="5303520"/>
            <a:ext cx="11064240" cy="457200"/>
          </a:xfrm>
          <a:prstGeom prst="rect">
            <a:avLst/>
          </a:prstGeom>
          <a:solidFill>
            <a:srgbClr val="F3F6FC"/>
          </a:solidFill>
          <a:ln/>
        </p:spPr>
      </p:sp>
      <p:sp>
        <p:nvSpPr>
          <p:cNvPr id="50" name="Shape 48"/>
          <p:cNvSpPr/>
          <p:nvPr/>
        </p:nvSpPr>
        <p:spPr>
          <a:xfrm>
            <a:off x="548640" y="5303520"/>
            <a:ext cx="2377440" cy="457200"/>
          </a:xfrm>
          <a:prstGeom prst="rect">
            <a:avLst/>
          </a:prstGeom>
          <a:solidFill>
            <a:srgbClr val="1E2761"/>
          </a:solidFill>
          <a:ln w="6350">
            <a:solidFill>
              <a:srgbClr val="FFFFFF"/>
            </a:solidFill>
            <a:prstDash val="solid"/>
          </a:ln>
        </p:spPr>
      </p:sp>
      <p:sp>
        <p:nvSpPr>
          <p:cNvPr id="51" name="Text 49"/>
          <p:cNvSpPr/>
          <p:nvPr/>
        </p:nvSpPr>
        <p:spPr>
          <a:xfrm>
            <a:off x="685800" y="5303520"/>
            <a:ext cx="2103120" cy="45720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Negation</a:t>
            </a:r>
            <a:endParaRPr lang="en-US" sz="1200" dirty="0"/>
          </a:p>
        </p:txBody>
      </p:sp>
      <p:sp>
        <p:nvSpPr>
          <p:cNvPr id="52" name="Text 50"/>
          <p:cNvSpPr/>
          <p:nvPr/>
        </p:nvSpPr>
        <p:spPr>
          <a:xfrm>
            <a:off x="3063240" y="53035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p∨¬p ≡ T</a:t>
            </a:r>
            <a:endParaRPr lang="en-US" sz="1200" dirty="0"/>
          </a:p>
        </p:txBody>
      </p:sp>
      <p:sp>
        <p:nvSpPr>
          <p:cNvPr id="53" name="Text 51"/>
          <p:cNvSpPr/>
          <p:nvPr/>
        </p:nvSpPr>
        <p:spPr>
          <a:xfrm>
            <a:off x="7406640" y="5303520"/>
            <a:ext cx="4160520" cy="457200"/>
          </a:xfrm>
          <a:prstGeom prst="rect">
            <a:avLst/>
          </a:prstGeom>
          <a:noFill/>
          <a:ln/>
        </p:spPr>
        <p:txBody>
          <a:bodyPr wrap="square" rtlCol="0" anchor="ctr"/>
          <a:lstStyle/>
          <a:p>
            <a:pPr marL="0" indent="0">
              <a:buNone/>
            </a:pPr>
            <a:r>
              <a:rPr lang="en-US" sz="1200" dirty="0">
                <a:solidFill>
                  <a:srgbClr val="26304A"/>
                </a:solidFill>
                <a:latin typeface="Calibri" pitchFamily="34" charset="0"/>
                <a:ea typeface="Calibri" pitchFamily="34" charset="-122"/>
                <a:cs typeface="Calibri" pitchFamily="34" charset="-120"/>
              </a:rPr>
              <a:t>p∧¬p ≡ F</a:t>
            </a:r>
            <a:endParaRPr lang="en-US" sz="1200" dirty="0"/>
          </a:p>
        </p:txBody>
      </p:sp>
      <p:sp>
        <p:nvSpPr>
          <p:cNvPr id="54" name="Text 52"/>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6B7590"/>
                </a:solidFill>
                <a:latin typeface="Calibri" pitchFamily="34" charset="0"/>
                <a:ea typeface="Calibri" pitchFamily="34" charset="-122"/>
                <a:cs typeface="Calibri" pitchFamily="34" charset="-120"/>
              </a:rPr>
              <a:t>Propositional Logic  |  Rosen, Discrete Mathematics 8e</a:t>
            </a:r>
            <a:endParaRPr lang="en-US" sz="900" dirty="0"/>
          </a:p>
        </p:txBody>
      </p:sp>
      <p:sp>
        <p:nvSpPr>
          <p:cNvPr id="55" name="Text 53"/>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6B759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640080"/>
          </a:xfrm>
          <a:prstGeom prst="rect">
            <a:avLst/>
          </a:prstGeom>
          <a:noFill/>
          <a:ln/>
        </p:spPr>
        <p:txBody>
          <a:bodyPr wrap="square" rtlCol="0" anchor="ctr"/>
          <a:lstStyle/>
          <a:p>
            <a:pPr marL="0" indent="0">
              <a:buNone/>
            </a:pPr>
            <a:r>
              <a:rPr lang="en-US" sz="3200" b="1" dirty="0">
                <a:latin typeface="Cambria" pitchFamily="34" charset="0"/>
                <a:ea typeface="Cambria" pitchFamily="34" charset="-122"/>
                <a:cs typeface="Cambria" pitchFamily="34" charset="-120"/>
              </a:rPr>
              <a:t>From Equivalence to Entailment</a:t>
            </a:r>
            <a:endParaRPr lang="en-US" sz="3200" dirty="0"/>
          </a:p>
        </p:txBody>
      </p:sp>
      <p:sp>
        <p:nvSpPr>
          <p:cNvPr id="4" name="Text 2"/>
          <p:cNvSpPr/>
          <p:nvPr/>
        </p:nvSpPr>
        <p:spPr>
          <a:xfrm>
            <a:off x="457200" y="1266444"/>
            <a:ext cx="10789920" cy="548640"/>
          </a:xfrm>
          <a:prstGeom prst="rect">
            <a:avLst/>
          </a:prstGeom>
          <a:noFill/>
          <a:ln/>
        </p:spPr>
        <p:txBody>
          <a:bodyPr wrap="square" rtlCol="0" anchor="ctr"/>
          <a:lstStyle/>
          <a:p>
            <a:pPr>
              <a:lnSpc>
                <a:spcPct val="120000"/>
              </a:lnSpc>
            </a:pPr>
            <a:r>
              <a:rPr lang="en-US" dirty="0">
                <a:latin typeface="Calibri" pitchFamily="34" charset="0"/>
                <a:ea typeface="Calibri" pitchFamily="34" charset="-122"/>
                <a:cs typeface="Calibri" pitchFamily="34" charset="-120"/>
              </a:rPr>
              <a:t>Logical entailment asks: given premises p1, p2, ..., pn, does the conclusion q necessarily follow?</a:t>
            </a:r>
            <a:endParaRPr lang="en-US" dirty="0"/>
          </a:p>
        </p:txBody>
      </p:sp>
      <p:sp>
        <p:nvSpPr>
          <p:cNvPr id="5" name="Shape 3"/>
          <p:cNvSpPr/>
          <p:nvPr/>
        </p:nvSpPr>
        <p:spPr>
          <a:xfrm>
            <a:off x="548640" y="2148840"/>
            <a:ext cx="10881360" cy="1371600"/>
          </a:xfrm>
          <a:prstGeom prst="roundRect">
            <a:avLst>
              <a:gd name="adj" fmla="val 6667"/>
            </a:avLst>
          </a:prstGeom>
          <a:solidFill>
            <a:srgbClr val="2A3679"/>
          </a:solidFill>
          <a:ln/>
        </p:spPr>
      </p:sp>
      <p:sp>
        <p:nvSpPr>
          <p:cNvPr id="6" name="Text 4"/>
          <p:cNvSpPr/>
          <p:nvPr/>
        </p:nvSpPr>
        <p:spPr>
          <a:xfrm>
            <a:off x="914400" y="2331720"/>
            <a:ext cx="10058400" cy="365760"/>
          </a:xfrm>
          <a:prstGeom prst="rect">
            <a:avLst/>
          </a:prstGeom>
          <a:noFill/>
          <a:ln/>
        </p:spPr>
        <p:txBody>
          <a:bodyPr wrap="square" rtlCol="0" anchor="ctr"/>
          <a:lstStyle/>
          <a:p>
            <a:pPr marL="0" indent="0">
              <a:buNone/>
            </a:pPr>
            <a:r>
              <a:rPr lang="en-US" sz="1300" b="1" dirty="0">
                <a:solidFill>
                  <a:srgbClr val="E8A33D"/>
                </a:solidFill>
                <a:latin typeface="Calibri" pitchFamily="34" charset="0"/>
                <a:ea typeface="Calibri" pitchFamily="34" charset="-122"/>
                <a:cs typeface="Calibri" pitchFamily="34" charset="-120"/>
              </a:rPr>
              <a:t>An argument is VALID when:</a:t>
            </a:r>
            <a:endParaRPr lang="en-US" sz="1300" dirty="0"/>
          </a:p>
        </p:txBody>
      </p:sp>
      <p:sp>
        <p:nvSpPr>
          <p:cNvPr id="7" name="Text 5"/>
          <p:cNvSpPr/>
          <p:nvPr/>
        </p:nvSpPr>
        <p:spPr>
          <a:xfrm>
            <a:off x="914400" y="2697480"/>
            <a:ext cx="10058400" cy="64008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(p1 ∧ p2 ∧ ... ∧ pn) → q   is a TAUTOLOGY</a:t>
            </a:r>
            <a:endParaRPr lang="en-US" sz="2600" dirty="0"/>
          </a:p>
        </p:txBody>
      </p:sp>
      <p:sp>
        <p:nvSpPr>
          <p:cNvPr id="8" name="Text 6"/>
          <p:cNvSpPr/>
          <p:nvPr/>
        </p:nvSpPr>
        <p:spPr>
          <a:xfrm>
            <a:off x="548640" y="3794760"/>
            <a:ext cx="10789920" cy="548640"/>
          </a:xfrm>
          <a:prstGeom prst="rect">
            <a:avLst/>
          </a:prstGeom>
          <a:noFill/>
          <a:ln/>
        </p:spPr>
        <p:txBody>
          <a:bodyPr wrap="square" rtlCol="0" anchor="ctr"/>
          <a:lstStyle/>
          <a:p>
            <a:pPr marL="0" indent="0">
              <a:lnSpc>
                <a:spcPct val="120000"/>
              </a:lnSpc>
              <a:buNone/>
            </a:pPr>
            <a:r>
              <a:rPr lang="en-US" sz="1600" dirty="0">
                <a:latin typeface="Calibri" pitchFamily="34" charset="0"/>
                <a:ea typeface="Calibri" pitchFamily="34" charset="-122"/>
                <a:cs typeface="Calibri" pitchFamily="34" charset="-120"/>
              </a:rPr>
              <a:t>This means: whenever every premise is true, the conclusion is guaranteed to be true too — we say the premises entail the conclusion (p1, p2, ..., pn ⊨ q).</a:t>
            </a:r>
            <a:endParaRPr lang="en-US" sz="1600" dirty="0"/>
          </a:p>
        </p:txBody>
      </p:sp>
      <p:sp>
        <p:nvSpPr>
          <p:cNvPr id="9" name="Text 7"/>
          <p:cNvSpPr/>
          <p:nvPr/>
        </p:nvSpPr>
        <p:spPr>
          <a:xfrm>
            <a:off x="548640" y="4343400"/>
            <a:ext cx="10789920" cy="292608"/>
          </a:xfrm>
          <a:prstGeom prst="rect">
            <a:avLst/>
          </a:prstGeom>
          <a:noFill/>
          <a:ln/>
        </p:spPr>
        <p:txBody>
          <a:bodyPr wrap="square" rtlCol="0" anchor="ctr"/>
          <a:lstStyle/>
          <a:p>
            <a:pPr marL="0" indent="0">
              <a:buNone/>
            </a:pPr>
            <a:r>
              <a:rPr lang="en-US" sz="1600" b="1" i="1" dirty="0">
                <a:latin typeface="Calibri" pitchFamily="34" charset="0"/>
                <a:ea typeface="Calibri" pitchFamily="34" charset="-122"/>
                <a:cs typeface="Calibri" pitchFamily="34" charset="-120"/>
              </a:rPr>
              <a:t>Example (book):  </a:t>
            </a:r>
            <a:r>
              <a:rPr lang="en-US" sz="1600" i="1" dirty="0">
                <a:latin typeface="Calibri" pitchFamily="34" charset="0"/>
                <a:ea typeface="Calibri" pitchFamily="34" charset="-122"/>
                <a:cs typeface="Calibri" pitchFamily="34" charset="-120"/>
              </a:rPr>
              <a:t>p: "You have a current password,"  q: "You can log onto the network."   Form:  p → q, p  ∴ q</a:t>
            </a:r>
            <a:endParaRPr lang="en-US" sz="1600" dirty="0"/>
          </a:p>
        </p:txBody>
      </p:sp>
      <p:sp>
        <p:nvSpPr>
          <p:cNvPr id="10" name="Shape 8"/>
          <p:cNvSpPr/>
          <p:nvPr/>
        </p:nvSpPr>
        <p:spPr>
          <a:xfrm>
            <a:off x="548640" y="4709160"/>
            <a:ext cx="3383280" cy="1371600"/>
          </a:xfrm>
          <a:prstGeom prst="roundRect">
            <a:avLst>
              <a:gd name="adj" fmla="val 5333"/>
            </a:avLst>
          </a:prstGeom>
          <a:solidFill>
            <a:srgbClr val="2A3679"/>
          </a:solidFill>
          <a:ln/>
        </p:spPr>
      </p:sp>
      <p:sp>
        <p:nvSpPr>
          <p:cNvPr id="11" name="Text 9"/>
          <p:cNvSpPr/>
          <p:nvPr/>
        </p:nvSpPr>
        <p:spPr>
          <a:xfrm>
            <a:off x="731520" y="4892040"/>
            <a:ext cx="3017520" cy="4114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Premises</a:t>
            </a:r>
            <a:endParaRPr lang="en-US" sz="1500" dirty="0"/>
          </a:p>
        </p:txBody>
      </p:sp>
      <p:sp>
        <p:nvSpPr>
          <p:cNvPr id="12" name="Text 10"/>
          <p:cNvSpPr/>
          <p:nvPr/>
        </p:nvSpPr>
        <p:spPr>
          <a:xfrm>
            <a:off x="731520" y="5303520"/>
            <a:ext cx="3017520" cy="685800"/>
          </a:xfrm>
          <a:prstGeom prst="rect">
            <a:avLst/>
          </a:prstGeom>
          <a:noFill/>
          <a:ln/>
        </p:spPr>
        <p:txBody>
          <a:bodyPr wrap="square" rtlCol="0" anchor="ctr"/>
          <a:lstStyle/>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Statements assumed true</a:t>
            </a:r>
            <a:endParaRPr lang="en-US" sz="1150" dirty="0"/>
          </a:p>
        </p:txBody>
      </p:sp>
      <p:sp>
        <p:nvSpPr>
          <p:cNvPr id="13" name="Shape 11"/>
          <p:cNvSpPr/>
          <p:nvPr/>
        </p:nvSpPr>
        <p:spPr>
          <a:xfrm>
            <a:off x="4251960" y="4709160"/>
            <a:ext cx="3383280" cy="1371600"/>
          </a:xfrm>
          <a:prstGeom prst="roundRect">
            <a:avLst>
              <a:gd name="adj" fmla="val 5333"/>
            </a:avLst>
          </a:prstGeom>
          <a:solidFill>
            <a:srgbClr val="E8A33D"/>
          </a:solidFill>
          <a:ln/>
        </p:spPr>
      </p:sp>
      <p:sp>
        <p:nvSpPr>
          <p:cNvPr id="14" name="Text 12"/>
          <p:cNvSpPr/>
          <p:nvPr/>
        </p:nvSpPr>
        <p:spPr>
          <a:xfrm>
            <a:off x="4434840" y="4892040"/>
            <a:ext cx="3017520" cy="411480"/>
          </a:xfrm>
          <a:prstGeom prst="rect">
            <a:avLst/>
          </a:prstGeom>
          <a:noFill/>
          <a:ln/>
        </p:spPr>
        <p:txBody>
          <a:bodyPr wrap="square" rtlCol="0" anchor="ctr"/>
          <a:lstStyle/>
          <a:p>
            <a:pPr marL="0" indent="0">
              <a:buNone/>
            </a:pPr>
            <a:r>
              <a:rPr lang="en-US" sz="1500" b="1" dirty="0">
                <a:solidFill>
                  <a:srgbClr val="141B49"/>
                </a:solidFill>
                <a:latin typeface="Cambria" pitchFamily="34" charset="0"/>
                <a:ea typeface="Cambria" pitchFamily="34" charset="-122"/>
                <a:cs typeface="Cambria" pitchFamily="34" charset="-120"/>
              </a:rPr>
              <a:t>Rules of Inference</a:t>
            </a:r>
            <a:endParaRPr lang="en-US" sz="1500" dirty="0"/>
          </a:p>
        </p:txBody>
      </p:sp>
      <p:sp>
        <p:nvSpPr>
          <p:cNvPr id="15" name="Text 13"/>
          <p:cNvSpPr/>
          <p:nvPr/>
        </p:nvSpPr>
        <p:spPr>
          <a:xfrm>
            <a:off x="4434840" y="5303520"/>
            <a:ext cx="3017520" cy="685800"/>
          </a:xfrm>
          <a:prstGeom prst="rect">
            <a:avLst/>
          </a:prstGeom>
          <a:noFill/>
          <a:ln/>
        </p:spPr>
        <p:txBody>
          <a:bodyPr wrap="square" rtlCol="0" anchor="ctr"/>
          <a:lstStyle/>
          <a:p>
            <a:pPr marL="0" indent="0">
              <a:lnSpc>
                <a:spcPct val="115000"/>
              </a:lnSpc>
              <a:buNone/>
            </a:pPr>
            <a:r>
              <a:rPr lang="en-US" sz="1150" dirty="0">
                <a:solidFill>
                  <a:srgbClr val="141B49"/>
                </a:solidFill>
                <a:latin typeface="Calibri" pitchFamily="34" charset="0"/>
                <a:ea typeface="Calibri" pitchFamily="34" charset="-122"/>
                <a:cs typeface="Calibri" pitchFamily="34" charset="-120"/>
              </a:rPr>
              <a:t>Valid patterns that connect them</a:t>
            </a:r>
            <a:endParaRPr lang="en-US" sz="1150" dirty="0"/>
          </a:p>
        </p:txBody>
      </p:sp>
      <p:sp>
        <p:nvSpPr>
          <p:cNvPr id="16" name="Shape 14"/>
          <p:cNvSpPr/>
          <p:nvPr/>
        </p:nvSpPr>
        <p:spPr>
          <a:xfrm>
            <a:off x="7955280" y="4709160"/>
            <a:ext cx="3383280" cy="1371600"/>
          </a:xfrm>
          <a:prstGeom prst="roundRect">
            <a:avLst>
              <a:gd name="adj" fmla="val 5333"/>
            </a:avLst>
          </a:prstGeom>
          <a:solidFill>
            <a:srgbClr val="2A3679"/>
          </a:solidFill>
          <a:ln/>
        </p:spPr>
      </p:sp>
      <p:sp>
        <p:nvSpPr>
          <p:cNvPr id="17" name="Text 15"/>
          <p:cNvSpPr/>
          <p:nvPr/>
        </p:nvSpPr>
        <p:spPr>
          <a:xfrm>
            <a:off x="8138160" y="4892040"/>
            <a:ext cx="3017520" cy="41148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Conclusion</a:t>
            </a:r>
            <a:endParaRPr lang="en-US" sz="1500" dirty="0"/>
          </a:p>
        </p:txBody>
      </p:sp>
      <p:sp>
        <p:nvSpPr>
          <p:cNvPr id="18" name="Text 16"/>
          <p:cNvSpPr/>
          <p:nvPr/>
        </p:nvSpPr>
        <p:spPr>
          <a:xfrm>
            <a:off x="8138160" y="5303520"/>
            <a:ext cx="3017520" cy="685800"/>
          </a:xfrm>
          <a:prstGeom prst="rect">
            <a:avLst/>
          </a:prstGeom>
          <a:noFill/>
          <a:ln/>
        </p:spPr>
        <p:txBody>
          <a:bodyPr wrap="square" rtlCol="0" anchor="ctr"/>
          <a:lstStyle/>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Statement guaranteed to follow</a:t>
            </a:r>
            <a:endParaRPr lang="en-US" sz="1150" dirty="0"/>
          </a:p>
        </p:txBody>
      </p:sp>
      <p:sp>
        <p:nvSpPr>
          <p:cNvPr id="19" name="Text 17"/>
          <p:cNvSpPr/>
          <p:nvPr/>
        </p:nvSpPr>
        <p:spPr>
          <a:xfrm>
            <a:off x="3931920" y="5120640"/>
            <a:ext cx="320040" cy="548640"/>
          </a:xfrm>
          <a:prstGeom prst="rect">
            <a:avLst/>
          </a:prstGeom>
          <a:noFill/>
          <a:ln/>
        </p:spPr>
        <p:txBody>
          <a:bodyPr wrap="square" rtlCol="0" anchor="ctr"/>
          <a:lstStyle/>
          <a:p>
            <a:pPr marL="0" indent="0" algn="ctr">
              <a:buNone/>
            </a:pPr>
            <a:r>
              <a:rPr lang="en-US" sz="2000" b="1" dirty="0">
                <a:solidFill>
                  <a:srgbClr val="E8A33D"/>
                </a:solidFill>
                <a:latin typeface="Cambria" pitchFamily="34" charset="0"/>
                <a:ea typeface="Cambria" pitchFamily="34" charset="-122"/>
                <a:cs typeface="Cambria" pitchFamily="34" charset="-120"/>
              </a:rPr>
              <a:t>→</a:t>
            </a:r>
            <a:endParaRPr lang="en-US" sz="2000" dirty="0"/>
          </a:p>
        </p:txBody>
      </p:sp>
      <p:sp>
        <p:nvSpPr>
          <p:cNvPr id="20" name="Text 18"/>
          <p:cNvSpPr/>
          <p:nvPr/>
        </p:nvSpPr>
        <p:spPr>
          <a:xfrm>
            <a:off x="7635240" y="5120640"/>
            <a:ext cx="320040" cy="548640"/>
          </a:xfrm>
          <a:prstGeom prst="rect">
            <a:avLst/>
          </a:prstGeom>
          <a:noFill/>
          <a:ln/>
        </p:spPr>
        <p:txBody>
          <a:bodyPr wrap="square" rtlCol="0" anchor="ctr"/>
          <a:lstStyle/>
          <a:p>
            <a:pPr marL="0" indent="0" algn="ctr">
              <a:buNone/>
            </a:pPr>
            <a:r>
              <a:rPr lang="en-US" sz="2000" b="1" dirty="0">
                <a:solidFill>
                  <a:srgbClr val="E8A33D"/>
                </a:solidFill>
                <a:latin typeface="Cambria" pitchFamily="34" charset="0"/>
                <a:ea typeface="Cambria" pitchFamily="34" charset="-122"/>
                <a:cs typeface="Cambria" pitchFamily="34" charset="-120"/>
              </a:rPr>
              <a:t>→</a:t>
            </a:r>
            <a:endParaRPr lang="en-US" sz="2000" dirty="0"/>
          </a:p>
        </p:txBody>
      </p:sp>
      <p:sp>
        <p:nvSpPr>
          <p:cNvPr id="21" name="Text 19"/>
          <p:cNvSpPr/>
          <p:nvPr/>
        </p:nvSpPr>
        <p:spPr>
          <a:xfrm>
            <a:off x="457200" y="6473952"/>
            <a:ext cx="7315200" cy="274320"/>
          </a:xfrm>
          <a:prstGeom prst="rect">
            <a:avLst/>
          </a:prstGeom>
          <a:noFill/>
          <a:ln/>
        </p:spPr>
        <p:txBody>
          <a:bodyPr wrap="square" rtlCol="0" anchor="ctr"/>
          <a:lstStyle/>
          <a:p>
            <a:pPr marL="0" indent="0" algn="l">
              <a:buNone/>
            </a:pPr>
            <a:r>
              <a:rPr lang="en-US" sz="900" dirty="0">
                <a:solidFill>
                  <a:srgbClr val="9AA6C7"/>
                </a:solidFill>
                <a:latin typeface="Calibri" pitchFamily="34" charset="0"/>
                <a:ea typeface="Calibri" pitchFamily="34" charset="-122"/>
                <a:cs typeface="Calibri" pitchFamily="34" charset="-120"/>
              </a:rPr>
              <a:t>Propositional Logic  |  Rosen, Discrete Mathematics 8e</a:t>
            </a:r>
            <a:endParaRPr lang="en-US" sz="900" dirty="0"/>
          </a:p>
        </p:txBody>
      </p:sp>
      <p:sp>
        <p:nvSpPr>
          <p:cNvPr id="22" name="Text 20"/>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9AA6C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9F0F0D-8A04-F6BD-1D64-51EA937AC16B}"/>
              </a:ext>
            </a:extLst>
          </p:cNvPr>
          <p:cNvSpPr txBox="1"/>
          <p:nvPr/>
        </p:nvSpPr>
        <p:spPr>
          <a:xfrm>
            <a:off x="628850" y="220093"/>
            <a:ext cx="10934299" cy="6001643"/>
          </a:xfrm>
          <a:prstGeom prst="rect">
            <a:avLst/>
          </a:prstGeom>
          <a:noFill/>
        </p:spPr>
        <p:txBody>
          <a:bodyPr wrap="square">
            <a:spAutoFit/>
          </a:bodyPr>
          <a:lstStyle/>
          <a:p>
            <a:pPr>
              <a:buNone/>
            </a:pPr>
            <a:r>
              <a:rPr lang="en-IN" sz="2400" b="1" dirty="0"/>
              <a:t>Rules of Inference</a:t>
            </a:r>
          </a:p>
          <a:p>
            <a:pPr>
              <a:buNone/>
            </a:pPr>
            <a:r>
              <a:rPr lang="en-IN" sz="2000" b="1" dirty="0"/>
              <a:t>Rules of inference</a:t>
            </a:r>
            <a:r>
              <a:rPr lang="en-IN" sz="2000" dirty="0"/>
              <a:t> are logical rules used to determine a valid conclusion from given statements (premises).</a:t>
            </a:r>
          </a:p>
          <a:p>
            <a:pPr>
              <a:buNone/>
            </a:pPr>
            <a:r>
              <a:rPr lang="en-IN" sz="2000" dirty="0"/>
              <a:t>In simple words:</a:t>
            </a:r>
          </a:p>
          <a:p>
            <a:pPr>
              <a:buNone/>
            </a:pPr>
            <a:r>
              <a:rPr lang="en-IN" sz="2000" b="1" dirty="0"/>
              <a:t>If the given statements are true, rules of inference help us derive what must also be true.</a:t>
            </a:r>
            <a:endParaRPr lang="en-IN" sz="2000" dirty="0"/>
          </a:p>
          <a:p>
            <a:pPr>
              <a:buNone/>
            </a:pPr>
            <a:r>
              <a:rPr lang="en-IN" sz="2000" b="1" dirty="0"/>
              <a:t>Common Rules</a:t>
            </a:r>
          </a:p>
          <a:p>
            <a:pPr marL="342900" lvl="0" indent="-342900">
              <a:buFont typeface="+mj-lt"/>
              <a:buAutoNum type="arabicPeriod"/>
            </a:pPr>
            <a:r>
              <a:rPr lang="en-IN" sz="2000" b="1" dirty="0"/>
              <a:t>Modus Ponens</a:t>
            </a:r>
          </a:p>
          <a:p>
            <a:pPr lvl="0"/>
            <a:r>
              <a:rPr lang="en-IN" sz="2000" b="1" dirty="0"/>
              <a:t>If </a:t>
            </a:r>
            <a:r>
              <a:rPr lang="en-IN" sz="2000" b="1" dirty="0">
                <a:latin typeface="Courier New" panose="02070309020205020404" pitchFamily="49" charset="0"/>
              </a:rPr>
              <a:t>P → Q ,P</a:t>
            </a:r>
            <a:r>
              <a:rPr lang="en-IN" sz="2000" b="1" dirty="0"/>
              <a:t> is true ,Therefore, </a:t>
            </a:r>
            <a:r>
              <a:rPr lang="en-IN" sz="2000" b="1" dirty="0">
                <a:latin typeface="Courier New" panose="02070309020205020404" pitchFamily="49" charset="0"/>
              </a:rPr>
              <a:t>Q</a:t>
            </a:r>
            <a:r>
              <a:rPr lang="en-IN" sz="2000" b="1" dirty="0"/>
              <a:t> is true.     </a:t>
            </a:r>
          </a:p>
          <a:p>
            <a:pPr lvl="1"/>
            <a:r>
              <a:rPr lang="en-IN" sz="2000" b="1" dirty="0"/>
              <a:t>Example:</a:t>
            </a:r>
            <a:br>
              <a:rPr lang="en-IN" sz="2000" dirty="0"/>
            </a:br>
            <a:r>
              <a:rPr lang="en-IN" sz="2000" dirty="0"/>
              <a:t>If it rains, the ground gets wet.</a:t>
            </a:r>
            <a:br>
              <a:rPr lang="en-IN" sz="2000" dirty="0"/>
            </a:br>
            <a:r>
              <a:rPr lang="en-IN" sz="2000" dirty="0"/>
              <a:t>It is raining.</a:t>
            </a:r>
            <a:br>
              <a:rPr lang="en-IN" sz="2000" dirty="0"/>
            </a:br>
            <a:r>
              <a:rPr lang="en-IN" sz="2000" b="1" dirty="0"/>
              <a:t>Therefore, the ground is wet.</a:t>
            </a:r>
          </a:p>
          <a:p>
            <a:r>
              <a:rPr lang="en-IN" sz="2000" b="1" dirty="0"/>
              <a:t>Rule: 2 Modus Tollens</a:t>
            </a:r>
          </a:p>
          <a:p>
            <a:pPr lvl="0"/>
            <a:r>
              <a:rPr lang="en-IN" sz="2000" dirty="0"/>
              <a:t>If P → Q ,Q is false (¬Q) ,Therefore, P is false (¬P) </a:t>
            </a:r>
          </a:p>
          <a:p>
            <a:r>
              <a:rPr lang="en-IN" sz="2000" dirty="0"/>
              <a:t>Example:</a:t>
            </a:r>
          </a:p>
          <a:p>
            <a:pPr lvl="0"/>
            <a:r>
              <a:rPr lang="en-IN" sz="2000" dirty="0"/>
              <a:t>If it is raining, then the ground is wet. </a:t>
            </a:r>
          </a:p>
          <a:p>
            <a:pPr lvl="0"/>
            <a:r>
              <a:rPr lang="en-IN" sz="2000" dirty="0"/>
              <a:t>The ground is not wet. </a:t>
            </a:r>
          </a:p>
          <a:p>
            <a:pPr lvl="0"/>
            <a:r>
              <a:rPr lang="en-IN" sz="2000" dirty="0"/>
              <a:t>Therefore, it is not raining.</a:t>
            </a:r>
          </a:p>
          <a:p>
            <a:pPr marL="342900" lvl="0" indent="-342900">
              <a:buFont typeface="+mj-lt"/>
              <a:buAutoNum type="arabicPeriod"/>
            </a:pPr>
            <a:endParaRPr lang="en-IN" sz="2000" dirty="0"/>
          </a:p>
        </p:txBody>
      </p:sp>
    </p:spTree>
    <p:extLst>
      <p:ext uri="{BB962C8B-B14F-4D97-AF65-F5344CB8AC3E}">
        <p14:creationId xmlns:p14="http://schemas.microsoft.com/office/powerpoint/2010/main" val="925166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3FED69-F717-B99C-9A09-6B876D16388B}"/>
              </a:ext>
            </a:extLst>
          </p:cNvPr>
          <p:cNvSpPr txBox="1"/>
          <p:nvPr/>
        </p:nvSpPr>
        <p:spPr>
          <a:xfrm>
            <a:off x="344103" y="469828"/>
            <a:ext cx="6097604" cy="5909310"/>
          </a:xfrm>
          <a:prstGeom prst="rect">
            <a:avLst/>
          </a:prstGeom>
          <a:noFill/>
        </p:spPr>
        <p:txBody>
          <a:bodyPr wrap="square">
            <a:spAutoFit/>
          </a:bodyPr>
          <a:lstStyle/>
          <a:p>
            <a:pPr>
              <a:buNone/>
            </a:pPr>
            <a:r>
              <a:rPr lang="en-IN" sz="2000" b="1" dirty="0"/>
              <a:t>Rule3:Hypothetical Syllogism</a:t>
            </a:r>
          </a:p>
          <a:p>
            <a:pPr>
              <a:buNone/>
            </a:pPr>
            <a:r>
              <a:rPr lang="en-IN" sz="2000" b="1" dirty="0"/>
              <a:t>Rule:</a:t>
            </a:r>
            <a:endParaRPr lang="en-IN" sz="2000" dirty="0"/>
          </a:p>
          <a:p>
            <a:pPr lvl="0"/>
            <a:r>
              <a:rPr lang="en-IN" sz="2000" dirty="0"/>
              <a:t>If P → Q </a:t>
            </a:r>
          </a:p>
          <a:p>
            <a:pPr lvl="0"/>
            <a:r>
              <a:rPr lang="en-IN" sz="2000" dirty="0"/>
              <a:t>If Q → R </a:t>
            </a:r>
          </a:p>
          <a:p>
            <a:pPr lvl="0"/>
            <a:r>
              <a:rPr lang="en-IN" sz="2000" dirty="0"/>
              <a:t>Therefore, P → R </a:t>
            </a:r>
          </a:p>
          <a:p>
            <a:pPr>
              <a:buNone/>
            </a:pPr>
            <a:r>
              <a:rPr lang="en-IN" sz="2000" dirty="0"/>
              <a:t>Simple example:</a:t>
            </a:r>
          </a:p>
          <a:p>
            <a:pPr lvl="0"/>
            <a:r>
              <a:rPr lang="en-IN" sz="2000" dirty="0"/>
              <a:t>If I study, then I will pass the exam. </a:t>
            </a:r>
          </a:p>
          <a:p>
            <a:pPr lvl="0"/>
            <a:r>
              <a:rPr lang="en-IN" sz="2000" dirty="0"/>
              <a:t>If I pass the exam, then I will get a good grade. </a:t>
            </a:r>
          </a:p>
          <a:p>
            <a:pPr lvl="0"/>
            <a:r>
              <a:rPr lang="en-IN" sz="2000" dirty="0"/>
              <a:t>Therefore, if I study, then I will get a good grade.</a:t>
            </a:r>
          </a:p>
          <a:p>
            <a:pPr lvl="0"/>
            <a:r>
              <a:rPr lang="en-IN" sz="2000" dirty="0"/>
              <a:t> </a:t>
            </a:r>
          </a:p>
          <a:p>
            <a:r>
              <a:rPr lang="en-IN" sz="2000" b="1" dirty="0"/>
              <a:t>Rule 4 </a:t>
            </a:r>
            <a:r>
              <a:rPr lang="en-IN" sz="2000" dirty="0"/>
              <a:t>:</a:t>
            </a:r>
            <a:r>
              <a:rPr lang="en-IN" sz="2000" b="1" dirty="0"/>
              <a:t>Disjunctive Syllogism</a:t>
            </a:r>
          </a:p>
          <a:p>
            <a:pPr lvl="0"/>
            <a:r>
              <a:rPr lang="en-IN" sz="2000" dirty="0"/>
              <a:t>P ∨ Q — P or Q </a:t>
            </a:r>
          </a:p>
          <a:p>
            <a:pPr lvl="0"/>
            <a:r>
              <a:rPr lang="en-IN" sz="2000" dirty="0"/>
              <a:t>¬P — P is false </a:t>
            </a:r>
          </a:p>
          <a:p>
            <a:pPr lvl="0"/>
            <a:r>
              <a:rPr lang="en-IN" sz="2000" dirty="0"/>
              <a:t>Therefore, Q </a:t>
            </a:r>
          </a:p>
          <a:p>
            <a:r>
              <a:rPr lang="en-IN" sz="2000" dirty="0"/>
              <a:t>Simple example:</a:t>
            </a:r>
          </a:p>
          <a:p>
            <a:pPr lvl="0"/>
            <a:r>
              <a:rPr lang="en-IN" sz="2000" dirty="0"/>
              <a:t>Either I will go to college or I will stay at home. </a:t>
            </a:r>
          </a:p>
          <a:p>
            <a:pPr lvl="0"/>
            <a:r>
              <a:rPr lang="en-IN" sz="2000" dirty="0"/>
              <a:t>I will not go to college. </a:t>
            </a:r>
          </a:p>
          <a:p>
            <a:pPr lvl="0"/>
            <a:r>
              <a:rPr lang="en-IN" sz="2000" dirty="0"/>
              <a:t>Therefore, I will stay at home</a:t>
            </a:r>
          </a:p>
          <a:p>
            <a:pPr>
              <a:buNone/>
            </a:pPr>
            <a:endParaRPr lang="en-IN" dirty="0"/>
          </a:p>
        </p:txBody>
      </p:sp>
    </p:spTree>
    <p:extLst>
      <p:ext uri="{BB962C8B-B14F-4D97-AF65-F5344CB8AC3E}">
        <p14:creationId xmlns:p14="http://schemas.microsoft.com/office/powerpoint/2010/main" val="2837734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61E313-58D3-1DE2-1D1B-D648BAD3475C}"/>
              </a:ext>
            </a:extLst>
          </p:cNvPr>
          <p:cNvSpPr txBox="1"/>
          <p:nvPr/>
        </p:nvSpPr>
        <p:spPr>
          <a:xfrm>
            <a:off x="421104" y="373575"/>
            <a:ext cx="10975207" cy="4154984"/>
          </a:xfrm>
          <a:prstGeom prst="rect">
            <a:avLst/>
          </a:prstGeom>
          <a:noFill/>
        </p:spPr>
        <p:txBody>
          <a:bodyPr wrap="square">
            <a:spAutoFit/>
          </a:bodyPr>
          <a:lstStyle/>
          <a:p>
            <a:r>
              <a:rPr lang="en-IN" sz="2400" b="1" dirty="0"/>
              <a:t>State which rule of inference is used in the argument: </a:t>
            </a:r>
          </a:p>
          <a:p>
            <a:r>
              <a:rPr lang="en-IN" sz="2400" dirty="0"/>
              <a:t> </a:t>
            </a:r>
          </a:p>
          <a:p>
            <a:r>
              <a:rPr lang="en-IN" sz="2400" b="1" dirty="0"/>
              <a:t>Example </a:t>
            </a:r>
          </a:p>
          <a:p>
            <a:r>
              <a:rPr lang="en-IN" sz="2400" dirty="0"/>
              <a:t>If it rains today, then we will not have a barbecue today. p →q</a:t>
            </a:r>
          </a:p>
          <a:p>
            <a:r>
              <a:rPr lang="en-IN" sz="2400" dirty="0"/>
              <a:t>If we do not have a barbecue today, then we will have a barbecue tomorrow. q →r </a:t>
            </a:r>
          </a:p>
          <a:p>
            <a:r>
              <a:rPr lang="en-IN" sz="2400" dirty="0"/>
              <a:t>Therefore, if it rains today, then we will have a barbecue tomorrow. </a:t>
            </a:r>
            <a:r>
              <a:rPr lang="en-IN" sz="2400" dirty="0" err="1"/>
              <a:t>p→r</a:t>
            </a:r>
            <a:r>
              <a:rPr lang="en-IN" sz="2400" dirty="0"/>
              <a:t> </a:t>
            </a:r>
          </a:p>
          <a:p>
            <a:endParaRPr lang="en-IN" sz="2400" dirty="0"/>
          </a:p>
          <a:p>
            <a:r>
              <a:rPr lang="en-IN" sz="2400" dirty="0"/>
              <a:t>Solution: Let p be the proposition “It is raining today,” let q be the proposition “We will not have a barbecue today,” and let r be the proposition “We will have a barbecue tomorrow.” Then this argument is of the form p →q </a:t>
            </a:r>
            <a:r>
              <a:rPr lang="en-IN" sz="2400" dirty="0" err="1"/>
              <a:t>q</a:t>
            </a:r>
            <a:r>
              <a:rPr lang="en-IN" sz="2400" dirty="0"/>
              <a:t> →r ∴ </a:t>
            </a:r>
            <a:r>
              <a:rPr lang="en-IN" sz="2400" dirty="0" err="1"/>
              <a:t>p→r</a:t>
            </a:r>
            <a:r>
              <a:rPr lang="en-IN" sz="2400" dirty="0"/>
              <a:t>  Hence, this argument is </a:t>
            </a:r>
            <a:r>
              <a:rPr lang="en-IN" sz="2400" b="1" dirty="0"/>
              <a:t>a hypothetical syllogism.</a:t>
            </a:r>
          </a:p>
        </p:txBody>
      </p:sp>
    </p:spTree>
    <p:extLst>
      <p:ext uri="{BB962C8B-B14F-4D97-AF65-F5344CB8AC3E}">
        <p14:creationId xmlns:p14="http://schemas.microsoft.com/office/powerpoint/2010/main" val="3623952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2F588E-A613-F6CC-D0C8-EAF055BE77C0}"/>
              </a:ext>
            </a:extLst>
          </p:cNvPr>
          <p:cNvSpPr txBox="1"/>
          <p:nvPr/>
        </p:nvSpPr>
        <p:spPr>
          <a:xfrm>
            <a:off x="238225" y="296574"/>
            <a:ext cx="10407316" cy="6924973"/>
          </a:xfrm>
          <a:prstGeom prst="rect">
            <a:avLst/>
          </a:prstGeom>
          <a:noFill/>
        </p:spPr>
        <p:txBody>
          <a:bodyPr wrap="square">
            <a:spAutoFit/>
          </a:bodyPr>
          <a:lstStyle/>
          <a:p>
            <a:pPr>
              <a:buNone/>
            </a:pPr>
            <a:r>
              <a:rPr lang="en-IN" sz="2000" b="1" dirty="0"/>
              <a:t> </a:t>
            </a:r>
            <a:r>
              <a:rPr lang="en-IN" sz="2400" b="1" dirty="0"/>
              <a:t>Predicate</a:t>
            </a:r>
          </a:p>
          <a:p>
            <a:pPr>
              <a:buNone/>
            </a:pPr>
            <a:endParaRPr lang="en-IN" sz="2000" dirty="0"/>
          </a:p>
          <a:p>
            <a:pPr>
              <a:buNone/>
            </a:pPr>
            <a:r>
              <a:rPr lang="en-IN" sz="2000" dirty="0"/>
              <a:t>A </a:t>
            </a:r>
            <a:r>
              <a:rPr lang="en-IN" sz="2000" b="1" dirty="0"/>
              <a:t>predicate</a:t>
            </a:r>
            <a:r>
              <a:rPr lang="en-IN" sz="2000" dirty="0"/>
              <a:t> is a statement containing a variable whose truth depends on the value of that variable.</a:t>
            </a:r>
          </a:p>
          <a:p>
            <a:pPr>
              <a:buNone/>
            </a:pPr>
            <a:r>
              <a:rPr lang="en-IN" sz="2000" dirty="0"/>
              <a:t>For example:</a:t>
            </a:r>
          </a:p>
          <a:p>
            <a:pPr>
              <a:buNone/>
            </a:pPr>
            <a:r>
              <a:rPr lang="en-IN" sz="2000" b="1" dirty="0"/>
              <a:t>P(x): x is greater than 5</a:t>
            </a:r>
            <a:endParaRPr lang="en-IN" sz="2000" dirty="0"/>
          </a:p>
          <a:p>
            <a:pPr>
              <a:buNone/>
            </a:pPr>
            <a:r>
              <a:rPr lang="en-IN" sz="2000" dirty="0"/>
              <a:t>Now:</a:t>
            </a:r>
          </a:p>
          <a:p>
            <a:pPr marL="342900" lvl="0" indent="-342900">
              <a:buFont typeface="Arial" panose="020B0604020202020204" pitchFamily="34" charset="0"/>
              <a:buChar char="•"/>
            </a:pPr>
            <a:r>
              <a:rPr lang="en-IN" sz="2000" b="1" dirty="0"/>
              <a:t>If x = 7 → </a:t>
            </a:r>
            <a:r>
              <a:rPr lang="en-IN" sz="2000" dirty="0"/>
              <a:t>P(7) is </a:t>
            </a:r>
            <a:r>
              <a:rPr lang="en-IN" sz="2000" b="1" dirty="0"/>
              <a:t>True</a:t>
            </a:r>
            <a:r>
              <a:rPr lang="en-IN" sz="2000" dirty="0"/>
              <a:t> </a:t>
            </a:r>
          </a:p>
          <a:p>
            <a:pPr marL="342900" lvl="0" indent="-342900">
              <a:buFont typeface="Arial" panose="020B0604020202020204" pitchFamily="34" charset="0"/>
              <a:buChar char="•"/>
            </a:pPr>
            <a:r>
              <a:rPr lang="en-IN" sz="2000" b="1" dirty="0"/>
              <a:t>If x = 3 → </a:t>
            </a:r>
            <a:r>
              <a:rPr lang="en-IN" sz="2000" dirty="0"/>
              <a:t>P(3) is </a:t>
            </a:r>
            <a:r>
              <a:rPr lang="en-IN" sz="2000" b="1" dirty="0"/>
              <a:t>False</a:t>
            </a:r>
            <a:r>
              <a:rPr lang="en-IN" sz="2000" dirty="0"/>
              <a:t> </a:t>
            </a:r>
          </a:p>
          <a:p>
            <a:pPr>
              <a:buNone/>
            </a:pPr>
            <a:r>
              <a:rPr lang="en-IN" sz="2000" dirty="0"/>
              <a:t>So, </a:t>
            </a:r>
            <a:r>
              <a:rPr lang="en-IN" sz="2000" b="1" dirty="0"/>
              <a:t>P(x)</a:t>
            </a:r>
            <a:r>
              <a:rPr lang="en-IN" sz="2000" dirty="0"/>
              <a:t> is a predicate, not a complete statement until we give x a value or use a quantifier.</a:t>
            </a:r>
          </a:p>
          <a:p>
            <a:pPr>
              <a:buNone/>
            </a:pPr>
            <a:endParaRPr lang="en-IN" sz="2000" dirty="0"/>
          </a:p>
          <a:p>
            <a:r>
              <a:rPr lang="en-IN" sz="2000" b="1" dirty="0"/>
              <a:t>2. Quantifiers</a:t>
            </a:r>
          </a:p>
          <a:p>
            <a:r>
              <a:rPr lang="en-IN" sz="2000" b="1" dirty="0"/>
              <a:t>Quantifiers</a:t>
            </a:r>
            <a:r>
              <a:rPr lang="en-IN" sz="2000" dirty="0"/>
              <a:t> tell us </a:t>
            </a:r>
            <a:r>
              <a:rPr lang="en-IN" sz="2000" b="1" dirty="0"/>
              <a:t>how many elements</a:t>
            </a:r>
            <a:r>
              <a:rPr lang="en-IN" sz="2000" dirty="0"/>
              <a:t> satisfy a predicate.</a:t>
            </a:r>
          </a:p>
          <a:p>
            <a:r>
              <a:rPr lang="en-IN" sz="2000" dirty="0"/>
              <a:t>There are two main quantifiers:</a:t>
            </a:r>
          </a:p>
          <a:p>
            <a:endParaRPr lang="en-IN" sz="2000" b="1" dirty="0"/>
          </a:p>
          <a:p>
            <a:r>
              <a:rPr lang="en-IN" sz="2000" b="1" dirty="0"/>
              <a:t>A. Universal Quantifier (∀)</a:t>
            </a:r>
          </a:p>
          <a:p>
            <a:r>
              <a:rPr lang="en-IN" sz="2000" dirty="0"/>
              <a:t>Symbol: </a:t>
            </a:r>
            <a:r>
              <a:rPr lang="en-IN" sz="2000" b="1" dirty="0"/>
              <a:t>∀</a:t>
            </a:r>
            <a:endParaRPr lang="en-IN" sz="2000" dirty="0"/>
          </a:p>
          <a:p>
            <a:r>
              <a:rPr lang="en-IN" sz="2000" dirty="0"/>
              <a:t>It means </a:t>
            </a:r>
            <a:r>
              <a:rPr lang="en-IN" sz="2000" b="1" dirty="0"/>
              <a:t>“for all”</a:t>
            </a:r>
            <a:r>
              <a:rPr lang="en-IN" sz="2000" dirty="0"/>
              <a:t> or </a:t>
            </a:r>
            <a:r>
              <a:rPr lang="en-IN" sz="2000" b="1" dirty="0"/>
              <a:t>“for every.”</a:t>
            </a:r>
            <a:endParaRPr lang="en-IN" sz="2000" dirty="0"/>
          </a:p>
          <a:p>
            <a:r>
              <a:rPr lang="en-IN" sz="2000" dirty="0"/>
              <a:t>Example:</a:t>
            </a:r>
          </a:p>
          <a:p>
            <a:r>
              <a:rPr lang="en-IN" sz="2000" b="1" dirty="0"/>
              <a:t>∀x P(x)</a:t>
            </a:r>
            <a:endParaRPr lang="en-IN" sz="2000" dirty="0"/>
          </a:p>
          <a:p>
            <a:r>
              <a:rPr lang="en-IN" sz="2000" dirty="0"/>
              <a:t>Read as:</a:t>
            </a:r>
          </a:p>
          <a:p>
            <a:r>
              <a:rPr lang="en-IN" sz="2000" dirty="0"/>
              <a:t>“For every x, P(x) is true.”</a:t>
            </a:r>
          </a:p>
          <a:p>
            <a:pPr>
              <a:buNone/>
            </a:pPr>
            <a:endParaRPr lang="en-IN" sz="2000" dirty="0"/>
          </a:p>
        </p:txBody>
      </p:sp>
    </p:spTree>
    <p:extLst>
      <p:ext uri="{BB962C8B-B14F-4D97-AF65-F5344CB8AC3E}">
        <p14:creationId xmlns:p14="http://schemas.microsoft.com/office/powerpoint/2010/main" val="2985864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B67393-E42C-27B9-9D5B-C5228F600485}"/>
              </a:ext>
            </a:extLst>
          </p:cNvPr>
          <p:cNvSpPr txBox="1"/>
          <p:nvPr/>
        </p:nvSpPr>
        <p:spPr>
          <a:xfrm>
            <a:off x="286350" y="354905"/>
            <a:ext cx="9906803" cy="5940088"/>
          </a:xfrm>
          <a:prstGeom prst="rect">
            <a:avLst/>
          </a:prstGeom>
          <a:noFill/>
        </p:spPr>
        <p:txBody>
          <a:bodyPr wrap="square">
            <a:spAutoFit/>
          </a:bodyPr>
          <a:lstStyle/>
          <a:p>
            <a:r>
              <a:rPr lang="en-IN" sz="2000" dirty="0"/>
              <a:t>Example:</a:t>
            </a:r>
          </a:p>
          <a:p>
            <a:r>
              <a:rPr lang="en-IN" sz="2000" b="1" dirty="0"/>
              <a:t>∀x ∈ R, x² ≥ 0</a:t>
            </a:r>
            <a:endParaRPr lang="en-IN" sz="2000" dirty="0"/>
          </a:p>
          <a:p>
            <a:r>
              <a:rPr lang="en-IN" sz="2000" dirty="0"/>
              <a:t>Meaning:</a:t>
            </a:r>
          </a:p>
          <a:p>
            <a:r>
              <a:rPr lang="en-IN" sz="2000" dirty="0"/>
              <a:t>For every real number x, x² is greater than or equal to 0. </a:t>
            </a:r>
          </a:p>
          <a:p>
            <a:br>
              <a:rPr lang="en-IN" sz="2000" dirty="0"/>
            </a:br>
            <a:r>
              <a:rPr lang="en-IN" sz="2000" b="1" dirty="0"/>
              <a:t>B. Existential Quantifier (∃)</a:t>
            </a:r>
          </a:p>
          <a:p>
            <a:r>
              <a:rPr lang="en-IN" sz="2000" dirty="0"/>
              <a:t>Symbol: </a:t>
            </a:r>
            <a:r>
              <a:rPr lang="en-IN" sz="2000" b="1" dirty="0"/>
              <a:t>∃</a:t>
            </a:r>
            <a:endParaRPr lang="en-IN" sz="2000" dirty="0"/>
          </a:p>
          <a:p>
            <a:r>
              <a:rPr lang="en-IN" sz="2000" dirty="0"/>
              <a:t>It means </a:t>
            </a:r>
            <a:r>
              <a:rPr lang="en-IN" sz="2000" b="1" dirty="0"/>
              <a:t>“there exists at least one.”</a:t>
            </a:r>
            <a:endParaRPr lang="en-IN" sz="2000" dirty="0"/>
          </a:p>
          <a:p>
            <a:r>
              <a:rPr lang="en-IN" sz="2000" dirty="0"/>
              <a:t>Example:</a:t>
            </a:r>
          </a:p>
          <a:p>
            <a:r>
              <a:rPr lang="en-IN" sz="2000" b="1" dirty="0"/>
              <a:t>∃x P(x)</a:t>
            </a:r>
            <a:endParaRPr lang="en-IN" sz="2000" dirty="0"/>
          </a:p>
          <a:p>
            <a:r>
              <a:rPr lang="en-IN" sz="2000" dirty="0"/>
              <a:t>Read as:</a:t>
            </a:r>
          </a:p>
          <a:p>
            <a:r>
              <a:rPr lang="en-IN" sz="2000" dirty="0"/>
              <a:t>“There exists at least one x for which P(x) is true.</a:t>
            </a:r>
          </a:p>
          <a:p>
            <a:endParaRPr lang="en-IN" sz="2000" dirty="0"/>
          </a:p>
          <a:p>
            <a:r>
              <a:rPr lang="en-IN" sz="2000" dirty="0"/>
              <a:t>Example:</a:t>
            </a:r>
          </a:p>
          <a:p>
            <a:r>
              <a:rPr lang="en-IN" sz="2000" b="1" dirty="0"/>
              <a:t>∃x ∈ N, x &gt; 10</a:t>
            </a:r>
            <a:endParaRPr lang="en-IN" sz="2000" dirty="0"/>
          </a:p>
          <a:p>
            <a:r>
              <a:rPr lang="en-IN" sz="2000" dirty="0"/>
              <a:t>Meaning:</a:t>
            </a:r>
          </a:p>
          <a:p>
            <a:r>
              <a:rPr lang="en-IN" sz="2000" dirty="0"/>
              <a:t>There exists a natural number greater than 10. </a:t>
            </a:r>
          </a:p>
          <a:p>
            <a:r>
              <a:rPr lang="en-IN" sz="2000" dirty="0"/>
              <a:t>For example, x = 11.</a:t>
            </a:r>
          </a:p>
          <a:p>
            <a:endParaRPr lang="en-IN" sz="2000" dirty="0"/>
          </a:p>
        </p:txBody>
      </p:sp>
    </p:spTree>
    <p:extLst>
      <p:ext uri="{BB962C8B-B14F-4D97-AF65-F5344CB8AC3E}">
        <p14:creationId xmlns:p14="http://schemas.microsoft.com/office/powerpoint/2010/main" val="3260912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08C645-9609-5A05-5574-45045F727244}"/>
              </a:ext>
            </a:extLst>
          </p:cNvPr>
          <p:cNvSpPr txBox="1"/>
          <p:nvPr/>
        </p:nvSpPr>
        <p:spPr>
          <a:xfrm>
            <a:off x="536608" y="289679"/>
            <a:ext cx="11167712" cy="5324535"/>
          </a:xfrm>
          <a:prstGeom prst="rect">
            <a:avLst/>
          </a:prstGeom>
          <a:noFill/>
        </p:spPr>
        <p:txBody>
          <a:bodyPr wrap="square">
            <a:spAutoFit/>
          </a:bodyPr>
          <a:lstStyle/>
          <a:p>
            <a:r>
              <a:rPr lang="en-IN" sz="2000" b="1" dirty="0"/>
              <a:t>¬∀</a:t>
            </a:r>
            <a:r>
              <a:rPr lang="en-IN" sz="2000" b="1" dirty="0" err="1"/>
              <a:t>xP</a:t>
            </a:r>
            <a:r>
              <a:rPr lang="en-IN" sz="2000" b="1" dirty="0"/>
              <a:t>(x) ≡ ∃</a:t>
            </a:r>
            <a:r>
              <a:rPr lang="en-IN" sz="2000" b="1" dirty="0" err="1"/>
              <a:t>x¬P</a:t>
            </a:r>
            <a:r>
              <a:rPr lang="en-IN" sz="2000" b="1" dirty="0"/>
              <a:t>(x). ( Show this is logically equivalent or not )</a:t>
            </a:r>
          </a:p>
          <a:p>
            <a:endParaRPr lang="en-IN" sz="2000" dirty="0"/>
          </a:p>
          <a:p>
            <a:r>
              <a:rPr lang="en-IN" sz="2000" dirty="0"/>
              <a:t>To show that ¬∀</a:t>
            </a:r>
            <a:r>
              <a:rPr lang="en-IN" sz="2000" dirty="0" err="1"/>
              <a:t>xP</a:t>
            </a:r>
            <a:r>
              <a:rPr lang="en-IN" sz="2000" dirty="0"/>
              <a:t>(x) and ∃</a:t>
            </a:r>
            <a:r>
              <a:rPr lang="en-IN" sz="2000" dirty="0" err="1"/>
              <a:t>xP</a:t>
            </a:r>
            <a:r>
              <a:rPr lang="en-IN" sz="2000" dirty="0"/>
              <a:t>(x) are logically equivalent no matter what the propositional function P(x) is and what the domain is, first note that ¬∀</a:t>
            </a:r>
            <a:r>
              <a:rPr lang="en-IN" sz="2000" dirty="0" err="1"/>
              <a:t>xP</a:t>
            </a:r>
            <a:r>
              <a:rPr lang="en-IN" sz="2000" dirty="0"/>
              <a:t>(x) is true if and only if ∀</a:t>
            </a:r>
            <a:r>
              <a:rPr lang="en-IN" sz="2000" dirty="0" err="1"/>
              <a:t>xP</a:t>
            </a:r>
            <a:r>
              <a:rPr lang="en-IN" sz="2000" dirty="0"/>
              <a:t>(x)is false. </a:t>
            </a:r>
          </a:p>
          <a:p>
            <a:endParaRPr lang="en-IN" sz="2000" dirty="0"/>
          </a:p>
          <a:p>
            <a:r>
              <a:rPr lang="en-IN" sz="2000" dirty="0"/>
              <a:t>Next, note that ∀</a:t>
            </a:r>
            <a:r>
              <a:rPr lang="en-IN" sz="2000" dirty="0" err="1"/>
              <a:t>xP</a:t>
            </a:r>
            <a:r>
              <a:rPr lang="en-IN" sz="2000" dirty="0"/>
              <a:t>(x) is false if and only if there is an element x in the domain for which P(x) is false. This holds if and only if there is an element x in the domain for which ¬P(x)is true. </a:t>
            </a:r>
          </a:p>
          <a:p>
            <a:endParaRPr lang="en-IN" sz="2000" dirty="0"/>
          </a:p>
          <a:p>
            <a:r>
              <a:rPr lang="en-IN" sz="2000" dirty="0"/>
              <a:t>Finally, note that there is an element x in the domain for which ¬P(x) is true if and only if ∃</a:t>
            </a:r>
            <a:r>
              <a:rPr lang="en-IN" sz="2000" dirty="0" err="1"/>
              <a:t>x¬P</a:t>
            </a:r>
            <a:r>
              <a:rPr lang="en-IN" sz="2000" dirty="0"/>
              <a:t>(x) is true. Putting these steps together, we can conclude that ¬∀</a:t>
            </a:r>
            <a:r>
              <a:rPr lang="en-IN" sz="2000" dirty="0" err="1"/>
              <a:t>xP</a:t>
            </a:r>
            <a:r>
              <a:rPr lang="en-IN" sz="2000" dirty="0"/>
              <a:t>(x) is true if and only if ∃</a:t>
            </a:r>
            <a:r>
              <a:rPr lang="en-IN" sz="2000" dirty="0" err="1"/>
              <a:t>x¬P</a:t>
            </a:r>
            <a:r>
              <a:rPr lang="en-IN" sz="2000" dirty="0"/>
              <a:t>(x) is true. It follows that ¬∀</a:t>
            </a:r>
            <a:r>
              <a:rPr lang="en-IN" sz="2000" dirty="0" err="1"/>
              <a:t>xP</a:t>
            </a:r>
            <a:r>
              <a:rPr lang="en-IN" sz="2000" dirty="0"/>
              <a:t>(x) and ∃</a:t>
            </a:r>
            <a:r>
              <a:rPr lang="en-IN" sz="2000" dirty="0" err="1"/>
              <a:t>x¬P</a:t>
            </a:r>
            <a:r>
              <a:rPr lang="en-IN" sz="2000" dirty="0"/>
              <a:t>(x) are logically equivalent.</a:t>
            </a:r>
          </a:p>
          <a:p>
            <a:endParaRPr lang="en-IN" sz="2000" dirty="0"/>
          </a:p>
          <a:p>
            <a:r>
              <a:rPr lang="en-IN" sz="2000" b="1" dirty="0"/>
              <a:t>De </a:t>
            </a:r>
            <a:r>
              <a:rPr lang="en-IN" sz="2000" b="1" dirty="0" err="1"/>
              <a:t>Morgan’sLaws</a:t>
            </a:r>
            <a:r>
              <a:rPr lang="en-IN" sz="2000" b="1" dirty="0"/>
              <a:t> for Quantifiers.</a:t>
            </a:r>
          </a:p>
          <a:p>
            <a:endParaRPr lang="en-IN" sz="2000" b="1" dirty="0"/>
          </a:p>
          <a:p>
            <a:r>
              <a:rPr lang="en-IN" sz="2000" dirty="0"/>
              <a:t> </a:t>
            </a:r>
            <a:r>
              <a:rPr lang="en-IN" sz="2000" b="1" dirty="0"/>
              <a:t>Negation                             Equivalent Statement</a:t>
            </a:r>
          </a:p>
          <a:p>
            <a:r>
              <a:rPr lang="en-IN" sz="2000" dirty="0"/>
              <a:t>¬∃</a:t>
            </a:r>
            <a:r>
              <a:rPr lang="en-IN" sz="2000" dirty="0" err="1"/>
              <a:t>xP</a:t>
            </a:r>
            <a:r>
              <a:rPr lang="en-IN" sz="2000" dirty="0"/>
              <a:t>(x)                                 ∀</a:t>
            </a:r>
            <a:r>
              <a:rPr lang="en-IN" sz="2000" dirty="0" err="1"/>
              <a:t>x¬P</a:t>
            </a:r>
            <a:r>
              <a:rPr lang="en-IN" sz="2000" dirty="0"/>
              <a:t>(x) </a:t>
            </a:r>
          </a:p>
          <a:p>
            <a:r>
              <a:rPr lang="en-IN" sz="2000" dirty="0"/>
              <a:t> ¬∀</a:t>
            </a:r>
            <a:r>
              <a:rPr lang="en-IN" sz="2000" dirty="0" err="1"/>
              <a:t>xP</a:t>
            </a:r>
            <a:r>
              <a:rPr lang="en-IN" sz="2000" dirty="0"/>
              <a:t>(x)                                 ∃</a:t>
            </a:r>
            <a:r>
              <a:rPr lang="en-IN" sz="2000" dirty="0" err="1"/>
              <a:t>x¬P</a:t>
            </a:r>
            <a:r>
              <a:rPr lang="en-IN" sz="2000" dirty="0"/>
              <a:t>(x) </a:t>
            </a:r>
          </a:p>
        </p:txBody>
      </p:sp>
    </p:spTree>
    <p:extLst>
      <p:ext uri="{BB962C8B-B14F-4D97-AF65-F5344CB8AC3E}">
        <p14:creationId xmlns:p14="http://schemas.microsoft.com/office/powerpoint/2010/main" val="3583276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2846</TotalTime>
  <Words>2846</Words>
  <Application>Microsoft Office PowerPoint</Application>
  <PresentationFormat>Widescreen</PresentationFormat>
  <Paragraphs>436</Paragraphs>
  <Slides>20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nidhi sharma</cp:lastModifiedBy>
  <cp:revision>5</cp:revision>
  <dcterms:created xsi:type="dcterms:W3CDTF">2026-08-12T01:19:06Z</dcterms:created>
  <dcterms:modified xsi:type="dcterms:W3CDTF">2026-08-16T05:22:12Z</dcterms:modified>
</cp:coreProperties>
</file>